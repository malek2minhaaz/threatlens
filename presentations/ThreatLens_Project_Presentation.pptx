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59" y="182880"/>
            <a:ext cx="4937760" cy="4937760"/>
          </a:xfrm>
          <a:prstGeom prst="ellipse">
            <a:avLst/>
          </a:prstGeom>
          <a:noFill/>
          <a:ln w="1778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786384"/>
            <a:ext cx="3840480" cy="3840480"/>
          </a:xfrm>
          <a:prstGeom prst="ellipse">
            <a:avLst/>
          </a:prstGeom>
          <a:noFill/>
          <a:ln w="1778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1389888"/>
            <a:ext cx="2743200" cy="2743200"/>
          </a:xfrm>
          <a:prstGeom prst="ellipse">
            <a:avLst/>
          </a:prstGeom>
          <a:noFill/>
          <a:ln w="1778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onsolas"/>
              </a:rPr>
              <a:t>FINAL PROJECT PRESENTATION  ·  PHASE 1 — PROPOSAL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800" b="1" i="0">
                <a:solidFill>
                  <a:srgbClr val="E2E8F0"/>
                </a:solidFill>
                <a:latin typeface="Segoe UI"/>
              </a:rPr>
              <a:t>THREATLENS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300" b="1" i="0">
                <a:solidFill>
                  <a:srgbClr val="22D3EE"/>
                </a:solidFill>
                <a:latin typeface="Segoe UI"/>
              </a:rPr>
              <a:t>Threat Detection &amp; URL Scanner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154680"/>
            <a:ext cx="2688336" cy="384048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22D3EE"/>
                </a:solidFill>
                <a:latin typeface="Consolas"/>
              </a:rPr>
              <a:t>UNIFIED 0–100 RISK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3154680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22D3EE"/>
                </a:solidFill>
                <a:latin typeface="Consolas"/>
              </a:rPr>
              <a:t>URL SCANNING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154680"/>
            <a:ext cx="2016252" cy="384048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22D3EE"/>
                </a:solidFill>
                <a:latin typeface="Consolas"/>
              </a:rPr>
              <a:t>PHISHING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5804" y="3154680"/>
            <a:ext cx="2208276" cy="384048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22D3EE"/>
                </a:solidFill>
                <a:latin typeface="Consolas"/>
              </a:rPr>
              <a:t>THREAT 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86784"/>
            <a:ext cx="7269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1" i="0">
                <a:solidFill>
                  <a:srgbClr val="64748B"/>
                </a:solidFill>
                <a:latin typeface="Consolas"/>
              </a:rPr>
              <a:t>PRESENTATION OUTLINE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E2E8F0"/>
                </a:solidFill>
                <a:latin typeface="Segoe UI"/>
              </a:rPr>
              <a:t>1 · Initial Project Proposal &amp; Planning    2 · Finalized Project Title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E2E8F0"/>
                </a:solidFill>
                <a:latin typeface="Segoe UI"/>
              </a:rPr>
              <a:t>3 · Problem Statement    4 · System Analysis (existing &amp; proposed)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Segoe UI"/>
              </a:rPr>
              <a:t>5 · Justification of the Proposed System    6 · Technical 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Prepared by:  [Student Name]  ·  [Roll No.]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Course:  Software Engineering     ·     Guide:  [Faculty Name]     ·   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1 · INITIAL PROJECT PROPOSAL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Project Proposal — Idea,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1183112" cy="566928"/>
          </a:xfrm>
          <a:prstGeom prst="roundRect">
            <a:avLst>
              <a:gd name="adj" fmla="val 14000"/>
            </a:avLst>
          </a:prstGeom>
          <a:solidFill>
            <a:srgbClr val="0E2A38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onsolas"/>
              </a:rPr>
              <a:t>The idea:  </a:t>
            </a:r>
            <a:r>
              <a:rPr sz="1250" b="0" i="0">
                <a:solidFill>
                  <a:srgbClr val="E2E8F0"/>
                </a:solidFill>
                <a:latin typeface="Segoe UI"/>
              </a:rPr>
              <a:t>turn any URL into an evidence-backed 0–100 risk score with an itemized, explainable breakdown — plus phishing-content analysis, history and a browser extension.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3566160" cy="3977639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9572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3108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Phishing &amp; malicious URLs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are a top initial-access vector for breaches.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Look-alike domains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are indistinguishable to the human eye.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Threat signals are scattered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across WHOIS, SSL, blocklist and AV tools.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Verdicts are opaque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— users cannot see why a link was flagged.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2194560"/>
            <a:ext cx="3566160" cy="3977639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39572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788920"/>
            <a:ext cx="3108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Unified 0–100 score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with human-readable findings.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Five-stage scan pipeline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— parse → heuristics → metadata → intel → score.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Phishing analysis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for email / SMS / text, headers and embedded links.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History, watchlist, bulk scan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and a Chrome extension.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2194560"/>
            <a:ext cx="3566160" cy="3977639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39572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788920"/>
            <a:ext cx="3108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IN: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URL scanning, phishing lab, auth, admin, history, watchlist, bulk &amp; extension.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OUT: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ML training, file sandboxing, SMTP integration, mobile apps, public SaaS.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1 · INITIAL PROJECT PROPOSAL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Project Planning — Timeline, Team &amp;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86400" cy="475488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PHASES &amp; TIMELINE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2057400"/>
          <a:ext cx="5074920" cy="2779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118872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Timeline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Deliverable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1. Proposal &amp; planning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Week 1–2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Proposal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2. Analysis &amp; specs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Week 3–5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Analysis + SRS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3. Backend build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Week 5–8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APIs + pipeline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4. Frontend build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Week 7–10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Dashboard UI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5. Testing &amp; hardening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Week 10–12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Test report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6. Docs &amp; demo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Week 12–14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E2E8F0"/>
                          </a:solidFill>
                          <a:latin typeface="Segoe UI"/>
                        </a:rPr>
                        <a:t>Final demo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63640" y="1463040"/>
            <a:ext cx="5422392" cy="228600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8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TEAM &amp;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92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Roles: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project lead · analyst · backend · frontend · QA · docs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Stack: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Python 3.11+, FastAPI, SQLite, vanilla JS — all free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Optional keys: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VirusTotal / Safe Browsing / PhishTank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VCS: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Git &amp; GitHub (github.com/malek2minhaaz/ThreatLens)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31920"/>
            <a:ext cx="5422392" cy="228600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33087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BBF24"/>
                </a:solidFill>
                <a:latin typeface="Consolas"/>
              </a:rPr>
              <a:t>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892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Slow WHOIS / network →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timeouts, parallel fetch, bounded concurrency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API rate limits →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keys optional; graceful degradation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False positives →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transparent additive scoring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Scope creep →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stretch features scheduled last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2 · STUDENTS FINALIZE PROJECT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Finalized Project 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183112" cy="1143000"/>
          </a:xfrm>
          <a:prstGeom prst="roundRect">
            <a:avLst>
              <a:gd name="adj" fmla="val 10000"/>
            </a:avLst>
          </a:prstGeom>
          <a:solidFill>
            <a:srgbClr val="0E2A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SELECTED TITLE   </a:t>
            </a:r>
            <a:r>
              <a:rPr sz="2400" b="1" i="0">
                <a:solidFill>
                  <a:srgbClr val="E2E8F0"/>
                </a:solidFill>
                <a:latin typeface="Segoe UI"/>
              </a:rPr>
              <a:t>ThreatLens — Threat Detection &amp; URL Scanner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5852160" cy="329184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CANDIDATES CONSIDERED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3474720"/>
          <a:ext cx="57150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51460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Candidate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Focus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ThreatLens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Threat detection + URL scanning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✓ Selected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PhishGuard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Phishing only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✗ Too narrow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URLShield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URL scanning only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✗ Common name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CyberSentry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Monitoring / always-on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✗ Off-scope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29400" y="2834640"/>
            <a:ext cx="5056632" cy="329184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03580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WHY THIS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456432"/>
            <a:ext cx="4526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“Lens”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= inspection &amp; visibility — the tool’s core metaphor.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“Threat”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covers URLs, phishing content and intel feeds.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Short, brandable and unique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— no naming collisions.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Used consistently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across the repo, dashboard and extension.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3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Define the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183112" cy="196596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731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200" b="1" i="0">
                <a:solidFill>
                  <a:srgbClr val="22D3EE"/>
                </a:solidFill>
                <a:latin typeface="Segoe U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9784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E2E8F0"/>
                </a:solidFill>
                <a:latin typeface="Segoe UI"/>
              </a:rPr>
              <a:t>Users face an ever-growing wave of phishing and malicious URLs — yet existing tools answer “is this link safe?” with scattered, single-signal verdicts that are slow, opaque and hard to act on. ThreatLens solves this with one transparent, unified 0–100 risk score backed by itemized evidence — plus phishing-content analysis and a personal watchlist.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2697480" cy="16002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331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WHO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Users, students &amp; analysts who must judge link safety before clicking.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988" y="3703320"/>
            <a:ext cx="2697480" cy="16002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5868" y="3886200"/>
            <a:ext cx="2331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5868" y="4224528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One explainable risk score covering URLs and phishing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703320"/>
            <a:ext cx="2697480" cy="16002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886200"/>
            <a:ext cx="2331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4224528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Phishing is a leading initial-access vector; blocklists miss new domains.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3124" y="3703320"/>
            <a:ext cx="2697480" cy="16002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6004" y="3886200"/>
            <a:ext cx="2331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6004" y="4224528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Web dashboard + REST API + browser extension over a five-stage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23560"/>
            <a:ext cx="11183112" cy="457200"/>
          </a:xfrm>
          <a:prstGeom prst="roundRect">
            <a:avLst>
              <a:gd name="adj" fmla="val 50000"/>
            </a:avLst>
          </a:prstGeom>
          <a:solidFill>
            <a:srgbClr val="0E2A38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WHY IT MATTERS  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phishing is a leading initial-access vector · look-alike domains evade reactive blocklists · raw WHOIS/SSL/AV data is unreadable to most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4 · 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4.1  Existing System — Study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212080" cy="896112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BROWSER SAFE BROWSING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Reactive blocklists; no score or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78608"/>
            <a:ext cx="5212080" cy="896112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91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VIRUSTOTAL / MULTI-AV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Raw vendor votes; no unified verdict; file-oriented.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02736"/>
            <a:ext cx="5212080" cy="896112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MANUAL WHOIS / SSL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Expert-only; single signal; ignores links &amp;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26864"/>
            <a:ext cx="5212080" cy="896112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274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AD-HOC WEB SEARCHES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4748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No threat context, evidence trail or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554480"/>
            <a:ext cx="5696712" cy="420624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755648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KEY LIMITATIONS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63640" y="2148840"/>
          <a:ext cx="548640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4680"/>
                <a:gridCol w="233172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Key limitation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Siloed, single-signal checks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No overall verdict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Opaque verdicts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No audit trail or trust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Reactive blocklists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New typosquats evade them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URLs only, no content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Phishing text / headers unchecked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No history or watchlist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2E8F0"/>
                          </a:solidFill>
                          <a:latin typeface="Segoe UI"/>
                        </a:rPr>
                        <a:t>No trend or per-user context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263640" y="507492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Segoe UI"/>
              </a:rPr>
              <a:t>Gap:  </a:t>
            </a:r>
            <a:r>
              <a:rPr sz="1100" b="0" i="0">
                <a:solidFill>
                  <a:srgbClr val="94A3B8"/>
                </a:solidFill>
                <a:latin typeface="Segoe UI"/>
              </a:rPr>
              <a:t>no tool unifies these signals into an explainable score with history, watchlist and batch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4 · 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4.2  Proposed System — Functionality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11183112" cy="502920"/>
          </a:xfrm>
          <a:prstGeom prst="roundRect">
            <a:avLst>
              <a:gd name="adj" fmla="val 14000"/>
            </a:avLst>
          </a:prstGeom>
          <a:solidFill>
            <a:srgbClr val="0E2A38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7218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Overview:  </a:t>
            </a:r>
            <a:r>
              <a:rPr sz="1150" b="0" i="0">
                <a:solidFill>
                  <a:srgbClr val="E2E8F0"/>
                </a:solidFill>
                <a:latin typeface="Segoe UI"/>
              </a:rPr>
              <a:t>a full-stack threat-detection platform — FastAPI backend, five-stage scan pipeline, phishing engine, per-user history &amp; watchlist, web dashboard and browser extension.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57400"/>
            <a:ext cx="3566160" cy="1298448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176272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UNIFIED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496312"/>
            <a:ext cx="3236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Transparent 0–100 score, every deduction itemized &amp; readable.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2057400"/>
            <a:ext cx="3566160" cy="1298448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176272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URL SCAN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496312"/>
            <a:ext cx="3236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Parse → heuristics → metadata → intel → score (async, parallel).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2057400"/>
            <a:ext cx="3566160" cy="1298448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76272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PHISHING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96312"/>
            <a:ext cx="3236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Email/SMS/text analysis, header checks, sender check, link inspection.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02152"/>
            <a:ext cx="3566160" cy="1298448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621024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HISTORY &amp;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941064"/>
            <a:ext cx="3236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Persisted scans, filters, stats, full activity report (CSV/JSON/HTML).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6824" y="3502152"/>
            <a:ext cx="3566160" cy="1298448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3621024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WATCHLIST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941064"/>
            <a:ext cx="3236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Save senders / domains / URLs; auto-alert on new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8" y="3502152"/>
            <a:ext cx="3566160" cy="1298448"/>
          </a:xfrm>
          <a:prstGeom prst="roundRect">
            <a:avLst>
              <a:gd name="adj" fmla="val 9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621024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THREAT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941064"/>
            <a:ext cx="32369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VirusTotal, Safe Browsing, PhishTank — optional, degrade gracefully.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207" y="52120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111B2F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520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3223" y="52943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1 · PARSE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3223" y="5623560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tldextract</a:t>
            </a:r>
          </a:p>
        </p:txBody>
      </p:sp>
      <p:sp>
        <p:nvSpPr>
          <p:cNvPr id="32" name="Chevron 31"/>
          <p:cNvSpPr/>
          <p:nvPr/>
        </p:nvSpPr>
        <p:spPr>
          <a:xfrm>
            <a:off x="2822295" y="5458968"/>
            <a:ext cx="237744" cy="274320"/>
          </a:xfrm>
          <a:prstGeom prst="chevron">
            <a:avLst/>
          </a:prstGeom>
          <a:solidFill>
            <a:srgbClr val="0E7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78327" y="52120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111B2F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7832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6343" y="52943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2 · HEURISTICS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6343" y="5623560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typosquat · entropy</a:t>
            </a:r>
          </a:p>
        </p:txBody>
      </p:sp>
      <p:sp>
        <p:nvSpPr>
          <p:cNvPr id="37" name="Chevron 36"/>
          <p:cNvSpPr/>
          <p:nvPr/>
        </p:nvSpPr>
        <p:spPr>
          <a:xfrm>
            <a:off x="4925415" y="5458968"/>
            <a:ext cx="237744" cy="274320"/>
          </a:xfrm>
          <a:prstGeom prst="chevron">
            <a:avLst/>
          </a:prstGeom>
          <a:solidFill>
            <a:srgbClr val="0E7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81447" y="52120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111B2F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8144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9463" y="52943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3 · METADATA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9463" y="5623560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WHOIS·SSL·HTTP</a:t>
            </a:r>
          </a:p>
        </p:txBody>
      </p:sp>
      <p:sp>
        <p:nvSpPr>
          <p:cNvPr id="42" name="Chevron 41"/>
          <p:cNvSpPr/>
          <p:nvPr/>
        </p:nvSpPr>
        <p:spPr>
          <a:xfrm>
            <a:off x="7028535" y="5458968"/>
            <a:ext cx="237744" cy="274320"/>
          </a:xfrm>
          <a:prstGeom prst="chevron">
            <a:avLst/>
          </a:prstGeom>
          <a:solidFill>
            <a:srgbClr val="0E7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284567" y="52120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111B2F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8456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12583" y="52943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4 · THREAT INTEL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2583" y="5623560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VT·GSB·PhishTank</a:t>
            </a:r>
          </a:p>
        </p:txBody>
      </p:sp>
      <p:sp>
        <p:nvSpPr>
          <p:cNvPr id="47" name="Chevron 46"/>
          <p:cNvSpPr/>
          <p:nvPr/>
        </p:nvSpPr>
        <p:spPr>
          <a:xfrm>
            <a:off x="9131655" y="5458968"/>
            <a:ext cx="237744" cy="274320"/>
          </a:xfrm>
          <a:prstGeom prst="chevron">
            <a:avLst/>
          </a:prstGeom>
          <a:solidFill>
            <a:srgbClr val="0E7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387687" y="5212080"/>
            <a:ext cx="1828800" cy="777240"/>
          </a:xfrm>
          <a:prstGeom prst="roundRect">
            <a:avLst>
              <a:gd name="adj" fmla="val 10000"/>
            </a:avLst>
          </a:prstGeom>
          <a:solidFill>
            <a:srgbClr val="111B2F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87687" y="5394960"/>
            <a:ext cx="36576" cy="4114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5703" y="5294376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5 · SCORING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5703" y="5623560"/>
            <a:ext cx="15727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Segoe UI"/>
              </a:rPr>
              <a:t>0–100 + verdict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4 · 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4.2  Modules &amp; Sub-Modules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8074152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Sub-modules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Authentication &amp; Users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Register · login/logout · profile · change password · admin roles · rate limiting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URL Scanner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URL parser · heuristics · WHOIS/SSL/HTTP metadata · threat intel · risk scoring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Phishing Analyzer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Content NLP rules · header parser · sender check · link inspector · trends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History &amp; Reporting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Scan history · phishing history · activity report · CSV/JSON/HTML export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Watchlist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Sender / domain / URL indicators · auto-matching inside analyses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Threat Intelligence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Provider status · verdict feed · config-driven optional keys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Bulk Scanner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Up to 25 URLs in parallel · per-URL failure isolation · CSV export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Browser Extension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Popup scan · context menus · score badge · full-report tab · settings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Admin Panel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Global stats · user management · visibility into all users’ scans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Frontend Dashboard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2E8F0"/>
                          </a:solidFill>
                          <a:latin typeface="Segoe UI"/>
                        </a:rPr>
                        <a:t>Scanner · phishing lab · learn · history · intel · profile pages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4 · 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Justification of the Proposed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4480560" cy="416052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WHY THIS SYSTEM IS JUSTIFIED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3977639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Real, current need: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phishing is a leading initial-access vector — demand for screening is high.</a:t>
            </a:r>
          </a:p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Fills a concrete gap: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no existing tool unifies heuristics, metadata &amp; intel into an explainable score.</a:t>
            </a:r>
          </a:p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Affordable to build &amp; run: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works with zero API keys and free open-source software.</a:t>
            </a:r>
          </a:p>
          <a:p>
            <a:pPr algn="l">
              <a:lnSpc>
                <a:spcPct val="114000"/>
              </a:lnSpc>
              <a:spcAft>
                <a:spcPts val="10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200" b="1" i="0">
                <a:solidFill>
                  <a:srgbClr val="E2E8F0"/>
                </a:solidFill>
                <a:latin typeface="Segoe UI"/>
              </a:rPr>
              <a:t>Educational value: </a:t>
            </a:r>
            <a:r>
              <a:rPr sz="1200" b="0" i="0">
                <a:solidFill>
                  <a:srgbClr val="94A3B8"/>
                </a:solidFill>
                <a:latin typeface="Segoe UI"/>
              </a:rPr>
              <a:t>transparent scoring + learn page &amp; quiz serve academic and awareness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463040"/>
            <a:ext cx="3145536" cy="1965960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0952" y="1591056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1938528"/>
            <a:ext cx="281635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Proven free stack (Python · FastAPI · SQLite · JS). All signals available via public WHOIS/SSL/HTTP + optional APIs; graceful degradation keeps the system working without paid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49056" y="1463040"/>
            <a:ext cx="3145536" cy="1965960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1591056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onsolas"/>
              </a:rPr>
              <a:t>ECONOMIC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1938528"/>
            <a:ext cx="281635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Zero licence or API costs. SQLite avoids a DB server. Optional free-tier threat-intel keys only enrich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611880"/>
            <a:ext cx="3145536" cy="1965960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3739896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Consolas"/>
              </a:rPr>
              <a:t>OPERATIONAL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4087368"/>
            <a:ext cx="281635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One-command setup, web UI for non-experts, admin panel, per-user accounts, modular maintainable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3611880"/>
            <a:ext cx="3145536" cy="1965960"/>
          </a:xfrm>
          <a:prstGeom prst="roundRect">
            <a:avLst>
              <a:gd name="adj" fmla="val 8000"/>
            </a:avLst>
          </a:prstGeom>
          <a:solidFill>
            <a:srgbClr val="1622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3739896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4087368"/>
            <a:ext cx="281635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Phased 14-week plan; core pipeline first, stretch features (bulk scan, extension) scheduled last.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97880"/>
            <a:ext cx="11183112" cy="457200"/>
          </a:xfrm>
          <a:prstGeom prst="roundRect">
            <a:avLst>
              <a:gd name="adj" fmla="val 50000"/>
            </a:avLst>
          </a:prstGeom>
          <a:solidFill>
            <a:srgbClr val="0E2A38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BENEFITS  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one explainable score with evidence · history &amp; watchlist for ongoing protection · batch + browser-level scanning · no paid dependencies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5 ·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5.1–5.2  Requirements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HARDWARE /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Server: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2-core CPU, 4 GB RAM, 1 GB disk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Client: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any modern browser; extension on Chrome/Edge/Brave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Network: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internet access for WHOIS/SSL/HTTP + intel feeds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422392" cy="214884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64208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SOFTWARE /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Backend: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Python 3.11+ · FastAPI · Uvicorn · Pydantic 2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Data: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SQLAlchemy 2 ORM · SQLite (Postgres-ready)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Analysis: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tldextract · python-whois · requests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1" i="0">
                <a:solidFill>
                  <a:srgbClr val="22D3EE"/>
                </a:solidFill>
                <a:latin typeface="Segoe UI"/>
              </a:rPr>
              <a:t>▸  </a:t>
            </a:r>
            <a:r>
              <a:rPr sz="1150" b="1" i="0">
                <a:solidFill>
                  <a:srgbClr val="E2E8F0"/>
                </a:solidFill>
                <a:latin typeface="Segoe UI"/>
              </a:rPr>
              <a:t>Frontend: </a:t>
            </a:r>
            <a:r>
              <a:rPr sz="1150" b="0" i="0">
                <a:solidFill>
                  <a:srgbClr val="94A3B8"/>
                </a:solidFill>
                <a:latin typeface="Segoe UI"/>
              </a:rPr>
              <a:t>HTML5 · CSS3 · vanilla JS · Git &amp; 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11183112" cy="237744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9592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LAYERED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70832"/>
            <a:ext cx="10607040" cy="310896"/>
          </a:xfrm>
          <a:prstGeom prst="roundRect">
            <a:avLst>
              <a:gd name="adj" fmla="val 14000"/>
            </a:avLst>
          </a:prstGeom>
          <a:solidFill>
            <a:srgbClr val="16223A"/>
          </a:solidFill>
          <a:ln w="12700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21124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21124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Web dashboard (HTML/CSS/JS) · Chrome extension · REST clients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27448"/>
            <a:ext cx="10607040" cy="310896"/>
          </a:xfrm>
          <a:prstGeom prst="roundRect">
            <a:avLst>
              <a:gd name="adj" fmla="val 14000"/>
            </a:avLst>
          </a:prstGeom>
          <a:solidFill>
            <a:srgbClr val="16223A"/>
          </a:solidFill>
          <a:ln w="12700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7774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777740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FastAPI (async) — auth, scanner, phishing, tools, history, intel,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84064"/>
            <a:ext cx="10607040" cy="310896"/>
          </a:xfrm>
          <a:prstGeom prst="roundRect">
            <a:avLst>
              <a:gd name="adj" fmla="val 14000"/>
            </a:avLst>
          </a:prstGeom>
          <a:solidFill>
            <a:srgbClr val="16223A"/>
          </a:solidFill>
          <a:ln w="12700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34355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34355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url_parser · heuristics · metadata · threat_intel · phishing_analyzer · risk_scoring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40679"/>
            <a:ext cx="10607040" cy="310896"/>
          </a:xfrm>
          <a:prstGeom prst="roundRect">
            <a:avLst>
              <a:gd name="adj" fmla="val 14000"/>
            </a:avLst>
          </a:prstGeom>
          <a:solidFill>
            <a:srgbClr val="16223A"/>
          </a:solidFill>
          <a:ln w="12700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490971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490971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SQLite via SQLAlchemy — users, tokens, scans, analyses, watchlist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797295"/>
            <a:ext cx="10607040" cy="310896"/>
          </a:xfrm>
          <a:prstGeom prst="roundRect">
            <a:avLst>
              <a:gd name="adj" fmla="val 14000"/>
            </a:avLst>
          </a:prstGeom>
          <a:solidFill>
            <a:srgbClr val="16223A"/>
          </a:solidFill>
          <a:ln w="12700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47587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onsolas"/>
              </a:rPr>
              <a:t>EXTERNAL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847587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WHOIS · SSL · HTTP · VirusTotal · Google Safe Browsing · PhishTank (optional)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5 ·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 i="0">
                <a:solidFill>
                  <a:srgbClr val="E2E8F0"/>
                </a:solidFill>
                <a:latin typeface="Segoe UI"/>
              </a:rPr>
              <a:t>5.3–5.6  Database · API · Scoring ·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554480" cy="411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onsolas"/>
              </a:rPr>
              <a:t>THREATLENS  ·  THREAT DETECTION &amp; URL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onsola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566160" cy="402336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DATABASE (SQLite)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057400"/>
          <a:ext cx="33375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600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D3EE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D3EE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users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Accounts &amp; roles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auth_tokens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Bearer sessions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scans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URL scan history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phishing_analyses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Content analysis log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watchlist_entries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Saved indicators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306824" y="1463040"/>
            <a:ext cx="3566160" cy="402336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66420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REST API (KEY ENDPOINTS)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35424" y="2057400"/>
          <a:ext cx="33832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D3EE"/>
                          </a:solidFill>
                          <a:latin typeface="Segoe UI"/>
                        </a:rPr>
                        <a:t>POST /api/scan-url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22D3EE"/>
                          </a:solidFill>
                          <a:latin typeface="Segoe UI"/>
                        </a:rPr>
                        <a:t>Full URL scan → risk report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D3EE"/>
                          </a:solidFill>
                          <a:latin typeface="Consolas"/>
                        </a:rPr>
                        <a:t>POST /api/scan-bulk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Segoe UI"/>
                        </a:rPr>
                        <a:t>Up to 25 URLs in parallel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D3EE"/>
                          </a:solidFill>
                          <a:latin typeface="Consolas"/>
                        </a:rPr>
                        <a:t>POST /api/analyze-phishing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Segoe UI"/>
                        </a:rPr>
                        <a:t>Email / SMS / text analysis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D3EE"/>
                          </a:solidFill>
                          <a:latin typeface="Consolas"/>
                        </a:rPr>
                        <a:t>POST /api/phishing/headers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Segoe UI"/>
                        </a:rPr>
                        <a:t>Header spoofing checks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D3EE"/>
                          </a:solidFill>
                          <a:latin typeface="Consolas"/>
                        </a:rPr>
                        <a:t>GET /api/history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Segoe UI"/>
                        </a:rPr>
                        <a:t>Recent scans per user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D3EE"/>
                          </a:solidFill>
                          <a:latin typeface="Consolas"/>
                        </a:rPr>
                        <a:t>POST /api/watchlist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Segoe UI"/>
                        </a:rPr>
                        <a:t>Save an indicator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0">
                          <a:solidFill>
                            <a:srgbClr val="22D3EE"/>
                          </a:solidFill>
                          <a:latin typeface="Consolas"/>
                        </a:rPr>
                        <a:t>GET /api/admin/stats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E2E8F0"/>
                          </a:solidFill>
                          <a:latin typeface="Segoe UI"/>
                        </a:rPr>
                        <a:t>Platform overview (admin)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110727" y="1463040"/>
            <a:ext cx="3566160" cy="4023360"/>
          </a:xfrm>
          <a:prstGeom prst="roundRect">
            <a:avLst>
              <a:gd name="adj" fmla="val 7000"/>
            </a:avLst>
          </a:prstGeom>
          <a:solidFill>
            <a:srgbClr val="111B2F"/>
          </a:solidFill>
          <a:ln w="12700">
            <a:solidFill>
              <a:srgbClr val="20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664208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Consolas"/>
              </a:rPr>
              <a:t>RISK SCORING (0–100)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39327" y="2057400"/>
          <a:ext cx="32918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96012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D3EE"/>
                          </a:solidFill>
                          <a:latin typeface="Segoe UI"/>
                        </a:rPr>
                        <a:t>Signal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22D3EE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 anchor="ctr" marL="91440" marR="73152" marT="27432" marB="27432">
                    <a:lnB w="15875" cap="flat" cmpd="sng" algn="ctr">
                      <a:solidFill>
                        <a:srgbClr val="22D3EE"/>
                      </a:solidFill>
                    </a:lnB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solidFill>
                      <a:srgbClr val="0E2A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Blocklisted (GSB/PhishTank)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−100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≥ 3 AV engines flag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−80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Domain age &lt; 14 days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−40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Typosquatting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−35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IP URL / invalid TLS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−30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622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E2E8F0"/>
                          </a:solidFill>
                          <a:latin typeface="Segoe UI"/>
                        </a:rPr>
                        <a:t>Valid TLS certificate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22D3EE"/>
                          </a:solidFill>
                          <a:latin typeface="Consolas"/>
                        </a:rPr>
                        <a:t>+10</a:t>
                      </a:r>
                    </a:p>
                  </a:txBody>
                  <a:tcPr anchor="ctr" marL="91440" marR="73152" marT="27432" marB="27432">
                    <a:lnL w="9525" cap="flat" cmpd="sng" algn="ctr">
                      <a:solidFill>
                        <a:srgbClr val="182238"/>
                      </a:solidFill>
                    </a:lnL>
                    <a:lnR w="9525" cap="flat" cmpd="sng" algn="ctr">
                      <a:solidFill>
                        <a:srgbClr val="182238"/>
                      </a:solidFill>
                    </a:lnR>
                    <a:lnT w="9525" cap="flat" cmpd="sng" algn="ctr">
                      <a:solidFill>
                        <a:srgbClr val="182238"/>
                      </a:solidFill>
                    </a:lnT>
                    <a:lnB w="9525" cap="flat" cmpd="sng" algn="ctr">
                      <a:solidFill>
                        <a:srgbClr val="182238"/>
                      </a:solidFill>
                    </a:lnB>
                    <a:solidFill>
                      <a:srgbClr val="111B2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339327" y="48920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Consolas"/>
              </a:rPr>
              <a:t>Verdicts:  </a:t>
            </a:r>
            <a:r>
              <a:rPr sz="850" b="0" i="0">
                <a:solidFill>
                  <a:srgbClr val="E2E8F0"/>
                </a:solidFill>
                <a:latin typeface="Segoe UI"/>
              </a:rPr>
              <a:t>≥85 SAFE · 70–84 LOW · 40–69 SUSP · &lt;40 DANGEROUS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83112" cy="457200"/>
          </a:xfrm>
          <a:prstGeom prst="roundRect">
            <a:avLst>
              <a:gd name="adj" fmla="val 50000"/>
            </a:avLst>
          </a:prstGeom>
          <a:solidFill>
            <a:srgbClr val="0E2A38"/>
          </a:solidFill>
          <a:ln w="12700">
            <a:solidFill>
              <a:srgbClr val="0E7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97879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onsolas"/>
              </a:rPr>
              <a:t>SECURITY &amp; DEPLOYMENT   </a:t>
            </a:r>
            <a:r>
              <a:rPr sz="1050" b="0" i="0">
                <a:solidFill>
                  <a:srgbClr val="94A3B8"/>
                </a:solidFill>
                <a:latin typeface="Segoe UI"/>
              </a:rPr>
              <a:t>PBKDF2 hashing · expiry tokens · rate limits · SSRF-hardened fetch · admin 403 gating · uvicorn --workers 4 behind a TLS reverse proxy · Docker image provided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365760"/>
            <a:ext cx="4206240" cy="4206240"/>
          </a:xfrm>
          <a:prstGeom prst="ellipse">
            <a:avLst/>
          </a:prstGeom>
          <a:noFill/>
          <a:ln w="1778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969264"/>
            <a:ext cx="3108960" cy="3108960"/>
          </a:xfrm>
          <a:prstGeom prst="ellipse">
            <a:avLst/>
          </a:prstGeom>
          <a:noFill/>
          <a:ln w="1778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1572767"/>
            <a:ext cx="2011680" cy="2011680"/>
          </a:xfrm>
          <a:prstGeom prst="ellipse">
            <a:avLst/>
          </a:prstGeom>
          <a:noFill/>
          <a:ln w="17780">
            <a:solidFill>
              <a:srgbClr val="17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200" b="1" i="0">
                <a:solidFill>
                  <a:srgbClr val="E2E8F0"/>
                </a:solidFill>
                <a:latin typeface="Segoe U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23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2D3EE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3154680"/>
            <a:ext cx="1920240" cy="457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56616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E2E8F0"/>
                </a:solidFill>
                <a:latin typeface="Segoe UI"/>
              </a:rPr>
              <a:t>ThreatLens — Threat Detection &amp; URL Scanner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Unified 0–100 risk scoring · URL scanning · phishing analysis · threat intelligence · browser extension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200" b="0" i="0">
                <a:solidFill>
                  <a:srgbClr val="22D3EE"/>
                </a:solidFill>
                <a:latin typeface="Consolas"/>
              </a:rPr>
              <a:t>Repository:  github.com/malek2minhaaz/ThreatLens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Prepared by:  [Student Name]  ·  [Roll No.]     ·     Guide:  [Faculty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