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y="6858000" cx="12191675"/>
  <p:notesSz cx="6858000" cy="9144000"/>
  <p:embeddedFontLst>
    <p:embeddedFont>
      <p:font typeface="Play"/>
      <p:regular r:id="rId32"/>
      <p:bold r:id="rId33"/>
    </p:embeddedFont>
    <p:embeddedFont>
      <p:font typeface="Quattrocento Sans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E00C3AB-38B8-4B3B-9B5A-988E169025F8}">
  <a:tblStyle styleId="{CE00C3AB-38B8-4B3B-9B5A-988E169025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font" Target="fonts/Play-regular.fntdata"/><Relationship Id="rId33" Type="http://schemas.openxmlformats.org/officeDocument/2006/relationships/font" Target="fonts/Play-bold.fntdata"/><Relationship Id="rId34" Type="http://schemas.openxmlformats.org/officeDocument/2006/relationships/font" Target="fonts/QuattrocentoSans-regular.fntdata"/><Relationship Id="rId35" Type="http://schemas.openxmlformats.org/officeDocument/2006/relationships/font" Target="fonts/QuattrocentoSans-bold.fntdata"/><Relationship Id="rId36" Type="http://schemas.openxmlformats.org/officeDocument/2006/relationships/font" Target="fonts/QuattrocentoSans-italic.fntdata"/><Relationship Id="rId37" Type="http://schemas.openxmlformats.org/officeDocument/2006/relationships/font" Target="fonts/QuattrocentoSans-boldItalic.fntdata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409c2c2d35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g409c2c2d355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409c2c2d35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g409c2c2d355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409c2c2d35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g409c2c2d355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30345"/>
            <a:ext cx="12191700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9052559" y="182880"/>
            <a:ext cx="4937760" cy="4937760"/>
          </a:xfrm>
          <a:prstGeom prst="ellipse">
            <a:avLst/>
          </a:prstGeom>
          <a:noFill/>
          <a:ln cap="flat" cmpd="sng" w="17775">
            <a:solidFill>
              <a:srgbClr val="172A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9601200" y="786384"/>
            <a:ext cx="3840480" cy="3840480"/>
          </a:xfrm>
          <a:prstGeom prst="ellipse">
            <a:avLst/>
          </a:prstGeom>
          <a:noFill/>
          <a:ln cap="flat" cmpd="sng" w="17775">
            <a:solidFill>
              <a:srgbClr val="172A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10149840" y="1389888"/>
            <a:ext cx="2743200" cy="2743200"/>
          </a:xfrm>
          <a:prstGeom prst="ellipse">
            <a:avLst/>
          </a:prstGeom>
          <a:noFill/>
          <a:ln cap="flat" cmpd="sng" w="17775">
            <a:solidFill>
              <a:srgbClr val="172A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822960" y="86868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FINAL PROJECT PRESENTATION  ·  PHASE 1 — PROPOSAL &amp; ANALYSIS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777240" y="1417320"/>
            <a:ext cx="1060704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THREATLENS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822960" y="237744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Threat Detection &amp; URL Scanner</a:t>
            </a:r>
            <a:endParaRPr/>
          </a:p>
        </p:txBody>
      </p:sp>
      <p:sp>
        <p:nvSpPr>
          <p:cNvPr id="92" name="Google Shape;92;p13"/>
          <p:cNvSpPr/>
          <p:nvPr/>
        </p:nvSpPr>
        <p:spPr>
          <a:xfrm>
            <a:off x="841248" y="3154680"/>
            <a:ext cx="2688336" cy="384048"/>
          </a:xfrm>
          <a:prstGeom prst="roundRect">
            <a:avLst>
              <a:gd fmla="val 50000" name="adj"/>
            </a:avLst>
          </a:prstGeom>
          <a:solidFill>
            <a:srgbClr val="16223A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UNIFIED 0–100 RISK SCORE</a:t>
            </a:r>
            <a:endParaRPr/>
          </a:p>
        </p:txBody>
      </p:sp>
      <p:sp>
        <p:nvSpPr>
          <p:cNvPr id="93" name="Google Shape;93;p13"/>
          <p:cNvSpPr/>
          <p:nvPr/>
        </p:nvSpPr>
        <p:spPr>
          <a:xfrm>
            <a:off x="3694176" y="3154680"/>
            <a:ext cx="1536192" cy="384048"/>
          </a:xfrm>
          <a:prstGeom prst="roundRect">
            <a:avLst>
              <a:gd fmla="val 50000" name="adj"/>
            </a:avLst>
          </a:prstGeom>
          <a:solidFill>
            <a:srgbClr val="16223A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URL SCANNING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5394960" y="3154680"/>
            <a:ext cx="2016252" cy="384048"/>
          </a:xfrm>
          <a:prstGeom prst="roundRect">
            <a:avLst>
              <a:gd fmla="val 50000" name="adj"/>
            </a:avLst>
          </a:prstGeom>
          <a:solidFill>
            <a:srgbClr val="16223A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PHISHING ANALYSIS</a:t>
            </a:r>
            <a:endParaRPr/>
          </a:p>
        </p:txBody>
      </p:sp>
      <p:sp>
        <p:nvSpPr>
          <p:cNvPr id="95" name="Google Shape;95;p13"/>
          <p:cNvSpPr/>
          <p:nvPr/>
        </p:nvSpPr>
        <p:spPr>
          <a:xfrm>
            <a:off x="7575804" y="3154680"/>
            <a:ext cx="2208276" cy="384048"/>
          </a:xfrm>
          <a:prstGeom prst="roundRect">
            <a:avLst>
              <a:gd fmla="val 50000" name="adj"/>
            </a:avLst>
          </a:prstGeom>
          <a:solidFill>
            <a:srgbClr val="16223A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109725" spcFirstLastPara="1" rIns="109725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THREAT INTELLIGENCE</a:t>
            </a:r>
            <a:endParaRPr/>
          </a:p>
        </p:txBody>
      </p:sp>
      <p:sp>
        <p:nvSpPr>
          <p:cNvPr id="96" name="Google Shape;96;p13"/>
          <p:cNvSpPr/>
          <p:nvPr/>
        </p:nvSpPr>
        <p:spPr>
          <a:xfrm>
            <a:off x="822960" y="3794760"/>
            <a:ext cx="7680960" cy="1371600"/>
          </a:xfrm>
          <a:prstGeom prst="roundRect">
            <a:avLst>
              <a:gd fmla="val 10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838050" y="3849631"/>
            <a:ext cx="10515600" cy="132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Prepared by:  </a:t>
            </a:r>
            <a:endParaRPr b="0" i="0" sz="1250">
              <a:solidFill>
                <a:srgbClr val="94A3B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07975" lvl="0" marL="45720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Quattrocento Sans"/>
              <a:buChar char="●"/>
            </a:pP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Apurva Bharoliya</a:t>
            </a:r>
            <a:r>
              <a:rPr b="0" i="0"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</a:t>
            </a: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1003</a:t>
            </a:r>
            <a:endParaRPr sz="1250">
              <a:solidFill>
                <a:srgbClr val="94A3B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07975" lvl="0" marL="45720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Quattrocento Sans"/>
              <a:buChar char="●"/>
            </a:pP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Minhaz Malek </a:t>
            </a: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 1039</a:t>
            </a:r>
            <a:endParaRPr sz="1250">
              <a:solidFill>
                <a:srgbClr val="94A3B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07975" lvl="0" marL="45720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Quattrocento Sans"/>
              <a:buChar char="●"/>
            </a:pP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Jeal Rajpal ·  1050</a:t>
            </a:r>
            <a:endParaRPr sz="1250">
              <a:solidFill>
                <a:srgbClr val="94A3B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-307975" lvl="0" marL="45720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50"/>
              <a:buFont typeface="Quattrocento Sans"/>
              <a:buChar char="●"/>
            </a:pP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Priyansh Pal ·  1149</a:t>
            </a:r>
            <a:endParaRPr sz="1250">
              <a:solidFill>
                <a:srgbClr val="94A3B8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Course:  </a:t>
            </a: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IMCA - 7th </a:t>
            </a: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Semester</a:t>
            </a:r>
            <a:r>
              <a:rPr b="0" i="0"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 ·     Guide:  </a:t>
            </a:r>
            <a:r>
              <a:rPr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Divya Mudaliar </a:t>
            </a:r>
            <a:r>
              <a:rPr b="0" i="0" lang="en-US" sz="12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  ·     August 2026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1 · INITIAL PROJECT PROPOSAL &amp; PLANNING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502920" y="5029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Project Proposal — Idea, Objectives &amp; Scope</a:t>
            </a:r>
            <a:endParaRPr/>
          </a:p>
        </p:txBody>
      </p:sp>
      <p:sp>
        <p:nvSpPr>
          <p:cNvPr id="107" name="Google Shape;107;p14"/>
          <p:cNvSpPr/>
          <p:nvPr/>
        </p:nvSpPr>
        <p:spPr>
          <a:xfrm>
            <a:off x="502920" y="1188720"/>
            <a:ext cx="1554480" cy="41148"/>
          </a:xfrm>
          <a:prstGeom prst="roundRect">
            <a:avLst>
              <a:gd fmla="val 50000" name="adj"/>
            </a:avLst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THREATLENS  ·  THREAT DETECTION &amp; URL SCANNER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502920" y="1417320"/>
            <a:ext cx="11183112" cy="566928"/>
          </a:xfrm>
          <a:prstGeom prst="roundRect">
            <a:avLst>
              <a:gd fmla="val 14000" name="adj"/>
            </a:avLst>
          </a:prstGeom>
          <a:solidFill>
            <a:srgbClr val="0E2A38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822960" y="155448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The idea:  </a:t>
            </a:r>
            <a:r>
              <a:rPr b="0" i="0" lang="en-US" sz="12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turn any URL into an evidence-backed 0–100 risk score with an itemized, explainable breakdown — plus phishing-content analysis, history and a browser extension.</a:t>
            </a:r>
            <a:endParaRPr/>
          </a:p>
        </p:txBody>
      </p:sp>
      <p:sp>
        <p:nvSpPr>
          <p:cNvPr id="112" name="Google Shape;112;p14"/>
          <p:cNvSpPr/>
          <p:nvPr/>
        </p:nvSpPr>
        <p:spPr>
          <a:xfrm>
            <a:off x="502920" y="2194560"/>
            <a:ext cx="3566160" cy="3977639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731520" y="2395728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MOTIVATION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731520" y="2788920"/>
            <a:ext cx="310896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Phishing &amp; malicious URLs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are a top initial-access vector for breaches.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Look-alike domains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are indistinguishable to the human eye.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Threat signals are scattered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across WHOIS, SSL, blocklist and AV tools.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Verdicts are opaque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users cannot see why a link was flagged.</a:t>
            </a:r>
            <a:endParaRPr/>
          </a:p>
        </p:txBody>
      </p:sp>
      <p:sp>
        <p:nvSpPr>
          <p:cNvPr id="115" name="Google Shape;115;p14"/>
          <p:cNvSpPr/>
          <p:nvPr/>
        </p:nvSpPr>
        <p:spPr>
          <a:xfrm>
            <a:off x="4306824" y="2194560"/>
            <a:ext cx="3566160" cy="3977639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4535424" y="2395728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OBJECTIVES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4535424" y="2788920"/>
            <a:ext cx="310896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Unified 0–100 score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with human-readable findings.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Five-stage scan pipeline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 parse → heuristics → metadata → intel → score.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Phishing analysis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for email / SMS / text, headers and embedded links.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History, watchlist, bulk scan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 a Chrome extension.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8110727" y="2194560"/>
            <a:ext cx="3566160" cy="3977639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8339327" y="2395728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SCOPE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8339327" y="2788920"/>
            <a:ext cx="310896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URL scanning, phishing lab, auth, admin, history, watchlist, bulk &amp; extension.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OUT: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ML training, file sandboxing, SMTP integration, mobile apps, public SaaS.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223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 txBox="1"/>
          <p:nvPr/>
        </p:nvSpPr>
        <p:spPr>
          <a:xfrm>
            <a:off x="502920" y="201168"/>
            <a:ext cx="106984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30CDDC"/>
                </a:solidFill>
                <a:latin typeface="Calibri"/>
                <a:ea typeface="Calibri"/>
                <a:cs typeface="Calibri"/>
                <a:sym typeface="Calibri"/>
              </a:rPr>
              <a:t>2 · STUDENTS FINALIZE PROJECT TITLE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Finalized Project Title</a:t>
            </a:r>
            <a:endParaRPr/>
          </a:p>
        </p:txBody>
      </p:sp>
      <p:sp>
        <p:nvSpPr>
          <p:cNvPr id="129" name="Google Shape;129;p15"/>
          <p:cNvSpPr/>
          <p:nvPr/>
        </p:nvSpPr>
        <p:spPr>
          <a:xfrm>
            <a:off x="502920" y="1069848"/>
            <a:ext cx="11109960" cy="22860"/>
          </a:xfrm>
          <a:prstGeom prst="rect">
            <a:avLst/>
          </a:prstGeom>
          <a:solidFill>
            <a:srgbClr val="30CDD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31" name="Google Shape;131;p15"/>
          <p:cNvSpPr/>
          <p:nvPr/>
        </p:nvSpPr>
        <p:spPr>
          <a:xfrm>
            <a:off x="594360" y="1353312"/>
            <a:ext cx="5349300" cy="4480500"/>
          </a:xfrm>
          <a:prstGeom prst="roundRect">
            <a:avLst>
              <a:gd fmla="val 16667" name="adj"/>
            </a:avLst>
          </a:prstGeom>
          <a:solidFill>
            <a:srgbClr val="122239"/>
          </a:solidFill>
          <a:ln cap="flat" cmpd="sng" w="9525">
            <a:solidFill>
              <a:srgbClr val="2346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3150" lIns="146300" spcFirstLastPara="1" rIns="109725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30">
                <a:solidFill>
                  <a:srgbClr val="30CDDC"/>
                </a:solidFill>
                <a:latin typeface="Calibri"/>
                <a:ea typeface="Calibri"/>
                <a:cs typeface="Calibri"/>
                <a:sym typeface="Calibri"/>
              </a:rPr>
              <a:t>SELECTED TITLE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ThreatLens — Threat Detection &amp; URL Scanner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 concise title that directly represents the system’s scope: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Threat detection for malicious and suspicious URLs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Phishing-content analysis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Threat-intelligence integration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Explainable risk scoring and reporting</a:t>
            </a:r>
            <a:endParaRPr sz="1800"/>
          </a:p>
        </p:txBody>
      </p:sp>
      <p:sp>
        <p:nvSpPr>
          <p:cNvPr id="132" name="Google Shape;132;p15"/>
          <p:cNvSpPr/>
          <p:nvPr/>
        </p:nvSpPr>
        <p:spPr>
          <a:xfrm>
            <a:off x="6172200" y="1353312"/>
            <a:ext cx="5349240" cy="4480560"/>
          </a:xfrm>
          <a:prstGeom prst="roundRect">
            <a:avLst>
              <a:gd fmla="val 16667" name="adj"/>
            </a:avLst>
          </a:prstGeom>
          <a:solidFill>
            <a:srgbClr val="122239"/>
          </a:solidFill>
          <a:ln cap="flat" cmpd="sng" w="9525">
            <a:solidFill>
              <a:srgbClr val="2346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3150" lIns="146300" spcFirstLastPara="1" rIns="109725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30">
                <a:solidFill>
                  <a:srgbClr val="F7F9FC"/>
                </a:solidFill>
                <a:latin typeface="Calibri"/>
                <a:ea typeface="Calibri"/>
                <a:cs typeface="Calibri"/>
                <a:sym typeface="Calibri"/>
              </a:rPr>
              <a:t>WHY THIS TITLE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7F9FC"/>
                </a:solidFill>
                <a:latin typeface="Calibri"/>
                <a:ea typeface="Calibri"/>
                <a:cs typeface="Calibri"/>
                <a:sym typeface="Calibri"/>
              </a:rPr>
              <a:t>• “ThreatLens” communicates inspection, visibility, and analysis.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7F9FC"/>
                </a:solidFill>
                <a:latin typeface="Calibri"/>
                <a:ea typeface="Calibri"/>
                <a:cs typeface="Calibri"/>
                <a:sym typeface="Calibri"/>
              </a:rPr>
              <a:t>• “Threat” covers malicious URLs, phishing content, and intelligence.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7F9FC"/>
                </a:solidFill>
                <a:latin typeface="Calibri"/>
                <a:ea typeface="Calibri"/>
                <a:cs typeface="Calibri"/>
                <a:sym typeface="Calibri"/>
              </a:rPr>
              <a:t>• “Lens” reflects the goal of making security evidence understandable.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7F9FC"/>
                </a:solidFill>
                <a:latin typeface="Calibri"/>
                <a:ea typeface="Calibri"/>
                <a:cs typeface="Calibri"/>
                <a:sym typeface="Calibri"/>
              </a:rPr>
              <a:t>• The name is consistent across the dashboard, backend, database documentation, and browser extension.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30">
                <a:solidFill>
                  <a:srgbClr val="F7F9FC"/>
                </a:solidFill>
                <a:latin typeface="Calibri"/>
                <a:ea typeface="Calibri"/>
                <a:cs typeface="Calibri"/>
                <a:sym typeface="Calibri"/>
              </a:rPr>
              <a:t>FINAL TITLE: ThreatLens</a:t>
            </a:r>
            <a:endParaRPr sz="1800"/>
          </a:p>
        </p:txBody>
      </p:sp>
      <p:sp>
        <p:nvSpPr>
          <p:cNvPr id="133" name="Google Shape;133;p15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3 · PROBLEM STATEMENT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502920" y="5029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Define the Problem Statement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502920" y="1188720"/>
            <a:ext cx="1554480" cy="41148"/>
          </a:xfrm>
          <a:prstGeom prst="roundRect">
            <a:avLst>
              <a:gd fmla="val 50000" name="adj"/>
            </a:avLst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THREATLENS  ·  THREAT DETECTION &amp; URL SCANNER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05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502920" y="1463040"/>
            <a:ext cx="11183112" cy="1965960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914400" y="1691640"/>
            <a:ext cx="731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“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1554480" y="1783080"/>
            <a:ext cx="97840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Users face an ever-growing wave of phishing and malicious URLs — yet existing tools answer “is this link safe?” with scattered, single-signal verdicts that are slow, opaque and hard to act on. ThreatLens solves this with one transparent, unified 0–100 risk score backed by itemized evidence — plus phishing-content analysis and a personal watchlist.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02920" y="3703320"/>
            <a:ext cx="2697480" cy="1600200"/>
          </a:xfrm>
          <a:prstGeom prst="roundRect">
            <a:avLst>
              <a:gd fmla="val 9000" name="adj"/>
            </a:avLst>
          </a:prstGeom>
          <a:solidFill>
            <a:srgbClr val="16223A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685800" y="3886200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WHO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685800" y="422452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Users, students &amp; analysts who must judge link safety before clicking.</a:t>
            </a:r>
            <a:endParaRPr/>
          </a:p>
        </p:txBody>
      </p:sp>
      <p:sp>
        <p:nvSpPr>
          <p:cNvPr id="150" name="Google Shape;150;p16"/>
          <p:cNvSpPr/>
          <p:nvPr/>
        </p:nvSpPr>
        <p:spPr>
          <a:xfrm>
            <a:off x="3332988" y="3703320"/>
            <a:ext cx="2697480" cy="1600200"/>
          </a:xfrm>
          <a:prstGeom prst="roundRect">
            <a:avLst>
              <a:gd fmla="val 9000" name="adj"/>
            </a:avLst>
          </a:prstGeom>
          <a:solidFill>
            <a:srgbClr val="16223A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3515868" y="3886200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WHAT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3515868" y="422452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explainable risk score covering URLs and phishing content.</a:t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6163056" y="3703320"/>
            <a:ext cx="2697480" cy="1600200"/>
          </a:xfrm>
          <a:prstGeom prst="roundRect">
            <a:avLst>
              <a:gd fmla="val 9000" name="adj"/>
            </a:avLst>
          </a:prstGeom>
          <a:solidFill>
            <a:srgbClr val="16223A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/>
        </p:nvSpPr>
        <p:spPr>
          <a:xfrm>
            <a:off x="6345936" y="3886200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WHY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6345936" y="422452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Phishing is a leading initial-access vector; blocklists miss new domains.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8993124" y="3703320"/>
            <a:ext cx="2697480" cy="1600200"/>
          </a:xfrm>
          <a:prstGeom prst="roundRect">
            <a:avLst>
              <a:gd fmla="val 9000" name="adj"/>
            </a:avLst>
          </a:prstGeom>
          <a:solidFill>
            <a:srgbClr val="16223A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9176004" y="3886200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HOW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9176004" y="4224528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Web dashboard + REST API + browser extension over a five-stage pipeline.</a:t>
            </a:r>
            <a:endParaRPr/>
          </a:p>
        </p:txBody>
      </p:sp>
      <p:sp>
        <p:nvSpPr>
          <p:cNvPr id="159" name="Google Shape;159;p16"/>
          <p:cNvSpPr/>
          <p:nvPr/>
        </p:nvSpPr>
        <p:spPr>
          <a:xfrm>
            <a:off x="502920" y="5623560"/>
            <a:ext cx="11183112" cy="457200"/>
          </a:xfrm>
          <a:prstGeom prst="roundRect">
            <a:avLst>
              <a:gd fmla="val 50000" name="adj"/>
            </a:avLst>
          </a:prstGeom>
          <a:solidFill>
            <a:srgbClr val="0E2A38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6"/>
          <p:cNvSpPr txBox="1"/>
          <p:nvPr/>
        </p:nvSpPr>
        <p:spPr>
          <a:xfrm>
            <a:off x="777240" y="5715000"/>
            <a:ext cx="106344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WHY IT MATTERS   </a:t>
            </a: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phishing is a leading initial-access vector · look-alike domains evade reactive blocklists · raw WHOIS/SSL/AV data is unreadable to most users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1223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 txBox="1"/>
          <p:nvPr/>
        </p:nvSpPr>
        <p:spPr>
          <a:xfrm>
            <a:off x="502920" y="201168"/>
            <a:ext cx="106984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30CDDC"/>
                </a:solidFill>
                <a:latin typeface="Calibri"/>
                <a:ea typeface="Calibri"/>
                <a:cs typeface="Calibri"/>
                <a:sym typeface="Calibri"/>
              </a:rPr>
              <a:t>4 · CONDUCT SYSTEM ANALYSIS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4.1 — Study the Existing System and Its Limitations</a:t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502920" y="1069848"/>
            <a:ext cx="11109960" cy="22860"/>
          </a:xfrm>
          <a:prstGeom prst="rect">
            <a:avLst/>
          </a:prstGeom>
          <a:solidFill>
            <a:srgbClr val="30CDDC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94360" y="1353312"/>
            <a:ext cx="3429000" cy="4434840"/>
          </a:xfrm>
          <a:prstGeom prst="roundRect">
            <a:avLst>
              <a:gd fmla="val 16667" name="adj"/>
            </a:avLst>
          </a:prstGeom>
          <a:solidFill>
            <a:srgbClr val="122239"/>
          </a:solidFill>
          <a:ln cap="flat" cmpd="sng" w="9525">
            <a:solidFill>
              <a:srgbClr val="2346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3150" lIns="146300" spcFirstLastPara="1" rIns="109725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30">
                <a:solidFill>
                  <a:srgbClr val="30CDDC"/>
                </a:solidFill>
                <a:latin typeface="Calibri"/>
                <a:ea typeface="Calibri"/>
                <a:cs typeface="Calibri"/>
                <a:sym typeface="Calibri"/>
              </a:rPr>
              <a:t>BROWSER SAFE BROWSING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Reactive blocklists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Limited explanation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No unified risk score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New threats can evade reactive lists</a:t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4370832" y="1353312"/>
            <a:ext cx="3429000" cy="4434840"/>
          </a:xfrm>
          <a:prstGeom prst="roundRect">
            <a:avLst>
              <a:gd fmla="val 16667" name="adj"/>
            </a:avLst>
          </a:prstGeom>
          <a:solidFill>
            <a:srgbClr val="122239"/>
          </a:solidFill>
          <a:ln cap="flat" cmpd="sng" w="9525">
            <a:solidFill>
              <a:srgbClr val="2346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3150" lIns="146300" spcFirstLastPara="1" rIns="109725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30">
                <a:solidFill>
                  <a:srgbClr val="30CDDC"/>
                </a:solidFill>
                <a:latin typeface="Calibri"/>
                <a:ea typeface="Calibri"/>
                <a:cs typeface="Calibri"/>
                <a:sym typeface="Calibri"/>
              </a:rPr>
              <a:t>VIRUSTOTAL / MULTI-AV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Raw vendor results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Fragmented signals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Hard for non-experts to interpret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No consolidated user workflow</a:t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8147304" y="1353312"/>
            <a:ext cx="3429000" cy="4434840"/>
          </a:xfrm>
          <a:prstGeom prst="roundRect">
            <a:avLst>
              <a:gd fmla="val 16667" name="adj"/>
            </a:avLst>
          </a:prstGeom>
          <a:solidFill>
            <a:srgbClr val="122239"/>
          </a:solidFill>
          <a:ln cap="flat" cmpd="sng" w="9525">
            <a:solidFill>
              <a:srgbClr val="2346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73150" lIns="146300" spcFirstLastPara="1" rIns="109725" wrap="square" tIns="1097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30">
                <a:solidFill>
                  <a:srgbClr val="30CDDC"/>
                </a:solidFill>
                <a:latin typeface="Calibri"/>
                <a:ea typeface="Calibri"/>
                <a:cs typeface="Calibri"/>
                <a:sym typeface="Calibri"/>
              </a:rPr>
              <a:t>MANUAL / AD-HOC CHECKS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WHOIS / SSL / web searches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Expert-oriented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Single-signal inspection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No structured evidence trail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030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• No history or watchlist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 txBox="1"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4 · SYSTEM ANALYSIS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502920" y="5029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  Proposed System — Functionality</a:t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502920" y="1188720"/>
            <a:ext cx="1554480" cy="41148"/>
          </a:xfrm>
          <a:prstGeom prst="roundRect">
            <a:avLst>
              <a:gd fmla="val 50000" name="adj"/>
            </a:avLst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THREATLENS  ·  THREAT DETECTION &amp; URL SCANNER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07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502920" y="1371600"/>
            <a:ext cx="11183112" cy="502920"/>
          </a:xfrm>
          <a:prstGeom prst="roundRect">
            <a:avLst>
              <a:gd fmla="val 14000" name="adj"/>
            </a:avLst>
          </a:prstGeom>
          <a:solidFill>
            <a:srgbClr val="0E2A38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822960" y="1472184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Overview:  </a:t>
            </a:r>
            <a:r>
              <a:rPr b="0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full-stack threat-detection platform — FastAPI backend, five-stage scan pipeline, phishing engine, per-user history &amp; watchlist, web dashboard and browser extension.</a:t>
            </a: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502920" y="2057400"/>
            <a:ext cx="3566160" cy="1298448"/>
          </a:xfrm>
          <a:prstGeom prst="roundRect">
            <a:avLst>
              <a:gd fmla="val 9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667512" y="2176272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UNIFIED SCORING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667512" y="2496312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Transparent 0–100 score, every deduction itemized &amp; readable.</a:t>
            </a:r>
            <a:endParaRPr/>
          </a:p>
        </p:txBody>
      </p:sp>
      <p:sp>
        <p:nvSpPr>
          <p:cNvPr id="190" name="Google Shape;190;p18"/>
          <p:cNvSpPr/>
          <p:nvPr/>
        </p:nvSpPr>
        <p:spPr>
          <a:xfrm>
            <a:off x="4306824" y="2057400"/>
            <a:ext cx="3566160" cy="1298448"/>
          </a:xfrm>
          <a:prstGeom prst="roundRect">
            <a:avLst>
              <a:gd fmla="val 9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4471416" y="2176272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URL SCAN PIPELINE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4471416" y="2496312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Parse → heuristics → metadata → intel → score (async, parallel).</a:t>
            </a:r>
            <a:endParaRPr/>
          </a:p>
        </p:txBody>
      </p:sp>
      <p:sp>
        <p:nvSpPr>
          <p:cNvPr id="193" name="Google Shape;193;p18"/>
          <p:cNvSpPr/>
          <p:nvPr/>
        </p:nvSpPr>
        <p:spPr>
          <a:xfrm>
            <a:off x="8110728" y="2057400"/>
            <a:ext cx="3566160" cy="1298448"/>
          </a:xfrm>
          <a:prstGeom prst="roundRect">
            <a:avLst>
              <a:gd fmla="val 9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 txBox="1"/>
          <p:nvPr/>
        </p:nvSpPr>
        <p:spPr>
          <a:xfrm>
            <a:off x="8275320" y="2176272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PHISHING LAB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8275320" y="2496312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Email/SMS/text analysis, header checks, sender check, link inspection.</a:t>
            </a:r>
            <a:endParaRPr/>
          </a:p>
        </p:txBody>
      </p:sp>
      <p:sp>
        <p:nvSpPr>
          <p:cNvPr id="196" name="Google Shape;196;p18"/>
          <p:cNvSpPr/>
          <p:nvPr/>
        </p:nvSpPr>
        <p:spPr>
          <a:xfrm>
            <a:off x="502920" y="3502152"/>
            <a:ext cx="3566160" cy="1298448"/>
          </a:xfrm>
          <a:prstGeom prst="roundRect">
            <a:avLst>
              <a:gd fmla="val 9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667512" y="3621024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HISTORY &amp; REPORTS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667512" y="3941064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Persisted scans, filters, stats, full activity report (CSV/JSON/HTML).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4306824" y="3502152"/>
            <a:ext cx="3566160" cy="1298448"/>
          </a:xfrm>
          <a:prstGeom prst="roundRect">
            <a:avLst>
              <a:gd fmla="val 9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4471416" y="3621024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WATCHLIST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4471416" y="3941064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Save senders / domains / URLs; auto-alert on new matches.</a:t>
            </a:r>
            <a:endParaRPr/>
          </a:p>
        </p:txBody>
      </p:sp>
      <p:sp>
        <p:nvSpPr>
          <p:cNvPr id="202" name="Google Shape;202;p18"/>
          <p:cNvSpPr/>
          <p:nvPr/>
        </p:nvSpPr>
        <p:spPr>
          <a:xfrm>
            <a:off x="8110728" y="3502152"/>
            <a:ext cx="3566160" cy="1298448"/>
          </a:xfrm>
          <a:prstGeom prst="roundRect">
            <a:avLst>
              <a:gd fmla="val 9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 txBox="1"/>
          <p:nvPr/>
        </p:nvSpPr>
        <p:spPr>
          <a:xfrm>
            <a:off x="8275320" y="3621024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THREAT INTELLIGENCE</a:t>
            </a:r>
            <a:endParaRPr/>
          </a:p>
        </p:txBody>
      </p:sp>
      <p:sp>
        <p:nvSpPr>
          <p:cNvPr id="204" name="Google Shape;204;p18"/>
          <p:cNvSpPr txBox="1"/>
          <p:nvPr/>
        </p:nvSpPr>
        <p:spPr>
          <a:xfrm>
            <a:off x="8275320" y="3941064"/>
            <a:ext cx="323697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VirusTotal, Safe Browsing, PhishTank — optional, degrade gracefully.</a:t>
            </a:r>
            <a:endParaRPr/>
          </a:p>
        </p:txBody>
      </p:sp>
      <p:sp>
        <p:nvSpPr>
          <p:cNvPr id="205" name="Google Shape;205;p18"/>
          <p:cNvSpPr/>
          <p:nvPr/>
        </p:nvSpPr>
        <p:spPr>
          <a:xfrm>
            <a:off x="975207" y="5212080"/>
            <a:ext cx="1828800" cy="777240"/>
          </a:xfrm>
          <a:prstGeom prst="roundRect">
            <a:avLst>
              <a:gd fmla="val 10000" name="adj"/>
            </a:avLst>
          </a:prstGeom>
          <a:solidFill>
            <a:srgbClr val="111B2F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/>
          <p:nvPr/>
        </p:nvSpPr>
        <p:spPr>
          <a:xfrm>
            <a:off x="975207" y="5394960"/>
            <a:ext cx="36576" cy="4114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 txBox="1"/>
          <p:nvPr/>
        </p:nvSpPr>
        <p:spPr>
          <a:xfrm>
            <a:off x="1103223" y="5294376"/>
            <a:ext cx="15727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1 · PARSE</a:t>
            </a: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1103223" y="5623560"/>
            <a:ext cx="1572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tldextract</a:t>
            </a:r>
            <a:endParaRPr/>
          </a:p>
        </p:txBody>
      </p:sp>
      <p:sp>
        <p:nvSpPr>
          <p:cNvPr id="209" name="Google Shape;209;p18"/>
          <p:cNvSpPr/>
          <p:nvPr/>
        </p:nvSpPr>
        <p:spPr>
          <a:xfrm>
            <a:off x="2822295" y="5458968"/>
            <a:ext cx="237744" cy="274320"/>
          </a:xfrm>
          <a:prstGeom prst="chevron">
            <a:avLst>
              <a:gd fmla="val 50000" name="adj"/>
            </a:avLst>
          </a:prstGeom>
          <a:solidFill>
            <a:srgbClr val="0E74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"/>
          <p:cNvSpPr/>
          <p:nvPr/>
        </p:nvSpPr>
        <p:spPr>
          <a:xfrm>
            <a:off x="3078327" y="5212080"/>
            <a:ext cx="1828800" cy="777240"/>
          </a:xfrm>
          <a:prstGeom prst="roundRect">
            <a:avLst>
              <a:gd fmla="val 10000" name="adj"/>
            </a:avLst>
          </a:prstGeom>
          <a:solidFill>
            <a:srgbClr val="111B2F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8"/>
          <p:cNvSpPr/>
          <p:nvPr/>
        </p:nvSpPr>
        <p:spPr>
          <a:xfrm>
            <a:off x="3078327" y="5394960"/>
            <a:ext cx="36576" cy="4114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 txBox="1"/>
          <p:nvPr/>
        </p:nvSpPr>
        <p:spPr>
          <a:xfrm>
            <a:off x="3206343" y="5294376"/>
            <a:ext cx="15727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2 · HEURISTICS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3206343" y="5623560"/>
            <a:ext cx="1572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typosquat · entropy</a:t>
            </a:r>
            <a:endParaRPr/>
          </a:p>
        </p:txBody>
      </p:sp>
      <p:sp>
        <p:nvSpPr>
          <p:cNvPr id="214" name="Google Shape;214;p18"/>
          <p:cNvSpPr/>
          <p:nvPr/>
        </p:nvSpPr>
        <p:spPr>
          <a:xfrm>
            <a:off x="4925415" y="5458968"/>
            <a:ext cx="237744" cy="274320"/>
          </a:xfrm>
          <a:prstGeom prst="chevron">
            <a:avLst>
              <a:gd fmla="val 50000" name="adj"/>
            </a:avLst>
          </a:prstGeom>
          <a:solidFill>
            <a:srgbClr val="0E74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8"/>
          <p:cNvSpPr/>
          <p:nvPr/>
        </p:nvSpPr>
        <p:spPr>
          <a:xfrm>
            <a:off x="5181447" y="5212080"/>
            <a:ext cx="1828800" cy="777240"/>
          </a:xfrm>
          <a:prstGeom prst="roundRect">
            <a:avLst>
              <a:gd fmla="val 10000" name="adj"/>
            </a:avLst>
          </a:prstGeom>
          <a:solidFill>
            <a:srgbClr val="111B2F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8"/>
          <p:cNvSpPr/>
          <p:nvPr/>
        </p:nvSpPr>
        <p:spPr>
          <a:xfrm>
            <a:off x="5181447" y="5394960"/>
            <a:ext cx="36576" cy="4114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8"/>
          <p:cNvSpPr txBox="1"/>
          <p:nvPr/>
        </p:nvSpPr>
        <p:spPr>
          <a:xfrm>
            <a:off x="5309463" y="5294376"/>
            <a:ext cx="15727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3 · METADATA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5309463" y="5623560"/>
            <a:ext cx="1572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WHOIS·SSL·HTTP</a:t>
            </a: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7028535" y="5458968"/>
            <a:ext cx="237744" cy="274320"/>
          </a:xfrm>
          <a:prstGeom prst="chevron">
            <a:avLst>
              <a:gd fmla="val 50000" name="adj"/>
            </a:avLst>
          </a:prstGeom>
          <a:solidFill>
            <a:srgbClr val="0E74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8"/>
          <p:cNvSpPr/>
          <p:nvPr/>
        </p:nvSpPr>
        <p:spPr>
          <a:xfrm>
            <a:off x="7284567" y="5212080"/>
            <a:ext cx="1828800" cy="777240"/>
          </a:xfrm>
          <a:prstGeom prst="roundRect">
            <a:avLst>
              <a:gd fmla="val 10000" name="adj"/>
            </a:avLst>
          </a:prstGeom>
          <a:solidFill>
            <a:srgbClr val="111B2F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8"/>
          <p:cNvSpPr/>
          <p:nvPr/>
        </p:nvSpPr>
        <p:spPr>
          <a:xfrm>
            <a:off x="7284567" y="5394960"/>
            <a:ext cx="36576" cy="4114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 txBox="1"/>
          <p:nvPr/>
        </p:nvSpPr>
        <p:spPr>
          <a:xfrm>
            <a:off x="7412583" y="5294376"/>
            <a:ext cx="15727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4 · THREAT INTEL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7412583" y="5623560"/>
            <a:ext cx="1572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VT·GSB·PhishTank</a:t>
            </a:r>
            <a:endParaRPr/>
          </a:p>
        </p:txBody>
      </p:sp>
      <p:sp>
        <p:nvSpPr>
          <p:cNvPr id="224" name="Google Shape;224;p18"/>
          <p:cNvSpPr/>
          <p:nvPr/>
        </p:nvSpPr>
        <p:spPr>
          <a:xfrm>
            <a:off x="9131655" y="5458968"/>
            <a:ext cx="237744" cy="274320"/>
          </a:xfrm>
          <a:prstGeom prst="chevron">
            <a:avLst>
              <a:gd fmla="val 50000" name="adj"/>
            </a:avLst>
          </a:prstGeom>
          <a:solidFill>
            <a:srgbClr val="0E749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8"/>
          <p:cNvSpPr/>
          <p:nvPr/>
        </p:nvSpPr>
        <p:spPr>
          <a:xfrm>
            <a:off x="9387687" y="5212080"/>
            <a:ext cx="1828800" cy="777240"/>
          </a:xfrm>
          <a:prstGeom prst="roundRect">
            <a:avLst>
              <a:gd fmla="val 10000" name="adj"/>
            </a:avLst>
          </a:prstGeom>
          <a:solidFill>
            <a:srgbClr val="111B2F"/>
          </a:solidFill>
          <a:ln cap="flat" cmpd="sng" w="12700">
            <a:solidFill>
              <a:srgbClr val="0E74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8"/>
          <p:cNvSpPr/>
          <p:nvPr/>
        </p:nvSpPr>
        <p:spPr>
          <a:xfrm>
            <a:off x="9387687" y="5394960"/>
            <a:ext cx="36576" cy="4114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9515703" y="5294376"/>
            <a:ext cx="157276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5 · SCORING</a:t>
            </a:r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9515703" y="5623560"/>
            <a:ext cx="15727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0–100 + verdict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sp>
        <p:nvSpPr>
          <p:cNvPr id="230" name="Google Shape;230;p18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 txBox="1"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4 · SYSTEM ANALYSIS</a:t>
            </a:r>
            <a:endParaRPr/>
          </a:p>
        </p:txBody>
      </p:sp>
      <p:sp>
        <p:nvSpPr>
          <p:cNvPr id="237" name="Google Shape;237;p19"/>
          <p:cNvSpPr txBox="1"/>
          <p:nvPr/>
        </p:nvSpPr>
        <p:spPr>
          <a:xfrm>
            <a:off x="502920" y="5029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  Modules &amp; Sub-Modules</a:t>
            </a:r>
            <a:endParaRPr/>
          </a:p>
        </p:txBody>
      </p:sp>
      <p:sp>
        <p:nvSpPr>
          <p:cNvPr id="238" name="Google Shape;238;p19"/>
          <p:cNvSpPr/>
          <p:nvPr/>
        </p:nvSpPr>
        <p:spPr>
          <a:xfrm>
            <a:off x="502920" y="1188720"/>
            <a:ext cx="1554480" cy="41148"/>
          </a:xfrm>
          <a:prstGeom prst="roundRect">
            <a:avLst>
              <a:gd fmla="val 50000" name="adj"/>
            </a:avLst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THREATLENS  ·  THREAT DETECTION &amp; URL SCANNER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/>
          </a:p>
        </p:txBody>
      </p:sp>
      <p:graphicFrame>
        <p:nvGraphicFramePr>
          <p:cNvPr id="241" name="Google Shape;241;p19"/>
          <p:cNvGraphicFramePr/>
          <p:nvPr/>
        </p:nvGraphicFramePr>
        <p:xfrm>
          <a:off x="502920" y="150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{CE00C3AB-38B8-4B3B-9B5A-988E169025F8}</a:tableStyleId>
              </a:tblPr>
              <a:tblGrid>
                <a:gridCol w="3108950"/>
                <a:gridCol w="80741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2D3EE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Module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50" u="none" cap="none" strike="noStrike">
                          <a:solidFill>
                            <a:srgbClr val="22D3EE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Sub-modules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E2A38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Authentication &amp; Users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Register · login/logout · profile · change password · admin roles · rate limiting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URL Scanner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URL parser · heuristics · WHOIS/SSL/HTTP metadata · threat intel · risk scoring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Phishing Analyzer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Content NLP rules · header parser · sender check · link inspector · trends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History &amp; Reporting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Scan history · phishing history · activity report · CSV/JSON/HTML export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Watchlist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Sender / domain / URL indicators · auto-matching inside analyses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Threat Intelligence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Provider status · verdict feed · config-driven optional keys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Bulk Scanner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Up to 25 URLs in parallel · per-URL failure isolation · CSV export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Browser Extension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Popup scan · context menus · score badge · full-report tab · settings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Admin Panel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Global stats · user management · visibility into all users’ scans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223A"/>
                    </a:solidFill>
                  </a:tcPr>
                </a:tc>
              </a:tr>
              <a:tr h="393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Frontend Dashboard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150" u="none" cap="none" strike="noStrike">
                          <a:solidFill>
                            <a:srgbClr val="E2E8F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Scanner · phishing lab · learn · history · intel · profile pages</a:t>
                      </a:r>
                      <a:endParaRPr/>
                    </a:p>
                  </a:txBody>
                  <a:tcPr marT="27425" marB="27425" marR="73150" marL="91450" anchor="ctr">
                    <a:lnL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8223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B2F"/>
                    </a:solidFill>
                  </a:tcPr>
                </a:tc>
              </a:tr>
            </a:tbl>
          </a:graphicData>
        </a:graphic>
      </p:graphicFrame>
      <p:sp>
        <p:nvSpPr>
          <p:cNvPr id="242" name="Google Shape;242;p19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sp>
        <p:nvSpPr>
          <p:cNvPr id="243" name="Google Shape;243;p19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 txBox="1"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5 · TECHNICAL SPECIFICATIONS</a:t>
            </a:r>
            <a:endParaRPr/>
          </a:p>
        </p:txBody>
      </p:sp>
      <p:sp>
        <p:nvSpPr>
          <p:cNvPr id="250" name="Google Shape;250;p20"/>
          <p:cNvSpPr txBox="1"/>
          <p:nvPr/>
        </p:nvSpPr>
        <p:spPr>
          <a:xfrm>
            <a:off x="502920" y="502920"/>
            <a:ext cx="111556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5.1–5.2  Requirements &amp; System Architecture</a:t>
            </a:r>
            <a:endParaRPr/>
          </a:p>
        </p:txBody>
      </p:sp>
      <p:sp>
        <p:nvSpPr>
          <p:cNvPr id="251" name="Google Shape;251;p20"/>
          <p:cNvSpPr/>
          <p:nvPr/>
        </p:nvSpPr>
        <p:spPr>
          <a:xfrm>
            <a:off x="502920" y="1188720"/>
            <a:ext cx="1554480" cy="41148"/>
          </a:xfrm>
          <a:prstGeom prst="roundRect">
            <a:avLst>
              <a:gd fmla="val 50000" name="adj"/>
            </a:avLst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THREATLENS  ·  THREAT DETECTION &amp; URL SCANNER</a:t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</p:txBody>
      </p:sp>
      <p:sp>
        <p:nvSpPr>
          <p:cNvPr id="254" name="Google Shape;254;p20"/>
          <p:cNvSpPr/>
          <p:nvPr/>
        </p:nvSpPr>
        <p:spPr>
          <a:xfrm>
            <a:off x="502920" y="1463040"/>
            <a:ext cx="5486400" cy="2148840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 txBox="1"/>
          <p:nvPr/>
        </p:nvSpPr>
        <p:spPr>
          <a:xfrm>
            <a:off x="777240" y="1664208"/>
            <a:ext cx="4937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HARDWARE / CLIENT</a:t>
            </a:r>
            <a:endParaRPr/>
          </a:p>
        </p:txBody>
      </p:sp>
      <p:sp>
        <p:nvSpPr>
          <p:cNvPr id="256" name="Google Shape;256;p20"/>
          <p:cNvSpPr txBox="1"/>
          <p:nvPr/>
        </p:nvSpPr>
        <p:spPr>
          <a:xfrm>
            <a:off x="777240" y="2057400"/>
            <a:ext cx="49377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2-core CPU, 4 GB RAM, 1 GB disk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any modern browser; extension on Chrome/Edge/Brave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internet access for WHOIS/SSL/HTTP + intel feeds</a:t>
            </a:r>
            <a:endParaRPr/>
          </a:p>
        </p:txBody>
      </p:sp>
      <p:sp>
        <p:nvSpPr>
          <p:cNvPr id="257" name="Google Shape;257;p20"/>
          <p:cNvSpPr/>
          <p:nvPr/>
        </p:nvSpPr>
        <p:spPr>
          <a:xfrm>
            <a:off x="6263640" y="1463040"/>
            <a:ext cx="5422392" cy="2148840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 txBox="1"/>
          <p:nvPr/>
        </p:nvSpPr>
        <p:spPr>
          <a:xfrm>
            <a:off x="6537960" y="1664208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SOFTWARE / TECHNOLOGY</a:t>
            </a:r>
            <a:endParaRPr/>
          </a:p>
        </p:txBody>
      </p:sp>
      <p:sp>
        <p:nvSpPr>
          <p:cNvPr id="259" name="Google Shape;259;p20"/>
          <p:cNvSpPr txBox="1"/>
          <p:nvPr/>
        </p:nvSpPr>
        <p:spPr>
          <a:xfrm>
            <a:off x="6537960" y="2057400"/>
            <a:ext cx="48920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Backend: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Python 3.11+ · FastAPI · Uvicorn · Pydantic 2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SQLAlchemy 2 ORM · SQLite (Postgres-ready)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Analysis: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tldextract · python-whois · requests</a:t>
            </a:r>
            <a:endParaRPr/>
          </a:p>
          <a:p>
            <a:pPr indent="0" lvl="0" marL="0" marR="0" rtl="0" algn="l">
              <a:lnSpc>
                <a:spcPct val="114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22D3E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▸  </a:t>
            </a:r>
            <a:r>
              <a:rPr b="1" i="0" lang="en-US" sz="1150">
                <a:solidFill>
                  <a:srgbClr val="E2E8F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Frontend: </a:t>
            </a:r>
            <a:r>
              <a:rPr b="0" i="0" lang="en-US" sz="11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HTML5 · CSS3 · vanilla JS · Git &amp; GitHub</a:t>
            </a:r>
            <a:endParaRPr/>
          </a:p>
        </p:txBody>
      </p:sp>
      <p:sp>
        <p:nvSpPr>
          <p:cNvPr id="260" name="Google Shape;260;p20"/>
          <p:cNvSpPr/>
          <p:nvPr/>
        </p:nvSpPr>
        <p:spPr>
          <a:xfrm>
            <a:off x="502920" y="3794760"/>
            <a:ext cx="11183112" cy="2377440"/>
          </a:xfrm>
          <a:prstGeom prst="roundRect">
            <a:avLst>
              <a:gd fmla="val 7000" name="adj"/>
            </a:avLst>
          </a:prstGeom>
          <a:solidFill>
            <a:srgbClr val="111B2F"/>
          </a:solidFill>
          <a:ln cap="flat" cmpd="sng" w="12700">
            <a:solidFill>
              <a:srgbClr val="2031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 txBox="1"/>
          <p:nvPr/>
        </p:nvSpPr>
        <p:spPr>
          <a:xfrm>
            <a:off x="777240" y="3995928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LAYERED ARCHITECTURE</a:t>
            </a:r>
            <a:endParaRPr/>
          </a:p>
        </p:txBody>
      </p:sp>
      <p:sp>
        <p:nvSpPr>
          <p:cNvPr id="262" name="Google Shape;262;p20"/>
          <p:cNvSpPr/>
          <p:nvPr/>
        </p:nvSpPr>
        <p:spPr>
          <a:xfrm>
            <a:off x="777240" y="4370832"/>
            <a:ext cx="10607040" cy="310896"/>
          </a:xfrm>
          <a:prstGeom prst="roundRect">
            <a:avLst>
              <a:gd fmla="val 14000" name="adj"/>
            </a:avLst>
          </a:prstGeom>
          <a:solidFill>
            <a:srgbClr val="16223A"/>
          </a:solidFill>
          <a:ln cap="flat" cmpd="sng" w="12700">
            <a:solidFill>
              <a:srgbClr val="1822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0"/>
          <p:cNvSpPr txBox="1"/>
          <p:nvPr/>
        </p:nvSpPr>
        <p:spPr>
          <a:xfrm>
            <a:off x="960120" y="4421124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CLIENT</a:t>
            </a:r>
            <a:endParaRPr/>
          </a:p>
        </p:txBody>
      </p:sp>
      <p:sp>
        <p:nvSpPr>
          <p:cNvPr id="264" name="Google Shape;264;p20"/>
          <p:cNvSpPr txBox="1"/>
          <p:nvPr/>
        </p:nvSpPr>
        <p:spPr>
          <a:xfrm>
            <a:off x="2468880" y="4421124"/>
            <a:ext cx="8686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Web dashboard (HTML/CSS/JS) · Chrome extension · REST clients</a:t>
            </a:r>
            <a:endParaRPr/>
          </a:p>
        </p:txBody>
      </p:sp>
      <p:sp>
        <p:nvSpPr>
          <p:cNvPr id="265" name="Google Shape;265;p20"/>
          <p:cNvSpPr/>
          <p:nvPr/>
        </p:nvSpPr>
        <p:spPr>
          <a:xfrm>
            <a:off x="777240" y="4727448"/>
            <a:ext cx="10607040" cy="310896"/>
          </a:xfrm>
          <a:prstGeom prst="roundRect">
            <a:avLst>
              <a:gd fmla="val 14000" name="adj"/>
            </a:avLst>
          </a:prstGeom>
          <a:solidFill>
            <a:srgbClr val="16223A"/>
          </a:solidFill>
          <a:ln cap="flat" cmpd="sng" w="12700">
            <a:solidFill>
              <a:srgbClr val="1822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960120" y="477774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API</a:t>
            </a:r>
            <a:endParaRPr/>
          </a:p>
        </p:txBody>
      </p:sp>
      <p:sp>
        <p:nvSpPr>
          <p:cNvPr id="267" name="Google Shape;267;p20"/>
          <p:cNvSpPr txBox="1"/>
          <p:nvPr/>
        </p:nvSpPr>
        <p:spPr>
          <a:xfrm>
            <a:off x="2468880" y="4777740"/>
            <a:ext cx="8686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FastAPI (async) — auth, scanner, phishing, tools, history, intel, admin</a:t>
            </a:r>
            <a:endParaRPr/>
          </a:p>
        </p:txBody>
      </p:sp>
      <p:sp>
        <p:nvSpPr>
          <p:cNvPr id="268" name="Google Shape;268;p20"/>
          <p:cNvSpPr/>
          <p:nvPr/>
        </p:nvSpPr>
        <p:spPr>
          <a:xfrm>
            <a:off x="777240" y="5084064"/>
            <a:ext cx="10607040" cy="310896"/>
          </a:xfrm>
          <a:prstGeom prst="roundRect">
            <a:avLst>
              <a:gd fmla="val 14000" name="adj"/>
            </a:avLst>
          </a:prstGeom>
          <a:solidFill>
            <a:srgbClr val="16223A"/>
          </a:solidFill>
          <a:ln cap="flat" cmpd="sng" w="12700">
            <a:solidFill>
              <a:srgbClr val="1822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960120" y="5134355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SERVICES</a:t>
            </a:r>
            <a:endParaRPr/>
          </a:p>
        </p:txBody>
      </p:sp>
      <p:sp>
        <p:nvSpPr>
          <p:cNvPr id="270" name="Google Shape;270;p20"/>
          <p:cNvSpPr txBox="1"/>
          <p:nvPr/>
        </p:nvSpPr>
        <p:spPr>
          <a:xfrm>
            <a:off x="2468880" y="5134355"/>
            <a:ext cx="8686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url_parser · heuristics · metadata · threat_intel · phishing_analyzer · risk_scoring</a:t>
            </a: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777240" y="5440679"/>
            <a:ext cx="10607040" cy="310896"/>
          </a:xfrm>
          <a:prstGeom prst="roundRect">
            <a:avLst>
              <a:gd fmla="val 14000" name="adj"/>
            </a:avLst>
          </a:prstGeom>
          <a:solidFill>
            <a:srgbClr val="16223A"/>
          </a:solidFill>
          <a:ln cap="flat" cmpd="sng" w="12700">
            <a:solidFill>
              <a:srgbClr val="1822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 txBox="1"/>
          <p:nvPr/>
        </p:nvSpPr>
        <p:spPr>
          <a:xfrm>
            <a:off x="960120" y="5490971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DATA</a:t>
            </a:r>
            <a:endParaRPr/>
          </a:p>
        </p:txBody>
      </p:sp>
      <p:sp>
        <p:nvSpPr>
          <p:cNvPr id="273" name="Google Shape;273;p20"/>
          <p:cNvSpPr txBox="1"/>
          <p:nvPr/>
        </p:nvSpPr>
        <p:spPr>
          <a:xfrm>
            <a:off x="2468880" y="5490971"/>
            <a:ext cx="8686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SQLite via SQLAlchemy — users, tokens, scans, analyses, watchlist</a:t>
            </a:r>
            <a:endParaRPr/>
          </a:p>
        </p:txBody>
      </p:sp>
      <p:sp>
        <p:nvSpPr>
          <p:cNvPr id="274" name="Google Shape;274;p20"/>
          <p:cNvSpPr/>
          <p:nvPr/>
        </p:nvSpPr>
        <p:spPr>
          <a:xfrm>
            <a:off x="777240" y="5797295"/>
            <a:ext cx="10607040" cy="310896"/>
          </a:xfrm>
          <a:prstGeom prst="roundRect">
            <a:avLst>
              <a:gd fmla="val 14000" name="adj"/>
            </a:avLst>
          </a:prstGeom>
          <a:solidFill>
            <a:srgbClr val="16223A"/>
          </a:solidFill>
          <a:ln cap="flat" cmpd="sng" w="12700">
            <a:solidFill>
              <a:srgbClr val="1822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960120" y="5847587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>
                <a:solidFill>
                  <a:srgbClr val="22D3EE"/>
                </a:solidFill>
                <a:latin typeface="Consolas"/>
                <a:ea typeface="Consolas"/>
                <a:cs typeface="Consolas"/>
                <a:sym typeface="Consolas"/>
              </a:rPr>
              <a:t>EXTERNAL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2468880" y="5847587"/>
            <a:ext cx="8686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WHOIS · SSL · HTTP · VirusTotal · Google Safe Browsing · PhishTank (optional)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1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6 · SYSTEM DESIGN</a:t>
            </a:r>
            <a:endParaRPr/>
          </a:p>
        </p:txBody>
      </p:sp>
      <p:sp>
        <p:nvSpPr>
          <p:cNvPr id="284" name="Google Shape;284;p21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6.1 System Architecture Overview</a:t>
            </a:r>
            <a:endParaRPr/>
          </a:p>
        </p:txBody>
      </p:sp>
      <p:sp>
        <p:nvSpPr>
          <p:cNvPr id="285" name="Google Shape;285;p21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286" name="Google Shape;286;p21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1"/>
          <p:cNvSpPr txBox="1"/>
          <p:nvPr/>
        </p:nvSpPr>
        <p:spPr>
          <a:xfrm>
            <a:off x="566928" y="877824"/>
            <a:ext cx="1097280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8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is built as a three-part platform: web dashboard, FastAPI backend, and Chrome extension, backed by SQLite and optional external threat-intelligence providers.</a:t>
            </a:r>
            <a:endParaRPr/>
          </a:p>
        </p:txBody>
      </p:sp>
      <p:sp>
        <p:nvSpPr>
          <p:cNvPr id="288" name="Google Shape;288;p21"/>
          <p:cNvSpPr/>
          <p:nvPr/>
        </p:nvSpPr>
        <p:spPr>
          <a:xfrm>
            <a:off x="594360" y="1481328"/>
            <a:ext cx="10972800" cy="1097280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1"/>
          <p:cNvSpPr/>
          <p:nvPr/>
        </p:nvSpPr>
        <p:spPr>
          <a:xfrm>
            <a:off x="868680" y="1700784"/>
            <a:ext cx="2606040" cy="60350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1"/>
          <p:cNvSpPr txBox="1"/>
          <p:nvPr/>
        </p:nvSpPr>
        <p:spPr>
          <a:xfrm>
            <a:off x="941832" y="1801368"/>
            <a:ext cx="2459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WEB DASHBOARD</a:t>
            </a:r>
            <a:endParaRPr/>
          </a:p>
        </p:txBody>
      </p:sp>
      <p:sp>
        <p:nvSpPr>
          <p:cNvPr id="291" name="Google Shape;291;p21"/>
          <p:cNvSpPr txBox="1"/>
          <p:nvPr/>
        </p:nvSpPr>
        <p:spPr>
          <a:xfrm>
            <a:off x="941832" y="2093976"/>
            <a:ext cx="24597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HTML5 · CSS3 · Vanilla JS</a:t>
            </a:r>
            <a:endParaRPr/>
          </a:p>
        </p:txBody>
      </p:sp>
      <p:sp>
        <p:nvSpPr>
          <p:cNvPr id="292" name="Google Shape;292;p21"/>
          <p:cNvSpPr/>
          <p:nvPr/>
        </p:nvSpPr>
        <p:spPr>
          <a:xfrm>
            <a:off x="3749039" y="1700784"/>
            <a:ext cx="2606040" cy="60350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1"/>
          <p:cNvSpPr txBox="1"/>
          <p:nvPr/>
        </p:nvSpPr>
        <p:spPr>
          <a:xfrm>
            <a:off x="3822191" y="1801368"/>
            <a:ext cx="2459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FASTAPI BACKEND</a:t>
            </a:r>
            <a:endParaRPr/>
          </a:p>
        </p:txBody>
      </p:sp>
      <p:sp>
        <p:nvSpPr>
          <p:cNvPr id="294" name="Google Shape;294;p21"/>
          <p:cNvSpPr txBox="1"/>
          <p:nvPr/>
        </p:nvSpPr>
        <p:spPr>
          <a:xfrm>
            <a:off x="3822191" y="2093976"/>
            <a:ext cx="24597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Auth · Scan · Phishing · Admin · REST API</a:t>
            </a:r>
            <a:endParaRPr/>
          </a:p>
        </p:txBody>
      </p:sp>
      <p:sp>
        <p:nvSpPr>
          <p:cNvPr id="295" name="Google Shape;295;p21"/>
          <p:cNvSpPr/>
          <p:nvPr/>
        </p:nvSpPr>
        <p:spPr>
          <a:xfrm>
            <a:off x="6629400" y="1700784"/>
            <a:ext cx="2606040" cy="60350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23D2C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1"/>
          <p:cNvSpPr txBox="1"/>
          <p:nvPr/>
        </p:nvSpPr>
        <p:spPr>
          <a:xfrm>
            <a:off x="6702552" y="1801368"/>
            <a:ext cx="24597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CHROME EXTENSION</a:t>
            </a:r>
            <a:endParaRPr/>
          </a:p>
        </p:txBody>
      </p:sp>
      <p:sp>
        <p:nvSpPr>
          <p:cNvPr id="297" name="Google Shape;297;p21"/>
          <p:cNvSpPr txBox="1"/>
          <p:nvPr/>
        </p:nvSpPr>
        <p:spPr>
          <a:xfrm>
            <a:off x="6702552" y="2093976"/>
            <a:ext cx="24597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Manifest V3 · Popup · Context menu</a:t>
            </a:r>
            <a:endParaRPr/>
          </a:p>
        </p:txBody>
      </p:sp>
      <p:sp>
        <p:nvSpPr>
          <p:cNvPr id="298" name="Google Shape;298;p21"/>
          <p:cNvSpPr/>
          <p:nvPr/>
        </p:nvSpPr>
        <p:spPr>
          <a:xfrm>
            <a:off x="9509760" y="1700784"/>
            <a:ext cx="1691640" cy="60350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EFB4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 txBox="1"/>
          <p:nvPr/>
        </p:nvSpPr>
        <p:spPr>
          <a:xfrm>
            <a:off x="9582912" y="1801368"/>
            <a:ext cx="154533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REST CLIENTS</a:t>
            </a:r>
            <a:endParaRPr/>
          </a:p>
        </p:txBody>
      </p:sp>
      <p:sp>
        <p:nvSpPr>
          <p:cNvPr id="300" name="Google Shape;300;p21"/>
          <p:cNvSpPr txBox="1"/>
          <p:nvPr/>
        </p:nvSpPr>
        <p:spPr>
          <a:xfrm>
            <a:off x="9582912" y="2093976"/>
            <a:ext cx="1545336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API consumers</a:t>
            </a:r>
            <a:endParaRPr/>
          </a:p>
        </p:txBody>
      </p:sp>
      <p:cxnSp>
        <p:nvCxnSpPr>
          <p:cNvPr id="301" name="Google Shape;301;p21"/>
          <p:cNvCxnSpPr/>
          <p:nvPr/>
        </p:nvCxnSpPr>
        <p:spPr>
          <a:xfrm>
            <a:off x="3493008" y="2002536"/>
            <a:ext cx="256031" cy="0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02" name="Google Shape;302;p21"/>
          <p:cNvCxnSpPr/>
          <p:nvPr/>
        </p:nvCxnSpPr>
        <p:spPr>
          <a:xfrm>
            <a:off x="6373368" y="2002536"/>
            <a:ext cx="256032" cy="0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03" name="Google Shape;303;p21"/>
          <p:cNvSpPr/>
          <p:nvPr/>
        </p:nvSpPr>
        <p:spPr>
          <a:xfrm>
            <a:off x="868680" y="2907792"/>
            <a:ext cx="10332720" cy="667512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1"/>
          <p:cNvSpPr txBox="1"/>
          <p:nvPr/>
        </p:nvSpPr>
        <p:spPr>
          <a:xfrm>
            <a:off x="941832" y="3008376"/>
            <a:ext cx="1018641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BUSINESS SERVICES</a:t>
            </a:r>
            <a:endParaRPr/>
          </a:p>
        </p:txBody>
      </p:sp>
      <p:sp>
        <p:nvSpPr>
          <p:cNvPr id="305" name="Google Shape;305;p21"/>
          <p:cNvSpPr txBox="1"/>
          <p:nvPr/>
        </p:nvSpPr>
        <p:spPr>
          <a:xfrm>
            <a:off x="941832" y="3300984"/>
            <a:ext cx="10186416" cy="2103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url_parser · heuristics · metadata · threat_intel · phishing_analyzer · risk_scoring · watchlist · security</a:t>
            </a:r>
            <a:endParaRPr/>
          </a:p>
        </p:txBody>
      </p:sp>
      <p:cxnSp>
        <p:nvCxnSpPr>
          <p:cNvPr id="306" name="Google Shape;306;p21"/>
          <p:cNvCxnSpPr/>
          <p:nvPr/>
        </p:nvCxnSpPr>
        <p:spPr>
          <a:xfrm>
            <a:off x="6035040" y="2578608"/>
            <a:ext cx="0" cy="329184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07" name="Google Shape;307;p21"/>
          <p:cNvSpPr/>
          <p:nvPr/>
        </p:nvSpPr>
        <p:spPr>
          <a:xfrm>
            <a:off x="868680" y="3867912"/>
            <a:ext cx="4846320" cy="74980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1"/>
          <p:cNvSpPr txBox="1"/>
          <p:nvPr/>
        </p:nvSpPr>
        <p:spPr>
          <a:xfrm>
            <a:off x="941832" y="3968496"/>
            <a:ext cx="470001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SQLITE DATABASE</a:t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941832" y="4261104"/>
            <a:ext cx="4700016" cy="2926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SQLAlchemy ORM · users · tokens · scans · analyses · watchlist · audit · API keys · webhooks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>
            <a:off x="5989320" y="3867912"/>
            <a:ext cx="5212080" cy="74980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23D2C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 txBox="1"/>
          <p:nvPr/>
        </p:nvSpPr>
        <p:spPr>
          <a:xfrm>
            <a:off x="6062472" y="3968496"/>
            <a:ext cx="5065776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EXTERNAL THREAT INTELLIGENCE</a:t>
            </a:r>
            <a:endParaRPr/>
          </a:p>
        </p:txBody>
      </p:sp>
      <p:sp>
        <p:nvSpPr>
          <p:cNvPr id="312" name="Google Shape;312;p21"/>
          <p:cNvSpPr txBox="1"/>
          <p:nvPr/>
        </p:nvSpPr>
        <p:spPr>
          <a:xfrm>
            <a:off x="6062472" y="4261104"/>
            <a:ext cx="5065776" cy="2926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VirusTotal · Google Safe Browsing · PhishTank · optional API keys</a:t>
            </a:r>
            <a:endParaRPr/>
          </a:p>
        </p:txBody>
      </p:sp>
      <p:cxnSp>
        <p:nvCxnSpPr>
          <p:cNvPr id="313" name="Google Shape;313;p21"/>
          <p:cNvCxnSpPr/>
          <p:nvPr/>
        </p:nvCxnSpPr>
        <p:spPr>
          <a:xfrm>
            <a:off x="3291840" y="3584448"/>
            <a:ext cx="0" cy="283464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314" name="Google Shape;314;p21"/>
          <p:cNvCxnSpPr/>
          <p:nvPr/>
        </p:nvCxnSpPr>
        <p:spPr>
          <a:xfrm>
            <a:off x="8092440" y="3584448"/>
            <a:ext cx="0" cy="283464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15" name="Google Shape;315;p21"/>
          <p:cNvSpPr txBox="1"/>
          <p:nvPr/>
        </p:nvSpPr>
        <p:spPr>
          <a:xfrm>
            <a:off x="713232" y="498348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2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Design principle: the core pipeline continues to work without paid API keys; external providers enrich the result when configured.</a:t>
            </a:r>
            <a:endParaRPr/>
          </a:p>
        </p:txBody>
      </p:sp>
      <p:sp>
        <p:nvSpPr>
          <p:cNvPr id="316" name="Google Shape;316;p21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317" name="Google Shape;317;p21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318" name="Google Shape;318;p21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6 · SYSTEM DESIGN</a:t>
            </a:r>
            <a:endParaRPr/>
          </a:p>
        </p:txBody>
      </p:sp>
      <p:sp>
        <p:nvSpPr>
          <p:cNvPr id="324" name="Google Shape;324;p22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6.2 URL Scan Pipeline &amp; Risk Scoring</a:t>
            </a:r>
            <a:endParaRPr/>
          </a:p>
        </p:txBody>
      </p:sp>
      <p:sp>
        <p:nvSpPr>
          <p:cNvPr id="325" name="Google Shape;325;p22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326" name="Google Shape;326;p22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2"/>
          <p:cNvSpPr txBox="1"/>
          <p:nvPr/>
        </p:nvSpPr>
        <p:spPr>
          <a:xfrm>
            <a:off x="566928" y="877824"/>
            <a:ext cx="10972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Raw URL → parse → heuristics → metadata → threat intelligence → scoring → persistence → report</a:t>
            </a:r>
            <a:endParaRPr/>
          </a:p>
        </p:txBody>
      </p:sp>
      <p:sp>
        <p:nvSpPr>
          <p:cNvPr id="328" name="Google Shape;328;p22"/>
          <p:cNvSpPr/>
          <p:nvPr/>
        </p:nvSpPr>
        <p:spPr>
          <a:xfrm>
            <a:off x="502920" y="1481328"/>
            <a:ext cx="457200" cy="310896"/>
          </a:xfrm>
          <a:prstGeom prst="roundRect">
            <a:avLst>
              <a:gd fmla="val 16667" name="adj"/>
            </a:avLst>
          </a:prstGeom>
          <a:solidFill>
            <a:srgbClr val="182D46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2"/>
          <p:cNvSpPr txBox="1"/>
          <p:nvPr/>
        </p:nvSpPr>
        <p:spPr>
          <a:xfrm>
            <a:off x="502920" y="15087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3D91E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30" name="Google Shape;330;p22"/>
          <p:cNvSpPr/>
          <p:nvPr/>
        </p:nvSpPr>
        <p:spPr>
          <a:xfrm>
            <a:off x="502920" y="1901952"/>
            <a:ext cx="2057400" cy="1078992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2"/>
          <p:cNvSpPr txBox="1"/>
          <p:nvPr/>
        </p:nvSpPr>
        <p:spPr>
          <a:xfrm>
            <a:off x="576072" y="2002536"/>
            <a:ext cx="191109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PARSE &amp; NORMALIZE</a:t>
            </a:r>
            <a:endParaRPr/>
          </a:p>
        </p:txBody>
      </p:sp>
      <p:sp>
        <p:nvSpPr>
          <p:cNvPr id="332" name="Google Shape;332;p22"/>
          <p:cNvSpPr txBox="1"/>
          <p:nvPr/>
        </p:nvSpPr>
        <p:spPr>
          <a:xfrm>
            <a:off x="576072" y="2295144"/>
            <a:ext cx="191109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scheme · host · port · path · TLD · IP detection</a:t>
            </a:r>
            <a:endParaRPr/>
          </a:p>
        </p:txBody>
      </p:sp>
      <p:cxnSp>
        <p:nvCxnSpPr>
          <p:cNvPr id="333" name="Google Shape;333;p22"/>
          <p:cNvCxnSpPr/>
          <p:nvPr/>
        </p:nvCxnSpPr>
        <p:spPr>
          <a:xfrm>
            <a:off x="2560320" y="2441448"/>
            <a:ext cx="210312" cy="0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34" name="Google Shape;334;p22"/>
          <p:cNvSpPr/>
          <p:nvPr/>
        </p:nvSpPr>
        <p:spPr>
          <a:xfrm>
            <a:off x="2770632" y="1481328"/>
            <a:ext cx="457200" cy="310896"/>
          </a:xfrm>
          <a:prstGeom prst="roundRect">
            <a:avLst>
              <a:gd fmla="val 16667" name="adj"/>
            </a:avLst>
          </a:prstGeom>
          <a:solidFill>
            <a:srgbClr val="182D46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2"/>
          <p:cNvSpPr txBox="1"/>
          <p:nvPr/>
        </p:nvSpPr>
        <p:spPr>
          <a:xfrm>
            <a:off x="2770632" y="15087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36" name="Google Shape;336;p22"/>
          <p:cNvSpPr/>
          <p:nvPr/>
        </p:nvSpPr>
        <p:spPr>
          <a:xfrm>
            <a:off x="2770632" y="1901952"/>
            <a:ext cx="2057400" cy="1078992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2843784" y="2002536"/>
            <a:ext cx="191109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HEURISTICS</a:t>
            </a:r>
            <a:endParaRPr/>
          </a:p>
        </p:txBody>
      </p:sp>
      <p:sp>
        <p:nvSpPr>
          <p:cNvPr id="338" name="Google Shape;338;p22"/>
          <p:cNvSpPr txBox="1"/>
          <p:nvPr/>
        </p:nvSpPr>
        <p:spPr>
          <a:xfrm>
            <a:off x="2843784" y="2295144"/>
            <a:ext cx="191109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typosquat · TLD · entropy · URL structure</a:t>
            </a:r>
            <a:endParaRPr/>
          </a:p>
        </p:txBody>
      </p:sp>
      <p:cxnSp>
        <p:nvCxnSpPr>
          <p:cNvPr id="339" name="Google Shape;339;p22"/>
          <p:cNvCxnSpPr/>
          <p:nvPr/>
        </p:nvCxnSpPr>
        <p:spPr>
          <a:xfrm>
            <a:off x="4828032" y="2441448"/>
            <a:ext cx="210312" cy="0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0" name="Google Shape;340;p22"/>
          <p:cNvSpPr/>
          <p:nvPr/>
        </p:nvSpPr>
        <p:spPr>
          <a:xfrm>
            <a:off x="5038344" y="1481328"/>
            <a:ext cx="457200" cy="310896"/>
          </a:xfrm>
          <a:prstGeom prst="roundRect">
            <a:avLst>
              <a:gd fmla="val 16667" name="adj"/>
            </a:avLst>
          </a:prstGeom>
          <a:solidFill>
            <a:srgbClr val="182D46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2"/>
          <p:cNvSpPr txBox="1"/>
          <p:nvPr/>
        </p:nvSpPr>
        <p:spPr>
          <a:xfrm>
            <a:off x="5038344" y="15087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23D2C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42" name="Google Shape;342;p22"/>
          <p:cNvSpPr/>
          <p:nvPr/>
        </p:nvSpPr>
        <p:spPr>
          <a:xfrm>
            <a:off x="5038344" y="1901952"/>
            <a:ext cx="2057400" cy="1078992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23D2C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2"/>
          <p:cNvSpPr txBox="1"/>
          <p:nvPr/>
        </p:nvSpPr>
        <p:spPr>
          <a:xfrm>
            <a:off x="5111496" y="2002536"/>
            <a:ext cx="191109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METADATA</a:t>
            </a:r>
            <a:endParaRPr/>
          </a:p>
        </p:txBody>
      </p:sp>
      <p:sp>
        <p:nvSpPr>
          <p:cNvPr id="344" name="Google Shape;344;p22"/>
          <p:cNvSpPr txBox="1"/>
          <p:nvPr/>
        </p:nvSpPr>
        <p:spPr>
          <a:xfrm>
            <a:off x="5111496" y="2295144"/>
            <a:ext cx="191109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WHOIS · SSL · HTTP · redirects · SSRF guard</a:t>
            </a:r>
            <a:endParaRPr/>
          </a:p>
        </p:txBody>
      </p:sp>
      <p:cxnSp>
        <p:nvCxnSpPr>
          <p:cNvPr id="345" name="Google Shape;345;p22"/>
          <p:cNvCxnSpPr/>
          <p:nvPr/>
        </p:nvCxnSpPr>
        <p:spPr>
          <a:xfrm>
            <a:off x="7095744" y="2441448"/>
            <a:ext cx="210312" cy="0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6" name="Google Shape;346;p22"/>
          <p:cNvSpPr/>
          <p:nvPr/>
        </p:nvSpPr>
        <p:spPr>
          <a:xfrm>
            <a:off x="7306055" y="1481328"/>
            <a:ext cx="457200" cy="310896"/>
          </a:xfrm>
          <a:prstGeom prst="roundRect">
            <a:avLst>
              <a:gd fmla="val 16667" name="adj"/>
            </a:avLst>
          </a:prstGeom>
          <a:solidFill>
            <a:srgbClr val="182D46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2"/>
          <p:cNvSpPr txBox="1"/>
          <p:nvPr/>
        </p:nvSpPr>
        <p:spPr>
          <a:xfrm>
            <a:off x="7306055" y="15087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EFB45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48" name="Google Shape;348;p22"/>
          <p:cNvSpPr/>
          <p:nvPr/>
        </p:nvSpPr>
        <p:spPr>
          <a:xfrm>
            <a:off x="7306055" y="1901952"/>
            <a:ext cx="2057400" cy="1078992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EFB4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2"/>
          <p:cNvSpPr txBox="1"/>
          <p:nvPr/>
        </p:nvSpPr>
        <p:spPr>
          <a:xfrm>
            <a:off x="7379207" y="2002536"/>
            <a:ext cx="191109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THREAT INTEL</a:t>
            </a:r>
            <a:endParaRPr/>
          </a:p>
        </p:txBody>
      </p:sp>
      <p:sp>
        <p:nvSpPr>
          <p:cNvPr id="350" name="Google Shape;350;p22"/>
          <p:cNvSpPr txBox="1"/>
          <p:nvPr/>
        </p:nvSpPr>
        <p:spPr>
          <a:xfrm>
            <a:off x="7379207" y="2295144"/>
            <a:ext cx="191109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VirusTotal · GSB · PhishTank (optional)</a:t>
            </a:r>
            <a:endParaRPr/>
          </a:p>
        </p:txBody>
      </p:sp>
      <p:cxnSp>
        <p:nvCxnSpPr>
          <p:cNvPr id="351" name="Google Shape;351;p22"/>
          <p:cNvCxnSpPr/>
          <p:nvPr/>
        </p:nvCxnSpPr>
        <p:spPr>
          <a:xfrm>
            <a:off x="9363455" y="2441448"/>
            <a:ext cx="210312" cy="0"/>
          </a:xfrm>
          <a:prstGeom prst="straightConnector1">
            <a:avLst/>
          </a:prstGeom>
          <a:noFill/>
          <a:ln cap="flat" cmpd="sng" w="190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52" name="Google Shape;352;p22"/>
          <p:cNvSpPr/>
          <p:nvPr/>
        </p:nvSpPr>
        <p:spPr>
          <a:xfrm>
            <a:off x="9573768" y="1481328"/>
            <a:ext cx="457200" cy="310896"/>
          </a:xfrm>
          <a:prstGeom prst="roundRect">
            <a:avLst>
              <a:gd fmla="val 16667" name="adj"/>
            </a:avLst>
          </a:prstGeom>
          <a:solidFill>
            <a:srgbClr val="182D46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2"/>
          <p:cNvSpPr txBox="1"/>
          <p:nvPr/>
        </p:nvSpPr>
        <p:spPr>
          <a:xfrm>
            <a:off x="9573768" y="15087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E6646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354" name="Google Shape;354;p22"/>
          <p:cNvSpPr/>
          <p:nvPr/>
        </p:nvSpPr>
        <p:spPr>
          <a:xfrm>
            <a:off x="9573768" y="1901952"/>
            <a:ext cx="2057400" cy="1078992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E664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2"/>
          <p:cNvSpPr txBox="1"/>
          <p:nvPr/>
        </p:nvSpPr>
        <p:spPr>
          <a:xfrm>
            <a:off x="9646920" y="2002536"/>
            <a:ext cx="1911095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RISK SCORING</a:t>
            </a:r>
            <a:endParaRPr/>
          </a:p>
        </p:txBody>
      </p:sp>
      <p:sp>
        <p:nvSpPr>
          <p:cNvPr id="356" name="Google Shape;356;p22"/>
          <p:cNvSpPr txBox="1"/>
          <p:nvPr/>
        </p:nvSpPr>
        <p:spPr>
          <a:xfrm>
            <a:off x="9646920" y="2295144"/>
            <a:ext cx="191109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1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start 100 · apply findings · clamp 0–100</a:t>
            </a:r>
            <a:endParaRPr/>
          </a:p>
        </p:txBody>
      </p:sp>
      <p:sp>
        <p:nvSpPr>
          <p:cNvPr id="357" name="Google Shape;357;p22"/>
          <p:cNvSpPr/>
          <p:nvPr/>
        </p:nvSpPr>
        <p:spPr>
          <a:xfrm>
            <a:off x="658368" y="3401568"/>
            <a:ext cx="6537960" cy="157276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2"/>
          <p:cNvSpPr txBox="1"/>
          <p:nvPr/>
        </p:nvSpPr>
        <p:spPr>
          <a:xfrm>
            <a:off x="868680" y="3584448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OUTPUT · JSON RISK REPORT</a:t>
            </a:r>
            <a:endParaRPr/>
          </a:p>
        </p:txBody>
      </p:sp>
      <p:sp>
        <p:nvSpPr>
          <p:cNvPr id="359" name="Google Shape;359;p22"/>
          <p:cNvSpPr txBox="1"/>
          <p:nvPr/>
        </p:nvSpPr>
        <p:spPr>
          <a:xfrm>
            <a:off x="868680" y="3941063"/>
            <a:ext cx="6080760" cy="8412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risk_score · verdict · risk_level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findings[] · category_totals{}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metadata{whois, ssl, http} · threat_intel{vt, gsb, pt} · scanned_at</a:t>
            </a:r>
            <a:endParaRPr/>
          </a:p>
        </p:txBody>
      </p:sp>
      <p:sp>
        <p:nvSpPr>
          <p:cNvPr id="360" name="Google Shape;360;p22"/>
          <p:cNvSpPr/>
          <p:nvPr/>
        </p:nvSpPr>
        <p:spPr>
          <a:xfrm>
            <a:off x="7424927" y="3401568"/>
            <a:ext cx="3794760" cy="157276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2"/>
          <p:cNvSpPr txBox="1"/>
          <p:nvPr/>
        </p:nvSpPr>
        <p:spPr>
          <a:xfrm>
            <a:off x="7635240" y="3584448"/>
            <a:ext cx="33832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VERDICT THRESHOLDS</a:t>
            </a:r>
            <a:endParaRPr/>
          </a:p>
        </p:txBody>
      </p:sp>
      <p:sp>
        <p:nvSpPr>
          <p:cNvPr id="362" name="Google Shape;362;p22"/>
          <p:cNvSpPr txBox="1"/>
          <p:nvPr/>
        </p:nvSpPr>
        <p:spPr>
          <a:xfrm>
            <a:off x="7635240" y="3931920"/>
            <a:ext cx="868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68BE77"/>
                </a:solidFill>
                <a:latin typeface="Arial"/>
                <a:ea typeface="Arial"/>
                <a:cs typeface="Arial"/>
                <a:sym typeface="Arial"/>
              </a:rPr>
              <a:t>≥ 85</a:t>
            </a:r>
            <a:endParaRPr/>
          </a:p>
        </p:txBody>
      </p:sp>
      <p:sp>
        <p:nvSpPr>
          <p:cNvPr id="363" name="Google Shape;363;p22"/>
          <p:cNvSpPr txBox="1"/>
          <p:nvPr/>
        </p:nvSpPr>
        <p:spPr>
          <a:xfrm>
            <a:off x="8577072" y="39319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SAFE</a:t>
            </a:r>
            <a:endParaRPr/>
          </a:p>
        </p:txBody>
      </p:sp>
      <p:sp>
        <p:nvSpPr>
          <p:cNvPr id="364" name="Google Shape;364;p22"/>
          <p:cNvSpPr txBox="1"/>
          <p:nvPr/>
        </p:nvSpPr>
        <p:spPr>
          <a:xfrm>
            <a:off x="7635240" y="4160520"/>
            <a:ext cx="868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3D2C1"/>
                </a:solidFill>
                <a:latin typeface="Arial"/>
                <a:ea typeface="Arial"/>
                <a:cs typeface="Arial"/>
                <a:sym typeface="Arial"/>
              </a:rPr>
              <a:t>70–84</a:t>
            </a:r>
            <a:endParaRPr/>
          </a:p>
        </p:txBody>
      </p:sp>
      <p:sp>
        <p:nvSpPr>
          <p:cNvPr id="365" name="Google Shape;365;p22"/>
          <p:cNvSpPr txBox="1"/>
          <p:nvPr/>
        </p:nvSpPr>
        <p:spPr>
          <a:xfrm>
            <a:off x="8577072" y="41605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LOW RISK</a:t>
            </a:r>
            <a:endParaRPr/>
          </a:p>
        </p:txBody>
      </p:sp>
      <p:sp>
        <p:nvSpPr>
          <p:cNvPr id="366" name="Google Shape;366;p22"/>
          <p:cNvSpPr txBox="1"/>
          <p:nvPr/>
        </p:nvSpPr>
        <p:spPr>
          <a:xfrm>
            <a:off x="7635240" y="4389120"/>
            <a:ext cx="868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EFB456"/>
                </a:solidFill>
                <a:latin typeface="Arial"/>
                <a:ea typeface="Arial"/>
                <a:cs typeface="Arial"/>
                <a:sym typeface="Arial"/>
              </a:rPr>
              <a:t>40–69</a:t>
            </a:r>
            <a:endParaRPr/>
          </a:p>
        </p:txBody>
      </p:sp>
      <p:sp>
        <p:nvSpPr>
          <p:cNvPr id="367" name="Google Shape;367;p22"/>
          <p:cNvSpPr txBox="1"/>
          <p:nvPr/>
        </p:nvSpPr>
        <p:spPr>
          <a:xfrm>
            <a:off x="8577072" y="43891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SUSPICIOUS</a:t>
            </a:r>
            <a:endParaRPr/>
          </a:p>
        </p:txBody>
      </p:sp>
      <p:sp>
        <p:nvSpPr>
          <p:cNvPr id="368" name="Google Shape;368;p22"/>
          <p:cNvSpPr txBox="1"/>
          <p:nvPr/>
        </p:nvSpPr>
        <p:spPr>
          <a:xfrm>
            <a:off x="7635240" y="4617720"/>
            <a:ext cx="8686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E66468"/>
                </a:solidFill>
                <a:latin typeface="Arial"/>
                <a:ea typeface="Arial"/>
                <a:cs typeface="Arial"/>
                <a:sym typeface="Arial"/>
              </a:rPr>
              <a:t>&lt; 40</a:t>
            </a:r>
            <a:endParaRPr/>
          </a:p>
        </p:txBody>
      </p:sp>
      <p:sp>
        <p:nvSpPr>
          <p:cNvPr id="369" name="Google Shape;369;p22"/>
          <p:cNvSpPr txBox="1"/>
          <p:nvPr/>
        </p:nvSpPr>
        <p:spPr>
          <a:xfrm>
            <a:off x="8577072" y="46177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DANGEROUS</a:t>
            </a:r>
            <a:endParaRPr/>
          </a:p>
        </p:txBody>
      </p:sp>
      <p:sp>
        <p:nvSpPr>
          <p:cNvPr id="370" name="Google Shape;370;p22"/>
          <p:cNvSpPr txBox="1"/>
          <p:nvPr/>
        </p:nvSpPr>
        <p:spPr>
          <a:xfrm>
            <a:off x="594360" y="5358384"/>
            <a:ext cx="10881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6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Source: System Design PDF, pp. 4 &amp; 17–20. Scoring starts at 100 and each finding contributes additive points before clamping to 0–100.</a:t>
            </a:r>
            <a:endParaRPr/>
          </a:p>
        </p:txBody>
      </p:sp>
      <p:sp>
        <p:nvSpPr>
          <p:cNvPr id="371" name="Google Shape;371;p22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372" name="Google Shape;372;p22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373" name="Google Shape;373;p22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3"/>
          <p:cNvSpPr txBox="1"/>
          <p:nvPr/>
        </p:nvSpPr>
        <p:spPr>
          <a:xfrm>
            <a:off x="502920" y="329184"/>
            <a:ext cx="978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System Architecture</a:t>
            </a:r>
            <a:endParaRPr/>
          </a:p>
        </p:txBody>
      </p:sp>
      <p:sp>
        <p:nvSpPr>
          <p:cNvPr id="379" name="Google Shape;379;p23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380" name="Google Shape;380;p23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3"/>
          <p:cNvSpPr/>
          <p:nvPr/>
        </p:nvSpPr>
        <p:spPr>
          <a:xfrm>
            <a:off x="685800" y="1298450"/>
            <a:ext cx="10378500" cy="5257800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3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383" name="Google Shape;383;p23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384" name="Google Shape;384;p23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pic>
        <p:nvPicPr>
          <p:cNvPr id="385" name="Google Shape;385;p23"/>
          <p:cNvPicPr preferRelativeResize="0"/>
          <p:nvPr/>
        </p:nvPicPr>
        <p:blipFill rotWithShape="1">
          <a:blip r:embed="rId3">
            <a:alphaModFix/>
          </a:blip>
          <a:srcRect b="0" l="0" r="32442" t="0"/>
          <a:stretch/>
        </p:blipFill>
        <p:spPr>
          <a:xfrm>
            <a:off x="2899138" y="1547275"/>
            <a:ext cx="4991775" cy="4908401"/>
          </a:xfrm>
          <a:prstGeom prst="rect">
            <a:avLst/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4"/>
          <p:cNvSpPr txBox="1"/>
          <p:nvPr/>
        </p:nvSpPr>
        <p:spPr>
          <a:xfrm>
            <a:off x="502920" y="329184"/>
            <a:ext cx="978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Router-to-Services</a:t>
            </a:r>
            <a:endParaRPr/>
          </a:p>
        </p:txBody>
      </p:sp>
      <p:sp>
        <p:nvSpPr>
          <p:cNvPr id="391" name="Google Shape;391;p24"/>
          <p:cNvSpPr txBox="1"/>
          <p:nvPr/>
        </p:nvSpPr>
        <p:spPr>
          <a:xfrm>
            <a:off x="11064240" y="164592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392" name="Google Shape;392;p24"/>
          <p:cNvSpPr/>
          <p:nvPr/>
        </p:nvSpPr>
        <p:spPr>
          <a:xfrm>
            <a:off x="0" y="713232"/>
            <a:ext cx="12191700" cy="2280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4"/>
          <p:cNvSpPr/>
          <p:nvPr/>
        </p:nvSpPr>
        <p:spPr>
          <a:xfrm>
            <a:off x="685800" y="1298450"/>
            <a:ext cx="10378500" cy="5257800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4"/>
          <p:cNvSpPr txBox="1"/>
          <p:nvPr/>
        </p:nvSpPr>
        <p:spPr>
          <a:xfrm>
            <a:off x="502920" y="6556248"/>
            <a:ext cx="8686800" cy="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395" name="Google Shape;395;p24"/>
          <p:cNvSpPr txBox="1"/>
          <p:nvPr/>
        </p:nvSpPr>
        <p:spPr>
          <a:xfrm>
            <a:off x="9326880" y="6556248"/>
            <a:ext cx="2057400" cy="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396" name="Google Shape;396;p24"/>
          <p:cNvSpPr txBox="1"/>
          <p:nvPr/>
        </p:nvSpPr>
        <p:spPr>
          <a:xfrm>
            <a:off x="530352" y="6455664"/>
            <a:ext cx="475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pic>
        <p:nvPicPr>
          <p:cNvPr id="397" name="Google Shape;39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8884" y="1692859"/>
            <a:ext cx="7252324" cy="446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5"/>
          <p:cNvSpPr txBox="1"/>
          <p:nvPr/>
        </p:nvSpPr>
        <p:spPr>
          <a:xfrm>
            <a:off x="502920" y="329184"/>
            <a:ext cx="978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URL Scan Pipeline Flow</a:t>
            </a:r>
            <a:endParaRPr/>
          </a:p>
        </p:txBody>
      </p:sp>
      <p:sp>
        <p:nvSpPr>
          <p:cNvPr id="403" name="Google Shape;403;p25"/>
          <p:cNvSpPr txBox="1"/>
          <p:nvPr/>
        </p:nvSpPr>
        <p:spPr>
          <a:xfrm>
            <a:off x="11064240" y="164592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404" name="Google Shape;404;p25"/>
          <p:cNvSpPr/>
          <p:nvPr/>
        </p:nvSpPr>
        <p:spPr>
          <a:xfrm>
            <a:off x="0" y="713232"/>
            <a:ext cx="12191700" cy="2280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5"/>
          <p:cNvSpPr/>
          <p:nvPr/>
        </p:nvSpPr>
        <p:spPr>
          <a:xfrm>
            <a:off x="685800" y="1298450"/>
            <a:ext cx="10378500" cy="5257800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5"/>
          <p:cNvSpPr txBox="1"/>
          <p:nvPr/>
        </p:nvSpPr>
        <p:spPr>
          <a:xfrm>
            <a:off x="502920" y="6556248"/>
            <a:ext cx="8686800" cy="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407" name="Google Shape;407;p25"/>
          <p:cNvSpPr txBox="1"/>
          <p:nvPr/>
        </p:nvSpPr>
        <p:spPr>
          <a:xfrm>
            <a:off x="9326880" y="6556248"/>
            <a:ext cx="2057400" cy="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408" name="Google Shape;408;p25"/>
          <p:cNvSpPr txBox="1"/>
          <p:nvPr/>
        </p:nvSpPr>
        <p:spPr>
          <a:xfrm>
            <a:off x="530352" y="6455664"/>
            <a:ext cx="475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pic>
        <p:nvPicPr>
          <p:cNvPr id="409" name="Google Shape;409;p25"/>
          <p:cNvPicPr preferRelativeResize="0"/>
          <p:nvPr/>
        </p:nvPicPr>
        <p:blipFill rotWithShape="1">
          <a:blip r:embed="rId3">
            <a:alphaModFix/>
          </a:blip>
          <a:srcRect b="0" l="24945" r="27449" t="0"/>
          <a:stretch/>
        </p:blipFill>
        <p:spPr>
          <a:xfrm>
            <a:off x="3497550" y="1494700"/>
            <a:ext cx="4755000" cy="4865300"/>
          </a:xfrm>
          <a:prstGeom prst="rect">
            <a:avLst/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6"/>
          <p:cNvSpPr txBox="1"/>
          <p:nvPr/>
        </p:nvSpPr>
        <p:spPr>
          <a:xfrm>
            <a:off x="502920" y="201168"/>
            <a:ext cx="5029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7 · PREPARE UML DIAGRAMS</a:t>
            </a:r>
            <a:endParaRPr/>
          </a:p>
        </p:txBody>
      </p:sp>
      <p:sp>
        <p:nvSpPr>
          <p:cNvPr id="415" name="Google Shape;415;p26"/>
          <p:cNvSpPr txBox="1"/>
          <p:nvPr/>
        </p:nvSpPr>
        <p:spPr>
          <a:xfrm>
            <a:off x="502920" y="329184"/>
            <a:ext cx="9784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7.1 Use Case Diagram — User</a:t>
            </a:r>
            <a:endParaRPr/>
          </a:p>
        </p:txBody>
      </p:sp>
      <p:sp>
        <p:nvSpPr>
          <p:cNvPr id="416" name="Google Shape;416;p26"/>
          <p:cNvSpPr txBox="1"/>
          <p:nvPr/>
        </p:nvSpPr>
        <p:spPr>
          <a:xfrm>
            <a:off x="11064240" y="164592"/>
            <a:ext cx="4572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417" name="Google Shape;417;p26"/>
          <p:cNvSpPr/>
          <p:nvPr/>
        </p:nvSpPr>
        <p:spPr>
          <a:xfrm>
            <a:off x="0" y="713232"/>
            <a:ext cx="12191700" cy="2280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6"/>
          <p:cNvSpPr txBox="1"/>
          <p:nvPr/>
        </p:nvSpPr>
        <p:spPr>
          <a:xfrm>
            <a:off x="566928" y="877824"/>
            <a:ext cx="10881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Authenticated user interactions with ThreatLens</a:t>
            </a:r>
            <a:endParaRPr/>
          </a:p>
        </p:txBody>
      </p:sp>
      <p:sp>
        <p:nvSpPr>
          <p:cNvPr id="419" name="Google Shape;419;p26"/>
          <p:cNvSpPr/>
          <p:nvPr/>
        </p:nvSpPr>
        <p:spPr>
          <a:xfrm>
            <a:off x="685800" y="1298448"/>
            <a:ext cx="6812400" cy="5257800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user.png" id="420" name="Google Shape;42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49603" y="1389888"/>
            <a:ext cx="4684672" cy="4965192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6"/>
          <p:cNvSpPr/>
          <p:nvPr/>
        </p:nvSpPr>
        <p:spPr>
          <a:xfrm>
            <a:off x="7754112" y="1298448"/>
            <a:ext cx="3520500" cy="5257800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6"/>
          <p:cNvSpPr txBox="1"/>
          <p:nvPr/>
        </p:nvSpPr>
        <p:spPr>
          <a:xfrm>
            <a:off x="8028431" y="1572768"/>
            <a:ext cx="2926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KEY USER CAPABILITIES</a:t>
            </a:r>
            <a:endParaRPr/>
          </a:p>
        </p:txBody>
      </p:sp>
      <p:sp>
        <p:nvSpPr>
          <p:cNvPr id="423" name="Google Shape;423;p26"/>
          <p:cNvSpPr txBox="1"/>
          <p:nvPr/>
        </p:nvSpPr>
        <p:spPr>
          <a:xfrm>
            <a:off x="8028431" y="2011680"/>
            <a:ext cx="2880300" cy="25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Register / Login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Scan a single URL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Analyze phishing content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risk score &amp; report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scan / phishing history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Manage sender / domain / URL watchlist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Bulk scan up to 25 URLs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Use browser extension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threat intelligence</a:t>
            </a:r>
            <a:endParaRPr/>
          </a:p>
          <a:p>
            <a:pPr indent="0" lvl="0" marL="0" marR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Manage profile</a:t>
            </a:r>
            <a:endParaRPr/>
          </a:p>
        </p:txBody>
      </p:sp>
      <p:sp>
        <p:nvSpPr>
          <p:cNvPr id="424" name="Google Shape;424;p26"/>
          <p:cNvSpPr txBox="1"/>
          <p:nvPr/>
        </p:nvSpPr>
        <p:spPr>
          <a:xfrm>
            <a:off x="502920" y="6556248"/>
            <a:ext cx="8686800" cy="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425" name="Google Shape;425;p26"/>
          <p:cNvSpPr txBox="1"/>
          <p:nvPr/>
        </p:nvSpPr>
        <p:spPr>
          <a:xfrm>
            <a:off x="9326880" y="6556248"/>
            <a:ext cx="2057400" cy="2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426" name="Google Shape;426;p26"/>
          <p:cNvSpPr txBox="1"/>
          <p:nvPr/>
        </p:nvSpPr>
        <p:spPr>
          <a:xfrm>
            <a:off x="530352" y="6455664"/>
            <a:ext cx="475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7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7 · PREPARE UML DIAGRAMS</a:t>
            </a:r>
            <a:endParaRPr/>
          </a:p>
        </p:txBody>
      </p:sp>
      <p:sp>
        <p:nvSpPr>
          <p:cNvPr id="432" name="Google Shape;432;p27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7.2 Use Case Diagram — Admin</a:t>
            </a:r>
            <a:endParaRPr/>
          </a:p>
        </p:txBody>
      </p:sp>
      <p:sp>
        <p:nvSpPr>
          <p:cNvPr id="433" name="Google Shape;433;p27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34" name="Google Shape;434;p27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7"/>
          <p:cNvSpPr txBox="1"/>
          <p:nvPr/>
        </p:nvSpPr>
        <p:spPr>
          <a:xfrm>
            <a:off x="566928" y="877824"/>
            <a:ext cx="108813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Administrative interactions and privileged platform management functions</a:t>
            </a:r>
            <a:endParaRPr/>
          </a:p>
        </p:txBody>
      </p:sp>
      <p:sp>
        <p:nvSpPr>
          <p:cNvPr id="436" name="Google Shape;436;p27"/>
          <p:cNvSpPr/>
          <p:nvPr/>
        </p:nvSpPr>
        <p:spPr>
          <a:xfrm>
            <a:off x="749808" y="1316736"/>
            <a:ext cx="6080760" cy="5074920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dmin.png" id="437" name="Google Shape;43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3704" y="1408176"/>
            <a:ext cx="5432966" cy="4782312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27"/>
          <p:cNvSpPr/>
          <p:nvPr/>
        </p:nvSpPr>
        <p:spPr>
          <a:xfrm>
            <a:off x="7086600" y="1316736"/>
            <a:ext cx="4160520" cy="5074920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7"/>
          <p:cNvSpPr txBox="1"/>
          <p:nvPr/>
        </p:nvSpPr>
        <p:spPr>
          <a:xfrm>
            <a:off x="7360920" y="1581912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ADMIN-ONLY FUNCTIONS</a:t>
            </a:r>
            <a:endParaRPr/>
          </a:p>
        </p:txBody>
      </p:sp>
      <p:sp>
        <p:nvSpPr>
          <p:cNvPr id="440" name="Google Shape;440;p27"/>
          <p:cNvSpPr txBox="1"/>
          <p:nvPr/>
        </p:nvSpPr>
        <p:spPr>
          <a:xfrm>
            <a:off x="7360920" y="1984248"/>
            <a:ext cx="342900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Login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dashboard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Manage users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Manage roles &amp; permissions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all scans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phishing records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View platform statistics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1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•  Manage threat intelligence providers / API keys</a:t>
            </a:r>
            <a:endParaRPr/>
          </a:p>
        </p:txBody>
      </p:sp>
      <p:sp>
        <p:nvSpPr>
          <p:cNvPr id="441" name="Google Shape;441;p27"/>
          <p:cNvSpPr txBox="1"/>
          <p:nvPr/>
        </p:nvSpPr>
        <p:spPr>
          <a:xfrm>
            <a:off x="7360920" y="5797296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3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Privilege boundary: admin actions are protected by role checks / 403 gating.</a:t>
            </a:r>
            <a:endParaRPr/>
          </a:p>
        </p:txBody>
      </p:sp>
      <p:sp>
        <p:nvSpPr>
          <p:cNvPr id="442" name="Google Shape;442;p27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443" name="Google Shape;443;p27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444" name="Google Shape;444;p27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8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7 · PREPARE UML DIAGRAMS</a:t>
            </a:r>
            <a:endParaRPr/>
          </a:p>
        </p:txBody>
      </p:sp>
      <p:sp>
        <p:nvSpPr>
          <p:cNvPr id="450" name="Google Shape;450;p28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7.2 Class Diagram — Domain &amp; Persistence Model</a:t>
            </a:r>
            <a:endParaRPr/>
          </a:p>
        </p:txBody>
      </p:sp>
      <p:sp>
        <p:nvSpPr>
          <p:cNvPr id="451" name="Google Shape;451;p28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452" name="Google Shape;452;p28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8"/>
          <p:cNvSpPr txBox="1"/>
          <p:nvPr/>
        </p:nvSpPr>
        <p:spPr>
          <a:xfrm>
            <a:off x="566928" y="877824"/>
            <a:ext cx="10789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Entity relationships covering users, scans, phishing analysis, watchlists, browser extension data and threat intelligence</a:t>
            </a:r>
            <a:endParaRPr/>
          </a:p>
        </p:txBody>
      </p:sp>
      <p:sp>
        <p:nvSpPr>
          <p:cNvPr id="454" name="Google Shape;454;p28"/>
          <p:cNvSpPr/>
          <p:nvPr/>
        </p:nvSpPr>
        <p:spPr>
          <a:xfrm>
            <a:off x="402336" y="1234440"/>
            <a:ext cx="11448288" cy="5367528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lass.png" id="455" name="Google Shape;45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6569" y="1325880"/>
            <a:ext cx="7619821" cy="5074920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28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457" name="Google Shape;457;p28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458" name="Google Shape;458;p28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  <p:pic>
        <p:nvPicPr>
          <p:cNvPr descr="The connection arrow of the admin table to the scan_report is not correct, connect it to the Scan_Report table" id="459" name="Google Shape;45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16575" y="1325875"/>
            <a:ext cx="7619825" cy="4998725"/>
          </a:xfrm>
          <a:prstGeom prst="rect">
            <a:avLst/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9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7 · PREPARE UML DIAGRAMS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7.3 Activity Diagram — ThreatLens Workflow</a:t>
            </a:r>
            <a:endParaRPr/>
          </a:p>
        </p:txBody>
      </p:sp>
      <p:sp>
        <p:nvSpPr>
          <p:cNvPr id="466" name="Google Shape;466;p29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467" name="Google Shape;467;p29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566928" y="877824"/>
            <a:ext cx="10789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Full user workflow from authentication and rate limiting to report rendering</a:t>
            </a:r>
            <a:endParaRPr/>
          </a:p>
        </p:txBody>
      </p:sp>
      <p:sp>
        <p:nvSpPr>
          <p:cNvPr id="469" name="Google Shape;469;p29"/>
          <p:cNvSpPr/>
          <p:nvPr/>
        </p:nvSpPr>
        <p:spPr>
          <a:xfrm>
            <a:off x="566928" y="1298448"/>
            <a:ext cx="10972800" cy="5230368"/>
          </a:xfrm>
          <a:prstGeom prst="roundRect">
            <a:avLst>
              <a:gd fmla="val 16667" name="adj"/>
            </a:avLst>
          </a:prstGeom>
          <a:solidFill>
            <a:srgbClr val="F2F5F8"/>
          </a:solidFill>
          <a:ln cap="flat" cmpd="sng" w="10150">
            <a:solidFill>
              <a:srgbClr val="4E678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ctivity.png" id="470" name="Google Shape;47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46387" y="1389888"/>
            <a:ext cx="7413880" cy="49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29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472" name="Google Shape;472;p29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473" name="Google Shape;473;p29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30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8 · CREATE DATA DICTIONARY</a:t>
            </a:r>
            <a:endParaRPr/>
          </a:p>
        </p:txBody>
      </p:sp>
      <p:sp>
        <p:nvSpPr>
          <p:cNvPr id="479" name="Google Shape;479;p30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8.2 Core Tables — users &amp; auth_tokens</a:t>
            </a:r>
            <a:endParaRPr/>
          </a:p>
        </p:txBody>
      </p:sp>
      <p:sp>
        <p:nvSpPr>
          <p:cNvPr id="480" name="Google Shape;480;p30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481" name="Google Shape;481;p30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0"/>
          <p:cNvSpPr txBox="1"/>
          <p:nvPr/>
        </p:nvSpPr>
        <p:spPr>
          <a:xfrm>
            <a:off x="566928" y="896112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users</a:t>
            </a:r>
            <a:endParaRPr/>
          </a:p>
        </p:txBody>
      </p:sp>
      <p:graphicFrame>
        <p:nvGraphicFramePr>
          <p:cNvPr id="483" name="Google Shape;483;p30"/>
          <p:cNvGraphicFramePr/>
          <p:nvPr/>
        </p:nvGraphicFramePr>
        <p:xfrm>
          <a:off x="566928" y="11887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username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STRING(24)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Unique login name; 3–24 chars [a-zA-Z0-9_]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STRING(254)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Unique, indexed; stored lowercase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password_hash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STRING(255)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PBKDF2-HMAC-SHA256 password hash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display_name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STRING(50)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Optional friendly display name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is_admin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BOOLEAN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FALSE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Admin privilege flag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Account creation timestamp (UTC)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84" name="Google Shape;484;p30"/>
          <p:cNvSpPr txBox="1"/>
          <p:nvPr/>
        </p:nvSpPr>
        <p:spPr>
          <a:xfrm>
            <a:off x="566928" y="385876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auth_tokens</a:t>
            </a:r>
            <a:endParaRPr/>
          </a:p>
        </p:txBody>
      </p:sp>
      <p:graphicFrame>
        <p:nvGraphicFramePr>
          <p:cNvPr id="485" name="Google Shape;485;p30"/>
          <p:cNvGraphicFramePr/>
          <p:nvPr/>
        </p:nvGraphicFramePr>
        <p:xfrm>
          <a:off x="566928" y="415137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9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token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STRING(64)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Bearer token; indexed &amp; unique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ON DELETE CASCADE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Token creation time (UTC)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expires_at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9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Token expiry; 30 days from creation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86" name="Google Shape;486;p30"/>
          <p:cNvSpPr txBox="1"/>
          <p:nvPr/>
        </p:nvSpPr>
        <p:spPr>
          <a:xfrm>
            <a:off x="566928" y="5989320"/>
            <a:ext cx="10789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Source: Data Dictionary, PDF pp. 24–25.</a:t>
            </a:r>
            <a:endParaRPr/>
          </a:p>
        </p:txBody>
      </p:sp>
      <p:sp>
        <p:nvSpPr>
          <p:cNvPr id="487" name="Google Shape;487;p30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488" name="Google Shape;488;p30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489" name="Google Shape;489;p30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1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8 · CREATE DATA DICTIONARY</a:t>
            </a:r>
            <a:endParaRPr/>
          </a:p>
        </p:txBody>
      </p:sp>
      <p:sp>
        <p:nvSpPr>
          <p:cNvPr id="495" name="Google Shape;495;p31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8.3 Core Tables — scans &amp; phishing_analyses</a:t>
            </a:r>
            <a:endParaRPr/>
          </a:p>
        </p:txBody>
      </p:sp>
      <p:sp>
        <p:nvSpPr>
          <p:cNvPr id="496" name="Google Shape;496;p31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497" name="Google Shape;497;p31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31"/>
          <p:cNvSpPr txBox="1"/>
          <p:nvPr/>
        </p:nvSpPr>
        <p:spPr>
          <a:xfrm>
            <a:off x="566928" y="868680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scans</a:t>
            </a:r>
            <a:endParaRPr/>
          </a:p>
        </p:txBody>
      </p:sp>
      <p:graphicFrame>
        <p:nvGraphicFramePr>
          <p:cNvPr id="499" name="Google Shape;499;p31"/>
          <p:cNvGraphicFramePr/>
          <p:nvPr/>
        </p:nvGraphicFramePr>
        <p:xfrm>
          <a:off x="566928" y="11612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926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SET NULL; NULL = anonymous scan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url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STRING(2048)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Normalized URL;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risk_score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Risk score 0–100; 100 = safest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verdict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STRING(50)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SAFE / LOW RISK / SUSPICIOUS / DANGEROUS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summary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{}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JSON summary of scan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findings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[]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JSON array of itemized findings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Scan timestamp; UTC;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</a:tbl>
          </a:graphicData>
        </a:graphic>
      </p:graphicFrame>
      <p:sp>
        <p:nvSpPr>
          <p:cNvPr id="500" name="Google Shape;500;p31"/>
          <p:cNvSpPr txBox="1"/>
          <p:nvPr/>
        </p:nvSpPr>
        <p:spPr>
          <a:xfrm>
            <a:off x="566928" y="3977639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phishing_analyses</a:t>
            </a:r>
            <a:endParaRPr/>
          </a:p>
        </p:txBody>
      </p:sp>
      <p:graphicFrame>
        <p:nvGraphicFramePr>
          <p:cNvPr id="501" name="Google Shape;501;p31"/>
          <p:cNvGraphicFramePr/>
          <p:nvPr/>
        </p:nvGraphicFramePr>
        <p:xfrm>
          <a:off x="566928" y="42702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31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25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SET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content_type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STRING(50)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| sms | page_text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content_preview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STRING(500)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""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First 400 chars of analyzed content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phishing_score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0–100; higher = more likely phishing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verdict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STRING(50)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SAFE / SUSPICIOUS / PHISHING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flags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[]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JSON array of detection flags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31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25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Analysis timestamp; UTC;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</a:tbl>
          </a:graphicData>
        </a:graphic>
      </p:graphicFrame>
      <p:sp>
        <p:nvSpPr>
          <p:cNvPr id="502" name="Google Shape;502;p31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503" name="Google Shape;503;p31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504" name="Google Shape;504;p31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32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8 · CREATE DATA DICTIONARY</a:t>
            </a:r>
            <a:endParaRPr/>
          </a:p>
        </p:txBody>
      </p:sp>
      <p:sp>
        <p:nvSpPr>
          <p:cNvPr id="510" name="Google Shape;510;p32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8.4 Core Tables — watchlist_entries &amp; audit_log</a:t>
            </a:r>
            <a:endParaRPr/>
          </a:p>
        </p:txBody>
      </p:sp>
      <p:sp>
        <p:nvSpPr>
          <p:cNvPr id="511" name="Google Shape;511;p32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512" name="Google Shape;512;p32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2"/>
          <p:cNvSpPr txBox="1"/>
          <p:nvPr/>
        </p:nvSpPr>
        <p:spPr>
          <a:xfrm>
            <a:off x="566928" y="868680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watchlist_entries</a:t>
            </a:r>
            <a:endParaRPr/>
          </a:p>
        </p:txBody>
      </p:sp>
      <p:graphicFrame>
        <p:nvGraphicFramePr>
          <p:cNvPr id="514" name="Google Shape;514;p32"/>
          <p:cNvGraphicFramePr/>
          <p:nvPr/>
        </p:nvGraphicFramePr>
        <p:xfrm>
          <a:off x="566928" y="11612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99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CASCADE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STRING(10)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sender | domain | url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value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STRING(2048)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address, domain or URL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STRING(200)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Optional user note; max 200 chars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 added; UTC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9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last_seen_at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Last matched; UTC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15" name="Google Shape;515;p32"/>
          <p:cNvSpPr txBox="1"/>
          <p:nvPr/>
        </p:nvSpPr>
        <p:spPr>
          <a:xfrm>
            <a:off x="566928" y="3840480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audit_log</a:t>
            </a:r>
            <a:endParaRPr/>
          </a:p>
        </p:txBody>
      </p:sp>
      <p:graphicFrame>
        <p:nvGraphicFramePr>
          <p:cNvPr id="516" name="Google Shape;516;p32"/>
          <p:cNvGraphicFramePr/>
          <p:nvPr/>
        </p:nvGraphicFramePr>
        <p:xfrm>
          <a:off x="566928" y="41239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9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SET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action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STRING(100)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user.promote | user.demote | user.delete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detail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JSON or human-readable detail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ip_address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STRING(45)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Client IPv4 / IPv6 address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4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Action timestamp; UTC;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</a:tbl>
          </a:graphicData>
        </a:graphic>
      </p:graphicFrame>
      <p:sp>
        <p:nvSpPr>
          <p:cNvPr id="517" name="Google Shape;517;p32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518" name="Google Shape;518;p32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519" name="Google Shape;519;p32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33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8 · CREATE DATA DICTIONARY</a:t>
            </a:r>
            <a:endParaRPr/>
          </a:p>
        </p:txBody>
      </p:sp>
      <p:sp>
        <p:nvSpPr>
          <p:cNvPr id="525" name="Google Shape;525;p33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8.5 Supporting Tables — api_keys &amp; webhooks</a:t>
            </a:r>
            <a:endParaRPr/>
          </a:p>
        </p:txBody>
      </p:sp>
      <p:sp>
        <p:nvSpPr>
          <p:cNvPr id="526" name="Google Shape;526;p33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527" name="Google Shape;527;p33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3"/>
          <p:cNvSpPr txBox="1"/>
          <p:nvPr/>
        </p:nvSpPr>
        <p:spPr>
          <a:xfrm>
            <a:off x="566928" y="868680"/>
            <a:ext cx="32918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api_keys</a:t>
            </a:r>
            <a:endParaRPr/>
          </a:p>
        </p:txBody>
      </p:sp>
      <p:graphicFrame>
        <p:nvGraphicFramePr>
          <p:cNvPr id="529" name="Google Shape;529;p33"/>
          <p:cNvGraphicFramePr/>
          <p:nvPr/>
        </p:nvGraphicFramePr>
        <p:xfrm>
          <a:off x="566928" y="11612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789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CASCADE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key_hash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STRING(128)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Hashed API key; unique, indexed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STRING(100)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Human label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prefix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STRING(8)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First 8 chars for display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is_active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BOOLEAN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Currently active?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last_used_at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Last used (UTC)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Creation time (UTC)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7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expires_at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Optional expiry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530" name="Google Shape;530;p33"/>
          <p:cNvSpPr txBox="1"/>
          <p:nvPr/>
        </p:nvSpPr>
        <p:spPr>
          <a:xfrm>
            <a:off x="566928" y="4133087"/>
            <a:ext cx="33832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TABLE: webhooks</a:t>
            </a:r>
            <a:endParaRPr/>
          </a:p>
        </p:txBody>
      </p:sp>
      <p:graphicFrame>
        <p:nvGraphicFramePr>
          <p:cNvPr id="531" name="Google Shape;531;p33"/>
          <p:cNvGraphicFramePr/>
          <p:nvPr/>
        </p:nvGraphicFramePr>
        <p:xfrm>
          <a:off x="566928" y="442569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1508750"/>
                <a:gridCol w="1325875"/>
                <a:gridCol w="1234450"/>
                <a:gridCol w="1097275"/>
                <a:gridCol w="5806450"/>
              </a:tblGrid>
              <a:tr h="2062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Column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9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64000" marL="64000">
                    <a:solidFill>
                      <a:srgbClr val="1769AE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PK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AUTOINC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key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user_id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INTEGER FK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FK → users.id; CASCADE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url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STRING(2048)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Webhook endpoint; HTTP/S only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secret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STRING(64)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HMAC-SHA256 secret; 32 hex chars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events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["scan.dangerous"]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JSON array; event types or wildcard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is_active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BOOLEAN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TRUE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Currently active?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last_triggered_at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NULLABLE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Last triggered time (UTC)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F4F7FA"/>
                    </a:solidFill>
                  </a:tcPr>
                </a:tc>
              </a:tr>
              <a:tr h="20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created_at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DATETIME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 NULL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utcnow()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9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Creation time (UTC)</a:t>
                      </a:r>
                      <a:endParaRPr/>
                    </a:p>
                  </a:txBody>
                  <a:tcPr marT="36575" marB="36575" marR="54875" marL="54875">
                    <a:solidFill>
                      <a:srgbClr val="E6ECF4"/>
                    </a:solidFill>
                  </a:tcPr>
                </a:tc>
              </a:tr>
            </a:tbl>
          </a:graphicData>
        </a:graphic>
      </p:graphicFrame>
      <p:sp>
        <p:nvSpPr>
          <p:cNvPr id="532" name="Google Shape;532;p33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533" name="Google Shape;533;p33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534" name="Google Shape;534;p33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34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8 · CREATE DATA DICTIONARY</a:t>
            </a:r>
            <a:endParaRPr/>
          </a:p>
        </p:txBody>
      </p:sp>
      <p:sp>
        <p:nvSpPr>
          <p:cNvPr id="540" name="Google Shape;540;p34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8.6 Enumerated Values Reference</a:t>
            </a:r>
            <a:endParaRPr/>
          </a:p>
        </p:txBody>
      </p:sp>
      <p:sp>
        <p:nvSpPr>
          <p:cNvPr id="541" name="Google Shape;541;p34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542" name="Google Shape;542;p34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34"/>
          <p:cNvSpPr/>
          <p:nvPr/>
        </p:nvSpPr>
        <p:spPr>
          <a:xfrm>
            <a:off x="566928" y="932688"/>
            <a:ext cx="5138928" cy="111556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34"/>
          <p:cNvSpPr txBox="1"/>
          <p:nvPr/>
        </p:nvSpPr>
        <p:spPr>
          <a:xfrm>
            <a:off x="731520" y="1042416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VERDICT VALUES</a:t>
            </a:r>
            <a:endParaRPr/>
          </a:p>
        </p:txBody>
      </p:sp>
      <p:sp>
        <p:nvSpPr>
          <p:cNvPr id="545" name="Google Shape;545;p34"/>
          <p:cNvSpPr txBox="1"/>
          <p:nvPr/>
        </p:nvSpPr>
        <p:spPr>
          <a:xfrm>
            <a:off x="731520" y="1307592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SAFE</a:t>
            </a:r>
            <a:endParaRPr/>
          </a:p>
        </p:txBody>
      </p:sp>
      <p:sp>
        <p:nvSpPr>
          <p:cNvPr id="546" name="Google Shape;546;p34"/>
          <p:cNvSpPr txBox="1"/>
          <p:nvPr/>
        </p:nvSpPr>
        <p:spPr>
          <a:xfrm>
            <a:off x="2103120" y="1307592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URL/content appears legitimate</a:t>
            </a:r>
            <a:endParaRPr/>
          </a:p>
        </p:txBody>
      </p:sp>
      <p:sp>
        <p:nvSpPr>
          <p:cNvPr id="547" name="Google Shape;547;p34"/>
          <p:cNvSpPr txBox="1"/>
          <p:nvPr/>
        </p:nvSpPr>
        <p:spPr>
          <a:xfrm>
            <a:off x="731520" y="1481328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LOW RISK</a:t>
            </a:r>
            <a:endParaRPr/>
          </a:p>
        </p:txBody>
      </p:sp>
      <p:sp>
        <p:nvSpPr>
          <p:cNvPr id="548" name="Google Shape;548;p34"/>
          <p:cNvSpPr txBox="1"/>
          <p:nvPr/>
        </p:nvSpPr>
        <p:spPr>
          <a:xfrm>
            <a:off x="2103120" y="1481328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Minor concerns; generally safe (scans only)</a:t>
            </a:r>
            <a:endParaRPr/>
          </a:p>
        </p:txBody>
      </p:sp>
      <p:sp>
        <p:nvSpPr>
          <p:cNvPr id="549" name="Google Shape;549;p34"/>
          <p:cNvSpPr txBox="1"/>
          <p:nvPr/>
        </p:nvSpPr>
        <p:spPr>
          <a:xfrm>
            <a:off x="731520" y="1655063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SUSPICIOUS</a:t>
            </a:r>
            <a:endParaRPr/>
          </a:p>
        </p:txBody>
      </p:sp>
      <p:sp>
        <p:nvSpPr>
          <p:cNvPr id="550" name="Google Shape;550;p34"/>
          <p:cNvSpPr txBox="1"/>
          <p:nvPr/>
        </p:nvSpPr>
        <p:spPr>
          <a:xfrm>
            <a:off x="2103120" y="1655063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Notable red flags; warrants caution</a:t>
            </a:r>
            <a:endParaRPr/>
          </a:p>
        </p:txBody>
      </p:sp>
      <p:sp>
        <p:nvSpPr>
          <p:cNvPr id="551" name="Google Shape;551;p34"/>
          <p:cNvSpPr txBox="1"/>
          <p:nvPr/>
        </p:nvSpPr>
        <p:spPr>
          <a:xfrm>
            <a:off x="731520" y="1828799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DANGEROUS</a:t>
            </a:r>
            <a:endParaRPr/>
          </a:p>
        </p:txBody>
      </p:sp>
      <p:sp>
        <p:nvSpPr>
          <p:cNvPr id="552" name="Google Shape;552;p34"/>
          <p:cNvSpPr txBox="1"/>
          <p:nvPr/>
        </p:nvSpPr>
        <p:spPr>
          <a:xfrm>
            <a:off x="2103120" y="1828799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High-risk URL (scan verdict only)</a:t>
            </a:r>
            <a:endParaRPr/>
          </a:p>
        </p:txBody>
      </p:sp>
      <p:sp>
        <p:nvSpPr>
          <p:cNvPr id="553" name="Google Shape;553;p34"/>
          <p:cNvSpPr/>
          <p:nvPr/>
        </p:nvSpPr>
        <p:spPr>
          <a:xfrm>
            <a:off x="6117325" y="932701"/>
            <a:ext cx="5139000" cy="1115700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4"/>
          <p:cNvSpPr txBox="1"/>
          <p:nvPr/>
        </p:nvSpPr>
        <p:spPr>
          <a:xfrm>
            <a:off x="6281928" y="1042416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RISK LEVEL VALUES</a:t>
            </a:r>
            <a:endParaRPr/>
          </a:p>
        </p:txBody>
      </p:sp>
      <p:sp>
        <p:nvSpPr>
          <p:cNvPr id="555" name="Google Shape;555;p34"/>
          <p:cNvSpPr txBox="1"/>
          <p:nvPr/>
        </p:nvSpPr>
        <p:spPr>
          <a:xfrm>
            <a:off x="6281928" y="1307592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safe</a:t>
            </a:r>
            <a:endParaRPr/>
          </a:p>
        </p:txBody>
      </p:sp>
      <p:sp>
        <p:nvSpPr>
          <p:cNvPr id="556" name="Google Shape;556;p34"/>
          <p:cNvSpPr txBox="1"/>
          <p:nvPr/>
        </p:nvSpPr>
        <p:spPr>
          <a:xfrm>
            <a:off x="7653528" y="1307592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Score ≥ 85</a:t>
            </a:r>
            <a:endParaRPr/>
          </a:p>
        </p:txBody>
      </p:sp>
      <p:sp>
        <p:nvSpPr>
          <p:cNvPr id="557" name="Google Shape;557;p34"/>
          <p:cNvSpPr txBox="1"/>
          <p:nvPr/>
        </p:nvSpPr>
        <p:spPr>
          <a:xfrm>
            <a:off x="6281928" y="1481328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low</a:t>
            </a:r>
            <a:endParaRPr/>
          </a:p>
        </p:txBody>
      </p:sp>
      <p:sp>
        <p:nvSpPr>
          <p:cNvPr id="558" name="Google Shape;558;p34"/>
          <p:cNvSpPr txBox="1"/>
          <p:nvPr/>
        </p:nvSpPr>
        <p:spPr>
          <a:xfrm>
            <a:off x="7653528" y="1481328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Score ≥ 70 and &lt; 85</a:t>
            </a:r>
            <a:endParaRPr/>
          </a:p>
        </p:txBody>
      </p:sp>
      <p:sp>
        <p:nvSpPr>
          <p:cNvPr id="559" name="Google Shape;559;p34"/>
          <p:cNvSpPr txBox="1"/>
          <p:nvPr/>
        </p:nvSpPr>
        <p:spPr>
          <a:xfrm>
            <a:off x="6281928" y="1655063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suspicious</a:t>
            </a:r>
            <a:endParaRPr/>
          </a:p>
        </p:txBody>
      </p:sp>
      <p:sp>
        <p:nvSpPr>
          <p:cNvPr id="560" name="Google Shape;560;p34"/>
          <p:cNvSpPr txBox="1"/>
          <p:nvPr/>
        </p:nvSpPr>
        <p:spPr>
          <a:xfrm>
            <a:off x="7653528" y="1655063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Score ≥ 40 and &lt; 70</a:t>
            </a:r>
            <a:endParaRPr/>
          </a:p>
        </p:txBody>
      </p:sp>
      <p:sp>
        <p:nvSpPr>
          <p:cNvPr id="561" name="Google Shape;561;p34"/>
          <p:cNvSpPr txBox="1"/>
          <p:nvPr/>
        </p:nvSpPr>
        <p:spPr>
          <a:xfrm>
            <a:off x="6281928" y="1828799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critical</a:t>
            </a:r>
            <a:endParaRPr/>
          </a:p>
        </p:txBody>
      </p:sp>
      <p:sp>
        <p:nvSpPr>
          <p:cNvPr id="562" name="Google Shape;562;p34"/>
          <p:cNvSpPr txBox="1"/>
          <p:nvPr/>
        </p:nvSpPr>
        <p:spPr>
          <a:xfrm>
            <a:off x="7653528" y="1828799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Score &lt; 40</a:t>
            </a:r>
            <a:endParaRPr/>
          </a:p>
        </p:txBody>
      </p:sp>
      <p:sp>
        <p:nvSpPr>
          <p:cNvPr id="563" name="Google Shape;563;p34"/>
          <p:cNvSpPr/>
          <p:nvPr/>
        </p:nvSpPr>
        <p:spPr>
          <a:xfrm>
            <a:off x="566928" y="2084832"/>
            <a:ext cx="5138928" cy="987552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34"/>
          <p:cNvSpPr txBox="1"/>
          <p:nvPr/>
        </p:nvSpPr>
        <p:spPr>
          <a:xfrm>
            <a:off x="731520" y="2194560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WATCHLIST KIND</a:t>
            </a:r>
            <a:endParaRPr/>
          </a:p>
        </p:txBody>
      </p:sp>
      <p:sp>
        <p:nvSpPr>
          <p:cNvPr id="565" name="Google Shape;565;p34"/>
          <p:cNvSpPr txBox="1"/>
          <p:nvPr/>
        </p:nvSpPr>
        <p:spPr>
          <a:xfrm>
            <a:off x="731520" y="2459736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sender</a:t>
            </a:r>
            <a:endParaRPr/>
          </a:p>
        </p:txBody>
      </p:sp>
      <p:sp>
        <p:nvSpPr>
          <p:cNvPr id="566" name="Google Shape;566;p34"/>
          <p:cNvSpPr txBox="1"/>
          <p:nvPr/>
        </p:nvSpPr>
        <p:spPr>
          <a:xfrm>
            <a:off x="2103120" y="2459736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Email address</a:t>
            </a:r>
            <a:endParaRPr/>
          </a:p>
        </p:txBody>
      </p:sp>
      <p:sp>
        <p:nvSpPr>
          <p:cNvPr id="567" name="Google Shape;567;p34"/>
          <p:cNvSpPr txBox="1"/>
          <p:nvPr/>
        </p:nvSpPr>
        <p:spPr>
          <a:xfrm>
            <a:off x="731520" y="2633472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domain</a:t>
            </a:r>
            <a:endParaRPr/>
          </a:p>
        </p:txBody>
      </p:sp>
      <p:sp>
        <p:nvSpPr>
          <p:cNvPr id="568" name="Google Shape;568;p34"/>
          <p:cNvSpPr txBox="1"/>
          <p:nvPr/>
        </p:nvSpPr>
        <p:spPr>
          <a:xfrm>
            <a:off x="2103120" y="2633472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Domain name</a:t>
            </a:r>
            <a:endParaRPr/>
          </a:p>
        </p:txBody>
      </p:sp>
      <p:sp>
        <p:nvSpPr>
          <p:cNvPr id="569" name="Google Shape;569;p34"/>
          <p:cNvSpPr txBox="1"/>
          <p:nvPr/>
        </p:nvSpPr>
        <p:spPr>
          <a:xfrm>
            <a:off x="731520" y="2807208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url</a:t>
            </a:r>
            <a:endParaRPr/>
          </a:p>
        </p:txBody>
      </p:sp>
      <p:sp>
        <p:nvSpPr>
          <p:cNvPr id="570" name="Google Shape;570;p34"/>
          <p:cNvSpPr txBox="1"/>
          <p:nvPr/>
        </p:nvSpPr>
        <p:spPr>
          <a:xfrm>
            <a:off x="2103120" y="2807208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Full URL</a:t>
            </a:r>
            <a:endParaRPr/>
          </a:p>
        </p:txBody>
      </p:sp>
      <p:sp>
        <p:nvSpPr>
          <p:cNvPr id="571" name="Google Shape;571;p34"/>
          <p:cNvSpPr/>
          <p:nvPr/>
        </p:nvSpPr>
        <p:spPr>
          <a:xfrm>
            <a:off x="6117336" y="2084832"/>
            <a:ext cx="5138928" cy="987552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34"/>
          <p:cNvSpPr txBox="1"/>
          <p:nvPr/>
        </p:nvSpPr>
        <p:spPr>
          <a:xfrm>
            <a:off x="6281928" y="2194560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CONTENT TYPE</a:t>
            </a:r>
            <a:endParaRPr/>
          </a:p>
        </p:txBody>
      </p:sp>
      <p:sp>
        <p:nvSpPr>
          <p:cNvPr id="573" name="Google Shape;573;p34"/>
          <p:cNvSpPr txBox="1"/>
          <p:nvPr/>
        </p:nvSpPr>
        <p:spPr>
          <a:xfrm>
            <a:off x="6281928" y="2459736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email</a:t>
            </a:r>
            <a:endParaRPr/>
          </a:p>
        </p:txBody>
      </p:sp>
      <p:sp>
        <p:nvSpPr>
          <p:cNvPr id="574" name="Google Shape;574;p34"/>
          <p:cNvSpPr txBox="1"/>
          <p:nvPr/>
        </p:nvSpPr>
        <p:spPr>
          <a:xfrm>
            <a:off x="7653528" y="2459736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Email body</a:t>
            </a:r>
            <a:endParaRPr/>
          </a:p>
        </p:txBody>
      </p:sp>
      <p:sp>
        <p:nvSpPr>
          <p:cNvPr id="575" name="Google Shape;575;p34"/>
          <p:cNvSpPr txBox="1"/>
          <p:nvPr/>
        </p:nvSpPr>
        <p:spPr>
          <a:xfrm>
            <a:off x="6281928" y="2633472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sms</a:t>
            </a:r>
            <a:endParaRPr/>
          </a:p>
        </p:txBody>
      </p:sp>
      <p:sp>
        <p:nvSpPr>
          <p:cNvPr id="576" name="Google Shape;576;p34"/>
          <p:cNvSpPr txBox="1"/>
          <p:nvPr/>
        </p:nvSpPr>
        <p:spPr>
          <a:xfrm>
            <a:off x="7653528" y="2633472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SMS / text message</a:t>
            </a:r>
            <a:endParaRPr/>
          </a:p>
        </p:txBody>
      </p:sp>
      <p:sp>
        <p:nvSpPr>
          <p:cNvPr id="577" name="Google Shape;577;p34"/>
          <p:cNvSpPr txBox="1"/>
          <p:nvPr/>
        </p:nvSpPr>
        <p:spPr>
          <a:xfrm>
            <a:off x="6281928" y="2807208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page_text</a:t>
            </a:r>
            <a:endParaRPr/>
          </a:p>
        </p:txBody>
      </p:sp>
      <p:sp>
        <p:nvSpPr>
          <p:cNvPr id="578" name="Google Shape;578;p34"/>
          <p:cNvSpPr txBox="1"/>
          <p:nvPr/>
        </p:nvSpPr>
        <p:spPr>
          <a:xfrm>
            <a:off x="7653528" y="2807208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Web page text</a:t>
            </a:r>
            <a:endParaRPr/>
          </a:p>
        </p:txBody>
      </p:sp>
      <p:sp>
        <p:nvSpPr>
          <p:cNvPr id="579" name="Google Shape;579;p34"/>
          <p:cNvSpPr/>
          <p:nvPr/>
        </p:nvSpPr>
        <p:spPr>
          <a:xfrm>
            <a:off x="566888" y="3163837"/>
            <a:ext cx="5139000" cy="1527000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34"/>
          <p:cNvSpPr txBox="1"/>
          <p:nvPr/>
        </p:nvSpPr>
        <p:spPr>
          <a:xfrm>
            <a:off x="731520" y="334670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FINDING SEVERITY</a:t>
            </a:r>
            <a:endParaRPr/>
          </a:p>
        </p:txBody>
      </p:sp>
      <p:sp>
        <p:nvSpPr>
          <p:cNvPr id="581" name="Google Shape;581;p34"/>
          <p:cNvSpPr txBox="1"/>
          <p:nvPr/>
        </p:nvSpPr>
        <p:spPr>
          <a:xfrm>
            <a:off x="731520" y="3611880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critical</a:t>
            </a:r>
            <a:endParaRPr/>
          </a:p>
        </p:txBody>
      </p:sp>
      <p:sp>
        <p:nvSpPr>
          <p:cNvPr id="582" name="Google Shape;582;p34"/>
          <p:cNvSpPr txBox="1"/>
          <p:nvPr/>
        </p:nvSpPr>
        <p:spPr>
          <a:xfrm>
            <a:off x="2103120" y="3611880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Severe security issue</a:t>
            </a:r>
            <a:endParaRPr/>
          </a:p>
        </p:txBody>
      </p:sp>
      <p:sp>
        <p:nvSpPr>
          <p:cNvPr id="583" name="Google Shape;583;p34"/>
          <p:cNvSpPr txBox="1"/>
          <p:nvPr/>
        </p:nvSpPr>
        <p:spPr>
          <a:xfrm>
            <a:off x="731520" y="3785616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high</a:t>
            </a:r>
            <a:endParaRPr/>
          </a:p>
        </p:txBody>
      </p:sp>
      <p:sp>
        <p:nvSpPr>
          <p:cNvPr id="584" name="Google Shape;584;p34"/>
          <p:cNvSpPr txBox="1"/>
          <p:nvPr/>
        </p:nvSpPr>
        <p:spPr>
          <a:xfrm>
            <a:off x="2103120" y="3785616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Significant concern</a:t>
            </a:r>
            <a:endParaRPr/>
          </a:p>
        </p:txBody>
      </p:sp>
      <p:sp>
        <p:nvSpPr>
          <p:cNvPr id="585" name="Google Shape;585;p34"/>
          <p:cNvSpPr txBox="1"/>
          <p:nvPr/>
        </p:nvSpPr>
        <p:spPr>
          <a:xfrm>
            <a:off x="731520" y="3959352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medium</a:t>
            </a:r>
            <a:endParaRPr/>
          </a:p>
        </p:txBody>
      </p:sp>
      <p:sp>
        <p:nvSpPr>
          <p:cNvPr id="586" name="Google Shape;586;p34"/>
          <p:cNvSpPr txBox="1"/>
          <p:nvPr/>
        </p:nvSpPr>
        <p:spPr>
          <a:xfrm>
            <a:off x="2103120" y="3959352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Moderate concern</a:t>
            </a:r>
            <a:endParaRPr/>
          </a:p>
        </p:txBody>
      </p:sp>
      <p:sp>
        <p:nvSpPr>
          <p:cNvPr id="587" name="Google Shape;587;p34"/>
          <p:cNvSpPr txBox="1"/>
          <p:nvPr/>
        </p:nvSpPr>
        <p:spPr>
          <a:xfrm>
            <a:off x="731520" y="4133088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low</a:t>
            </a:r>
            <a:endParaRPr/>
          </a:p>
        </p:txBody>
      </p:sp>
      <p:sp>
        <p:nvSpPr>
          <p:cNvPr id="588" name="Google Shape;588;p34"/>
          <p:cNvSpPr txBox="1"/>
          <p:nvPr/>
        </p:nvSpPr>
        <p:spPr>
          <a:xfrm>
            <a:off x="2103120" y="4133088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Minor concern</a:t>
            </a:r>
            <a:endParaRPr/>
          </a:p>
        </p:txBody>
      </p:sp>
      <p:sp>
        <p:nvSpPr>
          <p:cNvPr id="589" name="Google Shape;589;p34"/>
          <p:cNvSpPr txBox="1"/>
          <p:nvPr/>
        </p:nvSpPr>
        <p:spPr>
          <a:xfrm>
            <a:off x="731520" y="4306824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info</a:t>
            </a:r>
            <a:endParaRPr/>
          </a:p>
        </p:txBody>
      </p:sp>
      <p:sp>
        <p:nvSpPr>
          <p:cNvPr id="590" name="Google Shape;590;p34"/>
          <p:cNvSpPr txBox="1"/>
          <p:nvPr/>
        </p:nvSpPr>
        <p:spPr>
          <a:xfrm>
            <a:off x="2103120" y="4306824"/>
            <a:ext cx="3365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Informational only</a:t>
            </a:r>
            <a:endParaRPr/>
          </a:p>
        </p:txBody>
      </p:sp>
      <p:sp>
        <p:nvSpPr>
          <p:cNvPr id="591" name="Google Shape;591;p34"/>
          <p:cNvSpPr txBox="1"/>
          <p:nvPr/>
        </p:nvSpPr>
        <p:spPr>
          <a:xfrm>
            <a:off x="731520" y="4480560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positive</a:t>
            </a:r>
            <a:endParaRPr/>
          </a:p>
        </p:txBody>
      </p:sp>
      <p:sp>
        <p:nvSpPr>
          <p:cNvPr id="592" name="Google Shape;592;p34"/>
          <p:cNvSpPr txBox="1"/>
          <p:nvPr/>
        </p:nvSpPr>
        <p:spPr>
          <a:xfrm>
            <a:off x="2103120" y="4480560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Positive signal</a:t>
            </a:r>
            <a:endParaRPr/>
          </a:p>
        </p:txBody>
      </p:sp>
      <p:sp>
        <p:nvSpPr>
          <p:cNvPr id="593" name="Google Shape;593;p34"/>
          <p:cNvSpPr/>
          <p:nvPr/>
        </p:nvSpPr>
        <p:spPr>
          <a:xfrm>
            <a:off x="6117336" y="3236976"/>
            <a:ext cx="5138928" cy="987552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34"/>
          <p:cNvSpPr txBox="1"/>
          <p:nvPr/>
        </p:nvSpPr>
        <p:spPr>
          <a:xfrm>
            <a:off x="6281928" y="334670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THREAT INTEL STATUS</a:t>
            </a:r>
            <a:endParaRPr/>
          </a:p>
        </p:txBody>
      </p:sp>
      <p:sp>
        <p:nvSpPr>
          <p:cNvPr id="595" name="Google Shape;595;p34"/>
          <p:cNvSpPr txBox="1"/>
          <p:nvPr/>
        </p:nvSpPr>
        <p:spPr>
          <a:xfrm>
            <a:off x="6281928" y="3611880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ok</a:t>
            </a:r>
            <a:endParaRPr/>
          </a:p>
        </p:txBody>
      </p:sp>
      <p:sp>
        <p:nvSpPr>
          <p:cNvPr id="596" name="Google Shape;596;p34"/>
          <p:cNvSpPr txBox="1"/>
          <p:nvPr/>
        </p:nvSpPr>
        <p:spPr>
          <a:xfrm>
            <a:off x="7653528" y="3611880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Provider query succeeded</a:t>
            </a:r>
            <a:endParaRPr/>
          </a:p>
        </p:txBody>
      </p:sp>
      <p:sp>
        <p:nvSpPr>
          <p:cNvPr id="597" name="Google Shape;597;p34"/>
          <p:cNvSpPr txBox="1"/>
          <p:nvPr/>
        </p:nvSpPr>
        <p:spPr>
          <a:xfrm>
            <a:off x="6281928" y="3785616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skipped</a:t>
            </a:r>
            <a:endParaRPr/>
          </a:p>
        </p:txBody>
      </p:sp>
      <p:sp>
        <p:nvSpPr>
          <p:cNvPr id="598" name="Google Shape;598;p34"/>
          <p:cNvSpPr txBox="1"/>
          <p:nvPr/>
        </p:nvSpPr>
        <p:spPr>
          <a:xfrm>
            <a:off x="7653528" y="3785616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API key not configured</a:t>
            </a:r>
            <a:endParaRPr/>
          </a:p>
        </p:txBody>
      </p:sp>
      <p:sp>
        <p:nvSpPr>
          <p:cNvPr id="599" name="Google Shape;599;p34"/>
          <p:cNvSpPr txBox="1"/>
          <p:nvPr/>
        </p:nvSpPr>
        <p:spPr>
          <a:xfrm>
            <a:off x="6281928" y="3959352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error</a:t>
            </a:r>
            <a:endParaRPr/>
          </a:p>
        </p:txBody>
      </p:sp>
      <p:sp>
        <p:nvSpPr>
          <p:cNvPr id="600" name="Google Shape;600;p34"/>
          <p:cNvSpPr txBox="1"/>
          <p:nvPr/>
        </p:nvSpPr>
        <p:spPr>
          <a:xfrm>
            <a:off x="7653528" y="3959352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Provider query failed</a:t>
            </a:r>
            <a:endParaRPr/>
          </a:p>
        </p:txBody>
      </p:sp>
      <p:sp>
        <p:nvSpPr>
          <p:cNvPr id="601" name="Google Shape;601;p34"/>
          <p:cNvSpPr/>
          <p:nvPr/>
        </p:nvSpPr>
        <p:spPr>
          <a:xfrm>
            <a:off x="539453" y="4796008"/>
            <a:ext cx="5139000" cy="987600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34"/>
          <p:cNvSpPr txBox="1"/>
          <p:nvPr/>
        </p:nvSpPr>
        <p:spPr>
          <a:xfrm>
            <a:off x="704058" y="4992598"/>
            <a:ext cx="4755000" cy="25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AUTH ACTION</a:t>
            </a:r>
            <a:endParaRPr/>
          </a:p>
        </p:txBody>
      </p:sp>
      <p:sp>
        <p:nvSpPr>
          <p:cNvPr id="603" name="Google Shape;603;p34"/>
          <p:cNvSpPr txBox="1"/>
          <p:nvPr/>
        </p:nvSpPr>
        <p:spPr>
          <a:xfrm>
            <a:off x="704058" y="5257774"/>
            <a:ext cx="13533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user.promote</a:t>
            </a:r>
            <a:endParaRPr/>
          </a:p>
        </p:txBody>
      </p:sp>
      <p:sp>
        <p:nvSpPr>
          <p:cNvPr id="604" name="Google Shape;604;p34"/>
          <p:cNvSpPr txBox="1"/>
          <p:nvPr/>
        </p:nvSpPr>
        <p:spPr>
          <a:xfrm>
            <a:off x="2075657" y="5257774"/>
            <a:ext cx="33651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Promote to admin</a:t>
            </a:r>
            <a:endParaRPr/>
          </a:p>
        </p:txBody>
      </p:sp>
      <p:sp>
        <p:nvSpPr>
          <p:cNvPr id="605" name="Google Shape;605;p34"/>
          <p:cNvSpPr txBox="1"/>
          <p:nvPr/>
        </p:nvSpPr>
        <p:spPr>
          <a:xfrm>
            <a:off x="704058" y="5431510"/>
            <a:ext cx="13533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user.demote</a:t>
            </a:r>
            <a:endParaRPr/>
          </a:p>
        </p:txBody>
      </p:sp>
      <p:sp>
        <p:nvSpPr>
          <p:cNvPr id="606" name="Google Shape;606;p34"/>
          <p:cNvSpPr txBox="1"/>
          <p:nvPr/>
        </p:nvSpPr>
        <p:spPr>
          <a:xfrm>
            <a:off x="2075657" y="5431510"/>
            <a:ext cx="33651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Demote from admin</a:t>
            </a:r>
            <a:endParaRPr/>
          </a:p>
        </p:txBody>
      </p:sp>
      <p:sp>
        <p:nvSpPr>
          <p:cNvPr id="607" name="Google Shape;607;p34"/>
          <p:cNvSpPr txBox="1"/>
          <p:nvPr/>
        </p:nvSpPr>
        <p:spPr>
          <a:xfrm>
            <a:off x="704058" y="5605246"/>
            <a:ext cx="1353300" cy="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user.delete</a:t>
            </a:r>
            <a:endParaRPr/>
          </a:p>
        </p:txBody>
      </p:sp>
      <p:sp>
        <p:nvSpPr>
          <p:cNvPr id="608" name="Google Shape;608;p34"/>
          <p:cNvSpPr txBox="1"/>
          <p:nvPr/>
        </p:nvSpPr>
        <p:spPr>
          <a:xfrm>
            <a:off x="2075657" y="5605246"/>
            <a:ext cx="33651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Delete user</a:t>
            </a:r>
            <a:endParaRPr/>
          </a:p>
        </p:txBody>
      </p:sp>
      <p:sp>
        <p:nvSpPr>
          <p:cNvPr id="609" name="Google Shape;609;p34"/>
          <p:cNvSpPr/>
          <p:nvPr/>
        </p:nvSpPr>
        <p:spPr>
          <a:xfrm>
            <a:off x="6117336" y="4389120"/>
            <a:ext cx="5138928" cy="987552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34"/>
          <p:cNvSpPr txBox="1"/>
          <p:nvPr/>
        </p:nvSpPr>
        <p:spPr>
          <a:xfrm>
            <a:off x="6281928" y="4498848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8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WEBHOOK EVENTS</a:t>
            </a:r>
            <a:endParaRPr/>
          </a:p>
        </p:txBody>
      </p:sp>
      <p:sp>
        <p:nvSpPr>
          <p:cNvPr id="611" name="Google Shape;611;p34"/>
          <p:cNvSpPr txBox="1"/>
          <p:nvPr/>
        </p:nvSpPr>
        <p:spPr>
          <a:xfrm>
            <a:off x="6281928" y="4764024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scan.dangerous</a:t>
            </a:r>
            <a:endParaRPr/>
          </a:p>
        </p:txBody>
      </p:sp>
      <p:sp>
        <p:nvSpPr>
          <p:cNvPr id="612" name="Google Shape;612;p34"/>
          <p:cNvSpPr txBox="1"/>
          <p:nvPr/>
        </p:nvSpPr>
        <p:spPr>
          <a:xfrm>
            <a:off x="7653528" y="4764024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Fired for DANGEROUS scan</a:t>
            </a:r>
            <a:endParaRPr/>
          </a:p>
        </p:txBody>
      </p:sp>
      <p:sp>
        <p:nvSpPr>
          <p:cNvPr id="613" name="Google Shape;613;p34"/>
          <p:cNvSpPr txBox="1"/>
          <p:nvPr/>
        </p:nvSpPr>
        <p:spPr>
          <a:xfrm>
            <a:off x="7653528" y="4937760"/>
            <a:ext cx="3364992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Wildcard: all events</a:t>
            </a:r>
            <a:endParaRPr/>
          </a:p>
        </p:txBody>
      </p:sp>
      <p:sp>
        <p:nvSpPr>
          <p:cNvPr id="614" name="Google Shape;614;p34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615" name="Google Shape;615;p34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616" name="Google Shape;616;p34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35"/>
          <p:cNvSpPr txBox="1"/>
          <p:nvPr/>
        </p:nvSpPr>
        <p:spPr>
          <a:xfrm>
            <a:off x="502920" y="201168"/>
            <a:ext cx="50292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8 · CREATE DATA DICTIONARY</a:t>
            </a:r>
            <a:endParaRPr/>
          </a:p>
        </p:txBody>
      </p:sp>
      <p:sp>
        <p:nvSpPr>
          <p:cNvPr id="622" name="Google Shape;622;p35"/>
          <p:cNvSpPr txBox="1"/>
          <p:nvPr/>
        </p:nvSpPr>
        <p:spPr>
          <a:xfrm>
            <a:off x="502920" y="329184"/>
            <a:ext cx="9784080" cy="338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8.7 Reference Data — Hardcoded Detection Knowledge</a:t>
            </a:r>
            <a:endParaRPr/>
          </a:p>
        </p:txBody>
      </p:sp>
      <p:sp>
        <p:nvSpPr>
          <p:cNvPr id="623" name="Google Shape;623;p35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624" name="Google Shape;624;p35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5"/>
          <p:cNvSpPr txBox="1"/>
          <p:nvPr/>
        </p:nvSpPr>
        <p:spPr>
          <a:xfrm>
            <a:off x="566928" y="877824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Reference lists used by the rule-based URL / phishing detection components</a:t>
            </a:r>
            <a:endParaRPr/>
          </a:p>
        </p:txBody>
      </p:sp>
      <p:sp>
        <p:nvSpPr>
          <p:cNvPr id="626" name="Google Shape;626;p35"/>
          <p:cNvSpPr/>
          <p:nvPr/>
        </p:nvSpPr>
        <p:spPr>
          <a:xfrm>
            <a:off x="594360" y="1307592"/>
            <a:ext cx="10927080" cy="78638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5"/>
          <p:cNvSpPr txBox="1"/>
          <p:nvPr/>
        </p:nvSpPr>
        <p:spPr>
          <a:xfrm>
            <a:off x="804672" y="1417319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SUSPICIOUS TLDs · 57</a:t>
            </a:r>
            <a:endParaRPr/>
          </a:p>
        </p:txBody>
      </p:sp>
      <p:sp>
        <p:nvSpPr>
          <p:cNvPr id="628" name="Google Shape;628;p35"/>
          <p:cNvSpPr txBox="1"/>
          <p:nvPr/>
        </p:nvSpPr>
        <p:spPr>
          <a:xfrm>
            <a:off x="3154680" y="1399032"/>
            <a:ext cx="8046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tk, ml, ga, cf, gq, top, xyz, work, click, loan, men, win, bid, date, racing, review, stream, download, gdn, country, kim, science, party, link, wang, xin, monster, rest, fit, accountant, trade, website, site, online, live, club, cyou, icu, buzz, quest, cam, mom, lol, zip, mov</a:t>
            </a:r>
            <a:endParaRPr/>
          </a:p>
        </p:txBody>
      </p:sp>
      <p:sp>
        <p:nvSpPr>
          <p:cNvPr id="629" name="Google Shape;629;p35"/>
          <p:cNvSpPr/>
          <p:nvPr/>
        </p:nvSpPr>
        <p:spPr>
          <a:xfrm>
            <a:off x="594360" y="2240280"/>
            <a:ext cx="10927080" cy="78638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5"/>
          <p:cNvSpPr txBox="1"/>
          <p:nvPr/>
        </p:nvSpPr>
        <p:spPr>
          <a:xfrm>
            <a:off x="804672" y="2350008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URL SHORTENERS · 21</a:t>
            </a:r>
            <a:endParaRPr/>
          </a:p>
        </p:txBody>
      </p:sp>
      <p:sp>
        <p:nvSpPr>
          <p:cNvPr id="631" name="Google Shape;631;p35"/>
          <p:cNvSpPr txBox="1"/>
          <p:nvPr/>
        </p:nvSpPr>
        <p:spPr>
          <a:xfrm>
            <a:off x="3154680" y="2331720"/>
            <a:ext cx="8046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bit.ly, tinyurl.com, t.co, goo.gl, ow.ly, is.gd, buff.ly, rebrand.ly, cutt.ly, shorturl.at, rb.gy, tiny.cc, s.id, v.gd, soo.gd, t.ly, lnkd.in, x.co, qr.ae</a:t>
            </a:r>
            <a:endParaRPr/>
          </a:p>
        </p:txBody>
      </p:sp>
      <p:sp>
        <p:nvSpPr>
          <p:cNvPr id="632" name="Google Shape;632;p35"/>
          <p:cNvSpPr/>
          <p:nvPr/>
        </p:nvSpPr>
        <p:spPr>
          <a:xfrm>
            <a:off x="594360" y="3172968"/>
            <a:ext cx="10927080" cy="78638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5"/>
          <p:cNvSpPr txBox="1"/>
          <p:nvPr/>
        </p:nvSpPr>
        <p:spPr>
          <a:xfrm>
            <a:off x="804672" y="3282696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CREDENTIAL HINTS · 15</a:t>
            </a:r>
            <a:endParaRPr/>
          </a:p>
        </p:txBody>
      </p:sp>
      <p:sp>
        <p:nvSpPr>
          <p:cNvPr id="634" name="Google Shape;634;p35"/>
          <p:cNvSpPr txBox="1"/>
          <p:nvPr/>
        </p:nvSpPr>
        <p:spPr>
          <a:xfrm>
            <a:off x="3154680" y="3264408"/>
            <a:ext cx="8046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login, signin, verify, secure, account, update, confirm, wallet, auth, password, recover, unlock, validate, billing</a:t>
            </a:r>
            <a:endParaRPr/>
          </a:p>
        </p:txBody>
      </p:sp>
      <p:sp>
        <p:nvSpPr>
          <p:cNvPr id="635" name="Google Shape;635;p35"/>
          <p:cNvSpPr/>
          <p:nvPr/>
        </p:nvSpPr>
        <p:spPr>
          <a:xfrm>
            <a:off x="594360" y="4105656"/>
            <a:ext cx="10927080" cy="786384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5"/>
          <p:cNvSpPr txBox="1"/>
          <p:nvPr/>
        </p:nvSpPr>
        <p:spPr>
          <a:xfrm>
            <a:off x="804672" y="4215384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FREE MAIL DOMAINS · 15</a:t>
            </a:r>
            <a:endParaRPr/>
          </a:p>
        </p:txBody>
      </p:sp>
      <p:sp>
        <p:nvSpPr>
          <p:cNvPr id="637" name="Google Shape;637;p35"/>
          <p:cNvSpPr txBox="1"/>
          <p:nvPr/>
        </p:nvSpPr>
        <p:spPr>
          <a:xfrm>
            <a:off x="3154680" y="4197096"/>
            <a:ext cx="80467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gmail.com, googlemail.com, yahoo.com, yahoo.co.uk, hotmail.com, outlook.com, live.com, aol.com, icloud.com, protonmail.com, proton.me, mail.com, gmx.com, zoho.com</a:t>
            </a:r>
            <a:endParaRPr/>
          </a:p>
        </p:txBody>
      </p:sp>
      <p:sp>
        <p:nvSpPr>
          <p:cNvPr id="638" name="Google Shape;638;p35"/>
          <p:cNvSpPr/>
          <p:nvPr/>
        </p:nvSpPr>
        <p:spPr>
          <a:xfrm>
            <a:off x="594360" y="5038344"/>
            <a:ext cx="10927080" cy="1024128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5"/>
          <p:cNvSpPr txBox="1"/>
          <p:nvPr/>
        </p:nvSpPr>
        <p:spPr>
          <a:xfrm>
            <a:off x="804672" y="5148072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7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POPULAR BRANDS</a:t>
            </a:r>
            <a:endParaRPr/>
          </a:p>
        </p:txBody>
      </p:sp>
      <p:sp>
        <p:nvSpPr>
          <p:cNvPr id="640" name="Google Shape;640;p35"/>
          <p:cNvSpPr txBox="1"/>
          <p:nvPr/>
        </p:nvSpPr>
        <p:spPr>
          <a:xfrm>
            <a:off x="3154680" y="5129783"/>
            <a:ext cx="80467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google, youtube, gmail, facebook, instagram, whatsapp, twitter / x, telegram, tiktok, snapchat, paypal, amazon, ebay, apple, icloud, microsoft, outlook, office, onedrive, netflix, spotify, twitch, linkedin, github, dropbox, steam, epicgames, coinbase, binance, blockchain, metamask, chase, wellsfargo, bankofamerica, citibank, capitalone, hsbc, barclays, fedex, ups, usps, dhl, walmart, target, bestbuy, airbnb, booking, expedia, adobe, salesforce, wordpress</a:t>
            </a:r>
            <a:endParaRPr/>
          </a:p>
        </p:txBody>
      </p:sp>
      <p:sp>
        <p:nvSpPr>
          <p:cNvPr id="641" name="Google Shape;641;p35"/>
          <p:cNvSpPr txBox="1"/>
          <p:nvPr/>
        </p:nvSpPr>
        <p:spPr>
          <a:xfrm>
            <a:off x="502920" y="6556248"/>
            <a:ext cx="8686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642" name="Google Shape;642;p35"/>
          <p:cNvSpPr txBox="1"/>
          <p:nvPr/>
        </p:nvSpPr>
        <p:spPr>
          <a:xfrm>
            <a:off x="9326880" y="6556248"/>
            <a:ext cx="2057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643" name="Google Shape;643;p35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36"/>
          <p:cNvSpPr txBox="1"/>
          <p:nvPr/>
        </p:nvSpPr>
        <p:spPr>
          <a:xfrm>
            <a:off x="502920" y="20116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9 · FINALIZE DATABASE SCHEMA</a:t>
            </a:r>
            <a:endParaRPr/>
          </a:p>
        </p:txBody>
      </p:sp>
      <p:sp>
        <p:nvSpPr>
          <p:cNvPr id="649" name="Google Shape;649;p36"/>
          <p:cNvSpPr txBox="1"/>
          <p:nvPr/>
        </p:nvSpPr>
        <p:spPr>
          <a:xfrm>
            <a:off x="502920" y="338328"/>
            <a:ext cx="9875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9.1 Complete Entity-Relationship View</a:t>
            </a:r>
            <a:endParaRPr/>
          </a:p>
        </p:txBody>
      </p:sp>
      <p:sp>
        <p:nvSpPr>
          <p:cNvPr id="650" name="Google Shape;650;p36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651" name="Google Shape;651;p36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36"/>
          <p:cNvSpPr txBox="1"/>
          <p:nvPr/>
        </p:nvSpPr>
        <p:spPr>
          <a:xfrm>
            <a:off x="566928" y="877824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4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Eight persistent entities are linked through the User root with explicit CASCADE vs SET NULL policies.</a:t>
            </a:r>
            <a:endParaRPr/>
          </a:p>
        </p:txBody>
      </p:sp>
      <p:sp>
        <p:nvSpPr>
          <p:cNvPr id="653" name="Google Shape;653;p36"/>
          <p:cNvSpPr/>
          <p:nvPr/>
        </p:nvSpPr>
        <p:spPr>
          <a:xfrm>
            <a:off x="4526280" y="1417320"/>
            <a:ext cx="2331720" cy="841248"/>
          </a:xfrm>
          <a:prstGeom prst="roundRect">
            <a:avLst>
              <a:gd fmla="val 16667" name="adj"/>
            </a:avLst>
          </a:prstGeom>
          <a:solidFill>
            <a:srgbClr val="1B2D4A"/>
          </a:solidFill>
          <a:ln cap="flat" cmpd="sng" w="101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36"/>
          <p:cNvSpPr txBox="1"/>
          <p:nvPr/>
        </p:nvSpPr>
        <p:spPr>
          <a:xfrm>
            <a:off x="4681728" y="1554480"/>
            <a:ext cx="2011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users</a:t>
            </a:r>
            <a:endParaRPr/>
          </a:p>
        </p:txBody>
      </p:sp>
      <p:sp>
        <p:nvSpPr>
          <p:cNvPr id="655" name="Google Shape;655;p36"/>
          <p:cNvSpPr txBox="1"/>
          <p:nvPr/>
        </p:nvSpPr>
        <p:spPr>
          <a:xfrm>
            <a:off x="4681728" y="1828800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8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id · username · email · is_admin</a:t>
            </a:r>
            <a:endParaRPr/>
          </a:p>
        </p:txBody>
      </p:sp>
      <p:sp>
        <p:nvSpPr>
          <p:cNvPr id="656" name="Google Shape;656;p36"/>
          <p:cNvSpPr/>
          <p:nvPr/>
        </p:nvSpPr>
        <p:spPr>
          <a:xfrm>
            <a:off x="914400" y="278892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36"/>
          <p:cNvSpPr txBox="1"/>
          <p:nvPr/>
        </p:nvSpPr>
        <p:spPr>
          <a:xfrm>
            <a:off x="1005840" y="291693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3D91E8"/>
                </a:solidFill>
                <a:latin typeface="Arial"/>
                <a:ea typeface="Arial"/>
                <a:cs typeface="Arial"/>
                <a:sym typeface="Arial"/>
              </a:rPr>
              <a:t>auth_tokens</a:t>
            </a:r>
            <a:endParaRPr/>
          </a:p>
        </p:txBody>
      </p:sp>
      <p:sp>
        <p:nvSpPr>
          <p:cNvPr id="658" name="Google Shape;658;p36"/>
          <p:cNvSpPr txBox="1"/>
          <p:nvPr/>
        </p:nvSpPr>
        <p:spPr>
          <a:xfrm>
            <a:off x="1005840" y="322783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CASCADE</a:t>
            </a:r>
            <a:endParaRPr/>
          </a:p>
        </p:txBody>
      </p:sp>
      <p:cxnSp>
        <p:nvCxnSpPr>
          <p:cNvPr id="659" name="Google Shape;659;p36"/>
          <p:cNvCxnSpPr/>
          <p:nvPr/>
        </p:nvCxnSpPr>
        <p:spPr>
          <a:xfrm flipH="1">
            <a:off x="1993391" y="2258568"/>
            <a:ext cx="3703321" cy="530352"/>
          </a:xfrm>
          <a:prstGeom prst="straightConnector1">
            <a:avLst/>
          </a:prstGeom>
          <a:noFill/>
          <a:ln cap="flat" cmpd="sng" w="15225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60" name="Google Shape;660;p36"/>
          <p:cNvSpPr/>
          <p:nvPr/>
        </p:nvSpPr>
        <p:spPr>
          <a:xfrm>
            <a:off x="3154680" y="278892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23D2C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36"/>
          <p:cNvSpPr txBox="1"/>
          <p:nvPr/>
        </p:nvSpPr>
        <p:spPr>
          <a:xfrm>
            <a:off x="3246120" y="291693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3D2C1"/>
                </a:solidFill>
                <a:latin typeface="Arial"/>
                <a:ea typeface="Arial"/>
                <a:cs typeface="Arial"/>
                <a:sym typeface="Arial"/>
              </a:rPr>
              <a:t>scans</a:t>
            </a:r>
            <a:endParaRPr/>
          </a:p>
        </p:txBody>
      </p:sp>
      <p:sp>
        <p:nvSpPr>
          <p:cNvPr id="662" name="Google Shape;662;p36"/>
          <p:cNvSpPr txBox="1"/>
          <p:nvPr/>
        </p:nvSpPr>
        <p:spPr>
          <a:xfrm>
            <a:off x="3246120" y="322783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SET NULL</a:t>
            </a:r>
            <a:endParaRPr/>
          </a:p>
        </p:txBody>
      </p:sp>
      <p:cxnSp>
        <p:nvCxnSpPr>
          <p:cNvPr id="663" name="Google Shape;663;p36"/>
          <p:cNvCxnSpPr/>
          <p:nvPr/>
        </p:nvCxnSpPr>
        <p:spPr>
          <a:xfrm flipH="1">
            <a:off x="4233672" y="2258568"/>
            <a:ext cx="1463040" cy="530352"/>
          </a:xfrm>
          <a:prstGeom prst="straightConnector1">
            <a:avLst/>
          </a:prstGeom>
          <a:noFill/>
          <a:ln cap="flat" cmpd="sng" w="15225">
            <a:solidFill>
              <a:srgbClr val="23D2C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64" name="Google Shape;664;p36"/>
          <p:cNvSpPr/>
          <p:nvPr/>
        </p:nvSpPr>
        <p:spPr>
          <a:xfrm>
            <a:off x="5577840" y="278892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EFB4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6"/>
          <p:cNvSpPr txBox="1"/>
          <p:nvPr/>
        </p:nvSpPr>
        <p:spPr>
          <a:xfrm>
            <a:off x="5669279" y="291693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EFB456"/>
                </a:solidFill>
                <a:latin typeface="Arial"/>
                <a:ea typeface="Arial"/>
                <a:cs typeface="Arial"/>
                <a:sym typeface="Arial"/>
              </a:rPr>
              <a:t>phishing_analyses</a:t>
            </a:r>
            <a:endParaRPr/>
          </a:p>
        </p:txBody>
      </p:sp>
      <p:sp>
        <p:nvSpPr>
          <p:cNvPr id="666" name="Google Shape;666;p36"/>
          <p:cNvSpPr txBox="1"/>
          <p:nvPr/>
        </p:nvSpPr>
        <p:spPr>
          <a:xfrm>
            <a:off x="5669279" y="322783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SET NULL</a:t>
            </a:r>
            <a:endParaRPr/>
          </a:p>
        </p:txBody>
      </p:sp>
      <p:cxnSp>
        <p:nvCxnSpPr>
          <p:cNvPr id="667" name="Google Shape;667;p36"/>
          <p:cNvCxnSpPr/>
          <p:nvPr/>
        </p:nvCxnSpPr>
        <p:spPr>
          <a:xfrm>
            <a:off x="5696712" y="2258568"/>
            <a:ext cx="960119" cy="530352"/>
          </a:xfrm>
          <a:prstGeom prst="straightConnector1">
            <a:avLst/>
          </a:prstGeom>
          <a:noFill/>
          <a:ln cap="flat" cmpd="sng" w="15225">
            <a:solidFill>
              <a:srgbClr val="EFB45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68" name="Google Shape;668;p36"/>
          <p:cNvSpPr/>
          <p:nvPr/>
        </p:nvSpPr>
        <p:spPr>
          <a:xfrm>
            <a:off x="8321040" y="278892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68BE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36"/>
          <p:cNvSpPr txBox="1"/>
          <p:nvPr/>
        </p:nvSpPr>
        <p:spPr>
          <a:xfrm>
            <a:off x="8412480" y="2916936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68BE77"/>
                </a:solidFill>
                <a:latin typeface="Arial"/>
                <a:ea typeface="Arial"/>
                <a:cs typeface="Arial"/>
                <a:sym typeface="Arial"/>
              </a:rPr>
              <a:t>watchlist_entries</a:t>
            </a:r>
            <a:endParaRPr/>
          </a:p>
        </p:txBody>
      </p:sp>
      <p:sp>
        <p:nvSpPr>
          <p:cNvPr id="670" name="Google Shape;670;p36"/>
          <p:cNvSpPr txBox="1"/>
          <p:nvPr/>
        </p:nvSpPr>
        <p:spPr>
          <a:xfrm>
            <a:off x="8412480" y="322783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CASCADE</a:t>
            </a:r>
            <a:endParaRPr/>
          </a:p>
        </p:txBody>
      </p:sp>
      <p:cxnSp>
        <p:nvCxnSpPr>
          <p:cNvPr id="671" name="Google Shape;671;p36"/>
          <p:cNvCxnSpPr/>
          <p:nvPr/>
        </p:nvCxnSpPr>
        <p:spPr>
          <a:xfrm>
            <a:off x="5696712" y="2258568"/>
            <a:ext cx="3703320" cy="530352"/>
          </a:xfrm>
          <a:prstGeom prst="straightConnector1">
            <a:avLst/>
          </a:prstGeom>
          <a:noFill/>
          <a:ln cap="flat" cmpd="sng" w="15225">
            <a:solidFill>
              <a:srgbClr val="68BE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72" name="Google Shape;672;p36"/>
          <p:cNvSpPr/>
          <p:nvPr/>
        </p:nvSpPr>
        <p:spPr>
          <a:xfrm>
            <a:off x="1417320" y="466344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36"/>
          <p:cNvSpPr txBox="1"/>
          <p:nvPr/>
        </p:nvSpPr>
        <p:spPr>
          <a:xfrm>
            <a:off x="1508760" y="4791455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3D91E8"/>
                </a:solidFill>
                <a:latin typeface="Arial"/>
                <a:ea typeface="Arial"/>
                <a:cs typeface="Arial"/>
                <a:sym typeface="Arial"/>
              </a:rPr>
              <a:t>audit_log</a:t>
            </a:r>
            <a:endParaRPr/>
          </a:p>
        </p:txBody>
      </p:sp>
      <p:sp>
        <p:nvSpPr>
          <p:cNvPr id="674" name="Google Shape;674;p36"/>
          <p:cNvSpPr txBox="1"/>
          <p:nvPr/>
        </p:nvSpPr>
        <p:spPr>
          <a:xfrm>
            <a:off x="1508760" y="510235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SET NULL</a:t>
            </a:r>
            <a:endParaRPr/>
          </a:p>
        </p:txBody>
      </p:sp>
      <p:cxnSp>
        <p:nvCxnSpPr>
          <p:cNvPr id="675" name="Google Shape;675;p36"/>
          <p:cNvCxnSpPr/>
          <p:nvPr/>
        </p:nvCxnSpPr>
        <p:spPr>
          <a:xfrm flipH="1">
            <a:off x="2496312" y="2258568"/>
            <a:ext cx="3200400" cy="2404872"/>
          </a:xfrm>
          <a:prstGeom prst="straightConnector1">
            <a:avLst/>
          </a:prstGeom>
          <a:noFill/>
          <a:ln cap="flat" cmpd="sng" w="15225">
            <a:solidFill>
              <a:srgbClr val="3D91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76" name="Google Shape;676;p36"/>
          <p:cNvSpPr/>
          <p:nvPr/>
        </p:nvSpPr>
        <p:spPr>
          <a:xfrm>
            <a:off x="4160520" y="466344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6"/>
          <p:cNvSpPr txBox="1"/>
          <p:nvPr/>
        </p:nvSpPr>
        <p:spPr>
          <a:xfrm>
            <a:off x="4251959" y="4791455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api_keys</a:t>
            </a:r>
            <a:endParaRPr/>
          </a:p>
        </p:txBody>
      </p:sp>
      <p:sp>
        <p:nvSpPr>
          <p:cNvPr id="678" name="Google Shape;678;p36"/>
          <p:cNvSpPr txBox="1"/>
          <p:nvPr/>
        </p:nvSpPr>
        <p:spPr>
          <a:xfrm>
            <a:off x="4251959" y="510235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CASCADE</a:t>
            </a:r>
            <a:endParaRPr/>
          </a:p>
        </p:txBody>
      </p:sp>
      <p:cxnSp>
        <p:nvCxnSpPr>
          <p:cNvPr id="679" name="Google Shape;679;p36"/>
          <p:cNvCxnSpPr/>
          <p:nvPr/>
        </p:nvCxnSpPr>
        <p:spPr>
          <a:xfrm flipH="1">
            <a:off x="5239512" y="2258568"/>
            <a:ext cx="457200" cy="2404872"/>
          </a:xfrm>
          <a:prstGeom prst="straightConnector1">
            <a:avLst/>
          </a:prstGeom>
          <a:noFill/>
          <a:ln cap="flat" cmpd="sng" w="15225">
            <a:solidFill>
              <a:srgbClr val="20C9D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80" name="Google Shape;680;p36"/>
          <p:cNvSpPr/>
          <p:nvPr/>
        </p:nvSpPr>
        <p:spPr>
          <a:xfrm>
            <a:off x="6995160" y="4663440"/>
            <a:ext cx="2148840" cy="1024128"/>
          </a:xfrm>
          <a:prstGeom prst="roundRect">
            <a:avLst>
              <a:gd fmla="val 16667" name="adj"/>
            </a:avLst>
          </a:prstGeom>
          <a:solidFill>
            <a:srgbClr val="14233C"/>
          </a:solidFill>
          <a:ln cap="flat" cmpd="sng" w="10150">
            <a:solidFill>
              <a:srgbClr val="E664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36"/>
          <p:cNvSpPr txBox="1"/>
          <p:nvPr/>
        </p:nvSpPr>
        <p:spPr>
          <a:xfrm>
            <a:off x="7086600" y="4791455"/>
            <a:ext cx="19659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E66468"/>
                </a:solidFill>
                <a:latin typeface="Arial"/>
                <a:ea typeface="Arial"/>
                <a:cs typeface="Arial"/>
                <a:sym typeface="Arial"/>
              </a:rPr>
              <a:t>webhooks</a:t>
            </a:r>
            <a:endParaRPr/>
          </a:p>
        </p:txBody>
      </p:sp>
      <p:sp>
        <p:nvSpPr>
          <p:cNvPr id="682" name="Google Shape;682;p36"/>
          <p:cNvSpPr txBox="1"/>
          <p:nvPr/>
        </p:nvSpPr>
        <p:spPr>
          <a:xfrm>
            <a:off x="7086600" y="5102352"/>
            <a:ext cx="1965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FK: user_id</a:t>
            </a:r>
            <a:b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86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ON DELETE CASCADE</a:t>
            </a:r>
            <a:endParaRPr/>
          </a:p>
        </p:txBody>
      </p:sp>
      <p:cxnSp>
        <p:nvCxnSpPr>
          <p:cNvPr id="683" name="Google Shape;683;p36"/>
          <p:cNvCxnSpPr/>
          <p:nvPr/>
        </p:nvCxnSpPr>
        <p:spPr>
          <a:xfrm>
            <a:off x="5696712" y="2258568"/>
            <a:ext cx="2377440" cy="2404872"/>
          </a:xfrm>
          <a:prstGeom prst="straightConnector1">
            <a:avLst/>
          </a:prstGeom>
          <a:noFill/>
          <a:ln cap="flat" cmpd="sng" w="15225">
            <a:solidFill>
              <a:srgbClr val="E6646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684" name="Google Shape;684;p36"/>
          <p:cNvSpPr/>
          <p:nvPr/>
        </p:nvSpPr>
        <p:spPr>
          <a:xfrm>
            <a:off x="777240" y="1572768"/>
            <a:ext cx="3246120" cy="713232"/>
          </a:xfrm>
          <a:prstGeom prst="roundRect">
            <a:avLst>
              <a:gd fmla="val 16667" name="adj"/>
            </a:avLst>
          </a:prstGeom>
          <a:solidFill>
            <a:srgbClr val="112A42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36"/>
          <p:cNvSpPr txBox="1"/>
          <p:nvPr/>
        </p:nvSpPr>
        <p:spPr>
          <a:xfrm>
            <a:off x="932688" y="1737360"/>
            <a:ext cx="2926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1 : N relationships from users</a:t>
            </a:r>
            <a:endParaRPr/>
          </a:p>
        </p:txBody>
      </p:sp>
      <p:sp>
        <p:nvSpPr>
          <p:cNvPr id="686" name="Google Shape;686;p36"/>
          <p:cNvSpPr/>
          <p:nvPr/>
        </p:nvSpPr>
        <p:spPr>
          <a:xfrm>
            <a:off x="8915400" y="1536192"/>
            <a:ext cx="2286000" cy="804672"/>
          </a:xfrm>
          <a:prstGeom prst="roundRect">
            <a:avLst>
              <a:gd fmla="val 16667" name="adj"/>
            </a:avLst>
          </a:prstGeom>
          <a:solidFill>
            <a:srgbClr val="24303B"/>
          </a:solidFill>
          <a:ln cap="flat" cmpd="sng" w="10150">
            <a:solidFill>
              <a:srgbClr val="314A6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6"/>
          <p:cNvSpPr txBox="1"/>
          <p:nvPr/>
        </p:nvSpPr>
        <p:spPr>
          <a:xfrm>
            <a:off x="9070848" y="1664208"/>
            <a:ext cx="19659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CASCADE = owned data removed</a:t>
            </a:r>
            <a:br>
              <a:rPr b="0" lang="en-US" sz="9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lang="en-US" sz="900">
                <a:solidFill>
                  <a:srgbClr val="EBF1F8"/>
                </a:solidFill>
                <a:latin typeface="Arial"/>
                <a:ea typeface="Arial"/>
                <a:cs typeface="Arial"/>
                <a:sym typeface="Arial"/>
              </a:rPr>
              <a:t>SET NULL = historical record kept</a:t>
            </a:r>
            <a:endParaRPr/>
          </a:p>
        </p:txBody>
      </p:sp>
      <p:sp>
        <p:nvSpPr>
          <p:cNvPr id="688" name="Google Shape;688;p36"/>
          <p:cNvSpPr txBox="1"/>
          <p:nvPr/>
        </p:nvSpPr>
        <p:spPr>
          <a:xfrm>
            <a:off x="50292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689" name="Google Shape;689;p36"/>
          <p:cNvSpPr txBox="1"/>
          <p:nvPr/>
        </p:nvSpPr>
        <p:spPr>
          <a:xfrm>
            <a:off x="9326880" y="6510528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690" name="Google Shape;690;p36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426"/>
        </a:solidFill>
      </p:bgPr>
    </p:bg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7"/>
          <p:cNvSpPr txBox="1"/>
          <p:nvPr/>
        </p:nvSpPr>
        <p:spPr>
          <a:xfrm>
            <a:off x="502920" y="20116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0C9DE"/>
                </a:solidFill>
                <a:latin typeface="Arial"/>
                <a:ea typeface="Arial"/>
                <a:cs typeface="Arial"/>
                <a:sym typeface="Arial"/>
              </a:rPr>
              <a:t>9 · FINALIZE DATABASE SCHEMA</a:t>
            </a:r>
            <a:endParaRPr/>
          </a:p>
        </p:txBody>
      </p:sp>
      <p:sp>
        <p:nvSpPr>
          <p:cNvPr id="696" name="Google Shape;696;p37"/>
          <p:cNvSpPr txBox="1"/>
          <p:nvPr/>
        </p:nvSpPr>
        <p:spPr>
          <a:xfrm>
            <a:off x="502920" y="338328"/>
            <a:ext cx="987552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solidFill>
                  <a:srgbClr val="EBF1F8"/>
                </a:solidFill>
                <a:latin typeface="Play"/>
                <a:ea typeface="Play"/>
                <a:cs typeface="Play"/>
                <a:sym typeface="Play"/>
              </a:rPr>
              <a:t>9.2 Index Strategy &amp; Query Performance</a:t>
            </a:r>
            <a:endParaRPr/>
          </a:p>
        </p:txBody>
      </p:sp>
      <p:sp>
        <p:nvSpPr>
          <p:cNvPr id="697" name="Google Shape;697;p37"/>
          <p:cNvSpPr txBox="1"/>
          <p:nvPr/>
        </p:nvSpPr>
        <p:spPr>
          <a:xfrm>
            <a:off x="11064240" y="16459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9AFCD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/>
          </a:p>
        </p:txBody>
      </p:sp>
      <p:sp>
        <p:nvSpPr>
          <p:cNvPr id="698" name="Google Shape;698;p37"/>
          <p:cNvSpPr/>
          <p:nvPr/>
        </p:nvSpPr>
        <p:spPr>
          <a:xfrm>
            <a:off x="0" y="713232"/>
            <a:ext cx="12191695" cy="22860"/>
          </a:xfrm>
          <a:prstGeom prst="rect">
            <a:avLst/>
          </a:prstGeom>
          <a:solidFill>
            <a:srgbClr val="20C9D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37"/>
          <p:cNvSpPr txBox="1"/>
          <p:nvPr/>
        </p:nvSpPr>
        <p:spPr>
          <a:xfrm>
            <a:off x="566928" y="877824"/>
            <a:ext cx="10972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20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Indexes support authentication lookups, per-user history retrieval, URL search, token validation and chronological reporting.</a:t>
            </a:r>
            <a:endParaRPr/>
          </a:p>
        </p:txBody>
      </p:sp>
      <p:graphicFrame>
        <p:nvGraphicFramePr>
          <p:cNvPr id="700" name="Google Shape;700;p37"/>
          <p:cNvGraphicFramePr/>
          <p:nvPr/>
        </p:nvGraphicFramePr>
        <p:xfrm>
          <a:off x="566928" y="12984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{CE00C3AB-38B8-4B3B-9B5A-988E169025F8}</a:tableStyleId>
              </a:tblPr>
              <a:tblGrid>
                <a:gridCol w="2377450"/>
                <a:gridCol w="4114800"/>
                <a:gridCol w="4480550"/>
              </a:tblGrid>
              <a:tr h="4368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Table</a:t>
                      </a:r>
                      <a:endParaRPr/>
                    </a:p>
                  </a:txBody>
                  <a:tcPr marT="27425" marB="27425" marR="45725" marL="45725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Indexed columns</a:t>
                      </a:r>
                      <a:endParaRPr/>
                    </a:p>
                  </a:txBody>
                  <a:tcPr marT="27425" marB="27425" marR="45725" marL="45725">
                    <a:solidFill>
                      <a:srgbClr val="1769A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60" u="none" cap="none" strike="noStrike">
                          <a:solidFill>
                            <a:srgbClr val="EBF1F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Purpose</a:t>
                      </a:r>
                      <a:endParaRPr/>
                    </a:p>
                  </a:txBody>
                  <a:tcPr marT="27425" marB="27425" marR="45725" marL="45725">
                    <a:solidFill>
                      <a:srgbClr val="1769AE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username (UNIQUE); email (UNIQUE)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 &amp; login lookups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auth_tokens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token (UNIQUE); user_id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Token validation; user token lookup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scans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url; user_id; created_at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URL search; per-user history; chronological order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phishing_analyses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user_id; created_at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Per-user analyses; chronological order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watchlist_entries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user_id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Primary; user watchlist lookup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audit_log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user_id; created_at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Action lookup; chronological audit trail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api_keys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key_hash (UNIQUE); user_id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validation; owner lookup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F4F7FA"/>
                    </a:solidFill>
                  </a:tcPr>
                </a:tc>
              </a:tr>
              <a:tr h="436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webhooks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 (PK); user_id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60" u="none" cap="none" strike="noStrike">
                          <a:solidFill>
                            <a:srgbClr val="10161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Primary; user webhook lookup</a:t>
                      </a:r>
                      <a:endParaRPr/>
                    </a:p>
                  </a:txBody>
                  <a:tcPr marT="18300" marB="18300" marR="45725" marL="45725">
                    <a:solidFill>
                      <a:srgbClr val="E6ECF4"/>
                    </a:solidFill>
                  </a:tcPr>
                </a:tc>
              </a:tr>
            </a:tbl>
          </a:graphicData>
        </a:graphic>
      </p:graphicFrame>
      <p:sp>
        <p:nvSpPr>
          <p:cNvPr id="701" name="Google Shape;701;p37"/>
          <p:cNvSpPr txBox="1"/>
          <p:nvPr/>
        </p:nvSpPr>
        <p:spPr>
          <a:xfrm>
            <a:off x="502920" y="6510528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· System Design &amp; Database Development</a:t>
            </a:r>
            <a:endParaRPr/>
          </a:p>
        </p:txBody>
      </p:sp>
      <p:sp>
        <p:nvSpPr>
          <p:cNvPr id="702" name="Google Shape;702;p37"/>
          <p:cNvSpPr txBox="1"/>
          <p:nvPr/>
        </p:nvSpPr>
        <p:spPr>
          <a:xfrm>
            <a:off x="9326880" y="6510528"/>
            <a:ext cx="2057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19">
                <a:solidFill>
                  <a:srgbClr val="9BAEC7"/>
                </a:solidFill>
                <a:latin typeface="Arial"/>
                <a:ea typeface="Arial"/>
                <a:cs typeface="Arial"/>
                <a:sym typeface="Arial"/>
              </a:rPr>
              <a:t>ThreatLens v1.0 · Sep 2026</a:t>
            </a:r>
            <a:endParaRPr/>
          </a:p>
        </p:txBody>
      </p:sp>
      <p:sp>
        <p:nvSpPr>
          <p:cNvPr id="703" name="Google Shape;703;p37"/>
          <p:cNvSpPr txBox="1"/>
          <p:nvPr/>
        </p:nvSpPr>
        <p:spPr>
          <a:xfrm>
            <a:off x="530352" y="6455664"/>
            <a:ext cx="47548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9788A"/>
                </a:solidFill>
                <a:latin typeface="Calibri"/>
                <a:ea typeface="Calibri"/>
                <a:cs typeface="Calibri"/>
                <a:sym typeface="Calibri"/>
              </a:rPr>
              <a:t>ThreatLens  •  Threat Detection &amp; URL Scanner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10.1  Start Project Coding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62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6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2D3EE"/>
                </a:solidFill>
                <a:latin typeface="Arial"/>
              </a:rPr>
              <a:t>Development followed an incremental, layer-by-layer process — each backend capability was completed and exercised through the API before the matching screen was built, so the UI was always driven by a working endpoint rather than a mock.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10000"/>
            <a:ext cx="6880000" cy="422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2920" y="2270000"/>
            <a:ext cx="6520000" cy="3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BUILD ORDER — SIX INCREMENTAL STEPS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  Environment setup — </a:t>
            </a:r>
            <a:r>
              <a:rPr sz="950" b="0">
                <a:solidFill>
                  <a:srgbClr val="F5F8FC"/>
                </a:solidFill>
                <a:latin typeface="Arial"/>
              </a:rPr>
              <a:t>Python 3.11+ virtual environment, requirements.txt installed, .env created from .env.example.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2  Project scaffolding — </a:t>
            </a:r>
            <a:r>
              <a:rPr sz="950" b="0">
                <a:solidFill>
                  <a:srgbClr val="F5F8FC"/>
                </a:solidFill>
                <a:latin typeface="Arial"/>
              </a:rPr>
              <a:t>backend/app package (main, config, database, models, schemas); frontend/ and extension/ trees.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3  Data layer first — </a:t>
            </a:r>
            <a:r>
              <a:rPr sz="950" b="0">
                <a:solidFill>
                  <a:srgbClr val="F5F8FC"/>
                </a:solidFill>
                <a:latin typeface="Arial"/>
              </a:rPr>
              <a:t>SQLAlchemy ORM models and the SQLite database created automatically at startup.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4  API-first build — </a:t>
            </a:r>
            <a:r>
              <a:rPr sz="950" b="0">
                <a:solidFill>
                  <a:srgbClr val="F5F8FC"/>
                </a:solidFill>
                <a:latin typeface="Arial"/>
              </a:rPr>
              <a:t>Authentication, then URL scanner, phishing analysis, history, tools, admin and reporting routes.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5  Interface build — </a:t>
            </a:r>
            <a:r>
              <a:rPr sz="950" b="0">
                <a:solidFill>
                  <a:srgbClr val="F5F8FC"/>
                </a:solidFill>
                <a:latin typeface="Arial"/>
              </a:rPr>
              <a:t>Static dashboard pages consuming the finished endpoints, followed by the Chrome extension.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6  Hardening — </a:t>
            </a:r>
            <a:r>
              <a:rPr sz="950" b="0">
                <a:solidFill>
                  <a:srgbClr val="F5F8FC"/>
                </a:solidFill>
                <a:latin typeface="Arial"/>
              </a:rPr>
              <a:t>Input validation, rate limiting, SSRF guards, audit logging and the end-to-end test suite.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920" y="2110000"/>
            <a:ext cx="4125835" cy="422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2920" y="2270000"/>
            <a:ext cx="3765835" cy="3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CODING CONVENTIONS APPLIED</a:t>
            </a:r>
          </a:p>
          <a:p>
            <a:pPr algn="l">
              <a:spcAft>
                <a:spcPts val="5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Separation of concerns — </a:t>
            </a:r>
            <a:r>
              <a:rPr sz="900" b="0">
                <a:solidFill>
                  <a:srgbClr val="F5F8FC"/>
                </a:solidFill>
                <a:latin typeface="Arial"/>
              </a:rPr>
              <a:t>routers validate and authorize; services hold detection logic; the ORM isolates persistence.</a:t>
            </a:r>
          </a:p>
          <a:p>
            <a:pPr algn="l">
              <a:spcAft>
                <a:spcPts val="5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Type hints everywhere — </a:t>
            </a:r>
            <a:r>
              <a:rPr sz="900" b="0">
                <a:solidFill>
                  <a:srgbClr val="F5F8FC"/>
                </a:solidFill>
                <a:latin typeface="Arial"/>
              </a:rPr>
              <a:t>from __future__ import annotations plus Pydantic models on every request body.</a:t>
            </a:r>
          </a:p>
          <a:p>
            <a:pPr algn="l">
              <a:spcAft>
                <a:spcPts val="5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Fail-soft external calls — </a:t>
            </a:r>
            <a:r>
              <a:rPr sz="900" b="0">
                <a:solidFill>
                  <a:srgbClr val="F5F8FC"/>
                </a:solidFill>
                <a:latin typeface="Arial"/>
              </a:rPr>
              <a:t>a provider outage becomes an informational finding, never a failed scan.</a:t>
            </a:r>
          </a:p>
          <a:p>
            <a:pPr algn="l">
              <a:spcAft>
                <a:spcPts val="5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Single settings object — </a:t>
            </a:r>
            <a:r>
              <a:rPr sz="900" b="0">
                <a:solidFill>
                  <a:srgbClr val="F5F8FC"/>
                </a:solidFill>
                <a:latin typeface="Arial"/>
              </a:rPr>
              <a:t>all config and secrets read once through config.py, never hard-coded.</a:t>
            </a:r>
          </a:p>
          <a:p>
            <a:pPr algn="l">
              <a:spcAft>
                <a:spcPts val="5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Comments explain intent — </a:t>
            </a:r>
            <a:r>
              <a:rPr sz="900" b="0">
                <a:solidFill>
                  <a:srgbClr val="F5F8FC"/>
                </a:solidFill>
                <a:latin typeface="Arial"/>
              </a:rPr>
              <a:t>docstrings state why, not what the code already says.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10.1  Development Environment &amp; Toolchain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0000"/>
            <a:ext cx="11185835" cy="556666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920" y="1320000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6237" y="1320000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Choice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76666"/>
            <a:ext cx="11185835" cy="55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7920" y="1876666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6237" y="1876666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Python 3.11+ (backend), JavaScript ES2020+ (frontend and extension)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33332"/>
            <a:ext cx="11185835" cy="556666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920" y="2433332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Web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6237" y="2433332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FastAPI with Uvicorn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89998"/>
            <a:ext cx="11185835" cy="55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7920" y="2989998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Data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6237" y="2989998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SQLAlchemy 2 ORM; SQLite by default, PostgreSQL via DATABASE_URL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46664"/>
            <a:ext cx="11185835" cy="556666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920" y="3546664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6237" y="3546664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Pydantic 2 models in schemas.py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103330"/>
            <a:ext cx="11185835" cy="55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7920" y="4103330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Key libraries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6237" y="4103330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tldextract · python-whois · requests · python-dotenv · email-validator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659996"/>
            <a:ext cx="11185835" cy="556666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7920" y="4659996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Frontend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6237" y="4659996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HTML5, CSS3 and vanilla JavaScript (no build step, no framework)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216662"/>
            <a:ext cx="11185835" cy="55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7920" y="5216662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Extension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06237" y="5216662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Chrome Manifest V3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773328"/>
            <a:ext cx="11185835" cy="556666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7920" y="5773328"/>
            <a:ext cx="27483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30CDDC"/>
                </a:solidFill>
                <a:latin typeface="Arial"/>
              </a:rPr>
              <a:t>Version control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06237" y="5773328"/>
            <a:ext cx="8117517" cy="55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Arial"/>
              </a:rPr>
              <a:t>Git; single main branch with feature work reviewed as commits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10.2  UI &amp; Screen Layout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6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Arial"/>
              </a:rPr>
              <a:t>The dashboard is a multi-page application; each screen is a standalone HTML file with a shared JS-injected header/footer, a dark cyber theme and a card-based layout: toolbar card → controls → results card with score ring, verdict badge and itemised findings.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30000"/>
            <a:ext cx="11185835" cy="390909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920" y="2030000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936" y="2030000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7386" y="2030000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Purpose &amp; key layout elements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20909"/>
            <a:ext cx="11185835" cy="390909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920" y="2420909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Entry splash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3936" y="2420909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index.html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7386" y="2420909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Routes the visitor to login or the scanner; hero panel with primary call-to-action buttons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11818"/>
            <a:ext cx="11185835" cy="390909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920" y="2811818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Login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3936" y="2811818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login.html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7386" y="2811818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Username/email and password sign-in; centred auth card, inline validation, error banner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02727"/>
            <a:ext cx="11185835" cy="390909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920" y="3202727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Register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63936" y="3202727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register.html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7386" y="3202727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Create an account; auth card with username, email and password rules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93636"/>
            <a:ext cx="11185835" cy="390909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7920" y="3593636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Scanner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3936" y="3593636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scanner.html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7386" y="3593636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Single and bulk URL scanning; URL toolbar, score ring, verdict badge, colour-coded finding cards, bulk table with CSV export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984545"/>
            <a:ext cx="11185835" cy="390909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920" y="3984545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Phishing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63936" y="3984545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phishing.html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7386" y="3984545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Five-tool kit in tabs: content analysis, link inspection, header analysis, sender reputation and watchlist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375454"/>
            <a:ext cx="11185835" cy="390909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7920" y="4375454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Learn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63936" y="4375454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learn.html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7386" y="4375454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Security education: worked example cards plus an interactive quiz with scoring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66363"/>
            <a:ext cx="11185835" cy="390909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7920" y="4766363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History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63936" y="4766363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history.html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7386" y="4766363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Past scans and analyses; card grid with search, verdict filters and detail expansion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57272"/>
            <a:ext cx="11185835" cy="390909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7920" y="5157272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Threat Intel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3936" y="5157272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intel.html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7386" y="5157272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Configured providers and verdict feed; provider status cards plus a live verdict feed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48181"/>
            <a:ext cx="11185835" cy="390909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7920" y="5548181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Profile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3936" y="5548181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profile.html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7386" y="5548181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Account details, activity stats and trends; profile form, stat tiles and a 30-day trend 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9090"/>
            <a:ext cx="11185835" cy="390909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7920" y="5939090"/>
            <a:ext cx="1406016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Admin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63936" y="5939090"/>
            <a:ext cx="1853450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admin.html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7386" y="5939090"/>
            <a:ext cx="7446367" cy="3909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Platform administration; global stat tiles, user table (promote/demote/delete) and cross-user scans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10.2  Interaction Design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5502917" cy="1995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480000"/>
            <a:ext cx="5142917" cy="167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PROGRESSIVE DISCLOSURE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The score and verdict are shown first; the itemised findings, raw metadata and threat-intel sections expand only when opened, keeping the first view readable.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837" y="1320000"/>
            <a:ext cx="5502917" cy="1995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5837" y="1480000"/>
            <a:ext cx="5142917" cy="167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CONSISTENT FEEDBACK STATES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Every action shows a loading state, a success result or an explicit error; a scan that partially degrades (e.g. WHOIS timeout) still renders with the available signals.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95000"/>
            <a:ext cx="5502917" cy="1995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920" y="3655000"/>
            <a:ext cx="5142917" cy="167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ACCESSIBLE COLOUR SEMANTICS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Verdicts use green/amber/orange/red in addition to text labels, so colour is never the only signal.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837" y="3495000"/>
            <a:ext cx="5502917" cy="1995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37" y="3655000"/>
            <a:ext cx="5142917" cy="167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RESPONSIVE LAYOUT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The card and grid layout reflows from desktop to mobile without JavaScript framework dependencies.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670000"/>
            <a:ext cx="11185835" cy="66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920" y="5670000"/>
            <a:ext cx="10825835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Arial"/>
              </a:rPr>
              <a:t>Each screen is a standalone HTML file with a shared JavaScript-injected header and footer (static/js/app.js), a dark cyber theme (static/css/style.css) and a card-based layout: toolbar card → controls → results card with score ring, verdict badge and itemised findings.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10.3  Core Functionalities &amp; Modules — Backend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0000"/>
            <a:ext cx="11185835" cy="455454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920" y="1320000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Service module (backend/app/services)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9953" y="1320000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Responsibility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775454"/>
            <a:ext cx="11185835" cy="455454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7920" y="1775454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scanner.py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9953" y="1775454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Pipeline orchestrator: parse, heuristics, parallel metadata, threat intel, scoring and persistence.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30908"/>
            <a:ext cx="11185835" cy="455454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920" y="2230908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url_parser.py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953" y="2230908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URL normalization and parsing (scheme, registrable domain, subdomains, TLD) using tldextract.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86362"/>
            <a:ext cx="11185835" cy="455454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7920" y="2686362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heuristics.py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9953" y="2686362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Offline detection: typosquatting (Levenshtein), Shannon entropy, suspicious TLDs, IP-literal URLs, hyphens and subdomain counts.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41816"/>
            <a:ext cx="11185835" cy="455454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920" y="3141816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metadata.py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9953" y="3141816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WHOIS domain age, TLS certificate inspection and HTTP status + redirect chain; concurrent thread pool; enforces SSRF blocking.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597270"/>
            <a:ext cx="11185835" cy="455454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7920" y="3597270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threat_intel.py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29953" y="3597270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Optional VirusTotal, Google Safe Browsing and PhishTank clients; each degrades gracefully when unconfigured.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052724"/>
            <a:ext cx="11185835" cy="455454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7920" y="4052724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risk_scoring.py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29953" y="4052724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Additive 0–100 safety score; every deduction returned with a human-readable reason and severity.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08178"/>
            <a:ext cx="11185835" cy="455454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7920" y="4508178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phishing_analyzer.py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29953" y="4508178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Rule-based content engine: urgency, threats, financial bait, credential requests, header anomalies and risky links.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963632"/>
            <a:ext cx="11185835" cy="455454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7920" y="4963632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watchlist.py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9953" y="4963632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Matches submitted content against the user's saved senders, domains and URLs.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419086"/>
            <a:ext cx="11185835" cy="455454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7920" y="5419086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security.py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29953" y="5419086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PBKDF2-HMAC-SHA256 password hashing and token generation/validation.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874540"/>
            <a:ext cx="11185835" cy="455454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7920" y="5874540"/>
            <a:ext cx="2972033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rate_limit.py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29953" y="5874540"/>
            <a:ext cx="7893801" cy="4554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In-memory sliding-window limiter for login, registration, scan and tool routes.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10.3  API, Frontend &amp; Extension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3608611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480000"/>
            <a:ext cx="3248611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API MODULES (10 ROUTERS · 33 ENDPOINTS)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auth, users, intel, scanner, phishing, tools, history, admin, audit, webhooks.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Authentication — register, login (username or email), logout, profile read/update and password change; bearer-token protected.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Scanning — POST /api/scan-url and POST /api/scan-bulk (up to 25 URLs with bounded parallelism and per-URL failure isolation).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Phishing — content analysis plus link inspection, raw-header spoofing analysis, sender reputation and a personal watchlist.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Reporting — per-user statistics, consolidated activity report (HTML/CSV/JSON), intel status and feed, and admin statistics.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31" y="1320000"/>
            <a:ext cx="3608611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531" y="1480000"/>
            <a:ext cx="3248611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FRONTEND MODULES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Shared shell, authentication gating and API client in app.js.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Dark cyber theme in static/css/style.css with a card-based layout.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Per-page controllers under static/js/pages/: auth, scanner, phishing, phishing-tools, history, intel, learn, profile, admin.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No build step and no framework — plain HTML5, CSS3 and vanilla JavaScript.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0142" y="1320000"/>
            <a:ext cx="3608611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142" y="1480000"/>
            <a:ext cx="3248611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BROWSER EXTENSION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Manifest V3 extension for in-browser scanning.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Toolbar popup with a score ring and verdict badge.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Context-menu scans for the page, a link or the current selection.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Colour-coded toolbar badge reflecting the verdict.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F5F8FC"/>
                </a:solidFill>
                <a:latin typeface="Arial"/>
              </a:rPr>
              <a:t>Full-report tabs and a settings page that validates the server connection on sign-in.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10.4  System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4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2D3EE"/>
                </a:solidFill>
                <a:latin typeface="Arial"/>
              </a:rPr>
              <a:t>Integration was performed from the outside in: external providers first, then the internal pipeline, then the clients.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10000"/>
            <a:ext cx="11185835" cy="617142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920" y="2010000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9511" y="2010000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Mechanism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6853" y="2010000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Failure behaviour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627142"/>
            <a:ext cx="11185835" cy="617142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920" y="2627142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Frontend →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9511" y="2627142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fetch with a bearer token from localStorage; JSON request/response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6853" y="2627142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Token expiry (401) re-routes the user to login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4284"/>
            <a:ext cx="11185835" cy="617142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920" y="3244284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Extension →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9511" y="3244284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Same REST API via the configured server URL and stored credentials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6853" y="3244284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Badge shows an error state; settings validate on sign-in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61426"/>
            <a:ext cx="11185835" cy="617142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920" y="3861426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Scanner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9511" y="3861426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Async orchestrator; blocking WHOIS/TLS/HTTP work dispatched to a thread pool and run in parallel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6853" y="3861426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Per-signal timeout; full scan capped by MAX_SCAN_SECONDS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78568"/>
            <a:ext cx="11185835" cy="617142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7920" y="4478568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Threat intel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99511" y="4478568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Optional HTTP clients selected by the presence of API keys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6853" y="4478568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Unconfigured or failing providers marked unavailable and skipped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95710"/>
            <a:ext cx="11185835" cy="617142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920" y="5095710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Persistence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9511" y="5095710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SQLAlchemy session per request; scan and analysis reports saved as JSON snapshots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56853" y="5095710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Report still returned if history persistence is the only failure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712852"/>
            <a:ext cx="11185835" cy="617142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7920" y="5712852"/>
            <a:ext cx="1741591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0CDDC"/>
                </a:solidFill>
                <a:latin typeface="Arial"/>
              </a:rPr>
              <a:t>Admin and audit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9511" y="5712852"/>
            <a:ext cx="5097342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Admin routes guarded by an admin dependency; actions written to audit_log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56853" y="5712852"/>
            <a:ext cx="3866900" cy="617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E2E8F0"/>
                </a:solidFill>
                <a:latin typeface="Arial"/>
              </a:rPr>
              <a:t>Non-admins receive 403; audit failure never blocks the action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10 · DEVELOPMENT 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10.4  End-to-End Request Path &amp; Integration Debt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6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2D3EE"/>
                </a:solidFill>
                <a:latin typeface="Arial"/>
              </a:rPr>
              <a:t>dashboard / extension   →   FastAPI   →   authentication   →   scan or analysis service   →   SQLAlchemy   →   SQLite / PostgreSQL   →   JSON response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50000"/>
            <a:ext cx="11185835" cy="99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2920" y="2210000"/>
            <a:ext cx="10825835" cy="6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WHAT A URL SCAN DOES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F5F8FC"/>
                </a:solidFill>
                <a:latin typeface="Arial"/>
              </a:rPr>
              <a:t>It normalizes the URL, applies offline heuristics, runs WHOIS, TLS and HTTP inspection in parallel, calls any configured threat-intel providers, combines all findings into the 0–100 safety score and verdict, persists the report and returns the full itemised breakdown.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10000"/>
            <a:ext cx="11185835" cy="312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920" y="3370000"/>
            <a:ext cx="10825835" cy="2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INTEGRATION NOTES CARRIED FORWARD (TREATED AS INTEGRATION DEBT)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Bulk scanning does not yet charge the per-user limiter per URL.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SQLite foreign keys are not enabled per connection.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The declared anonymised-history delete policy and the admin delete route disagree.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The api_keys and webhooks tables have CRUD routes but are not yet invoked by the scan flow.</a:t>
            </a:r>
          </a:p>
          <a:p>
            <a:pPr algn="l">
              <a:spcAft>
                <a:spcPts val="500"/>
              </a:spcAft>
            </a:pPr>
            <a:r>
              <a:rPr sz="950" b="0">
                <a:solidFill>
                  <a:srgbClr val="F5F8FC"/>
                </a:solidFill>
                <a:latin typeface="Arial"/>
              </a:rPr>
              <a:t>These are tracked again in section 12 (Future Enhancements) rather than hidden.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11 · TESTING &amp; REPORT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11.1  Automated E2E Cases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4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Arial"/>
              </a:rPr>
              <a:t>backend/test_e2e.py is a dependency-free smoke test that drives the running server over HTTP using urllib; it registers a unique throwaway user and asserts with a check() helper — any failed assertion exits non-zero.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10000"/>
            <a:ext cx="11185835" cy="332307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920" y="2010000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2786" y="2010000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Test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2961" y="2010000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569" y="2010000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Expected 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42307"/>
            <a:ext cx="11185835" cy="332307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920" y="2342307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2786" y="2342307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Register new account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2961" y="2342307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Unique username, email, strong password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80569" y="2342307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200 with token and matching user record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74614"/>
            <a:ext cx="11185835" cy="332307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920" y="2674614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92786" y="2674614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Reject duplicate registration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2961" y="2674614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Same username/email again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80569" y="2674614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409 Conflict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06921"/>
            <a:ext cx="11185835" cy="332307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7920" y="3006921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2786" y="3006921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Login by email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2961" y="3006921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Email plus correct password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0569" y="3006921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200 with a fresh token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339228"/>
            <a:ext cx="11185835" cy="332307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920" y="3339228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2786" y="3339228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Reject wrong password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2961" y="3339228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Username plus wrong password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80569" y="3339228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401 Unauthorized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671535"/>
            <a:ext cx="11185835" cy="332307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7920" y="3671535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92786" y="3671535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Fetch own profile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2961" y="3671535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GET /api/auth/me with token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80569" y="3671535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200 with registered email and username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003842"/>
            <a:ext cx="11185835" cy="332307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7920" y="4003842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92786" y="4003842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Reject unauthenticated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12961" y="4003842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GET /api/history with no token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80569" y="4003842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401 Unauthorized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336149"/>
            <a:ext cx="11185835" cy="332307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7920" y="4336149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92786" y="4336149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Scan a safe URL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12961" y="4336149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https://example.com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80569" y="4336149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Score &gt;= 85, verdict SAFE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68456"/>
            <a:ext cx="11185835" cy="332307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7920" y="4668456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92786" y="4668456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Safely resolved metadata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2961" y="4668456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Same scan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80569" y="4668456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WHOIS available, TLS valid, HTTP 200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000763"/>
            <a:ext cx="11185835" cy="332307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920" y="5000763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2786" y="5000763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Persist scan with owner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12961" y="5000763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Same scan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80569" y="5000763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Numeric scan_id returned and stored against the user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333070"/>
            <a:ext cx="11185835" cy="332307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7920" y="5333070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92786" y="5333070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Scan a typosquat URL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12961" y="5333070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http://paypal-account-verify.tk/login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80569" y="5333070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Score &lt; 40, verdict DANGEROUS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5665377"/>
            <a:ext cx="11185835" cy="332307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7920" y="5665377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92786" y="5665377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Detect typosquatting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12961" y="5665377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Same scan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80569" y="5665377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Finding labelled Typosquat is present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5997684"/>
            <a:ext cx="11185835" cy="332307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7920" y="5997684"/>
            <a:ext cx="734866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92786" y="5997684"/>
            <a:ext cx="2860175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Detect suspicious TLD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12961" y="5997684"/>
            <a:ext cx="3307608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Same scan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80569" y="5997684"/>
            <a:ext cx="3643183" cy="3323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Finding labelled Suspicious TLD is present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11 · TESTING &amp; REPORT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11.1  Automated E2E Cases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0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22D3EE"/>
                </a:solidFill>
                <a:latin typeface="Arial"/>
              </a:rPr>
              <a:t>All 23 automated cases (TC-01 to TC-23) passed; the suite printed OK per assertion and finished with ALL TESTS PASSED and exit status 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70000"/>
            <a:ext cx="11185835" cy="363333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920" y="1970000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2786" y="1970000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Test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678" y="1970000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28" y="1970000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Expected 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3333"/>
            <a:ext cx="11185835" cy="363333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920" y="2333333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2786" y="2333333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Block SSRF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678" y="2333333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http://127.0.0.1:8000/api/health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28" y="2333333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Loopback/internal address refused before fetching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96666"/>
            <a:ext cx="11185835" cy="363333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920" y="2696666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92786" y="2696666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Flag a phishing email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678" y="2696666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Urgency + credential bait + spoofed sender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28" y="2696666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Verdict PHISHING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59999"/>
            <a:ext cx="11185835" cy="363333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7920" y="3059999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2786" y="3059999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Do not flag a benign message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678" y="3059999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Order confirmation SMS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28" y="3059999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Verdict SAFE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423332"/>
            <a:ext cx="11185835" cy="363333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920" y="3423332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2786" y="3423332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List user 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36678" y="3423332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GET /api/history?limit=10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28" y="3423332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total &gt;= 2, rows scoped to the user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786665"/>
            <a:ext cx="11185835" cy="363333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7920" y="3786665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92786" y="3786665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Aggregate user statistics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6678" y="3786665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GET /api/users/stats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28" y="3786665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Scan and analysis counts match activity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49998"/>
            <a:ext cx="11185835" cy="363333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7920" y="4149998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92786" y="4149998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Threat-intel 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36678" y="4149998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GET /api/intel/status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28" y="4149998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Keys exactly virustotal, google_safe_browsing, phishtank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513331"/>
            <a:ext cx="11185835" cy="363333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7920" y="4513331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92786" y="4513331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Threat-intel feed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36678" y="4513331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GET /api/intel/feed?limit=10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2428" y="4513331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total &gt;= 2 with a feed array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876664"/>
            <a:ext cx="11185835" cy="363333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7920" y="4876664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92786" y="4876664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Update profile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36678" y="4876664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PUT /api/auth/me with a display name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92428" y="4876664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200, value persisted on re-read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239997"/>
            <a:ext cx="11185835" cy="363333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920" y="5239997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2786" y="5239997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Change password revokes sessions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36678" y="5239997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Correct current password plus a new one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92428" y="5239997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Old token now returns 401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603330"/>
            <a:ext cx="11185835" cy="363333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7920" y="5603330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92786" y="5603330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Login with new password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36678" y="5603330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Username plus new password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2428" y="5603330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200 with a token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5966663"/>
            <a:ext cx="11185835" cy="363333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7920" y="5966663"/>
            <a:ext cx="734866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TC-23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92786" y="5966663"/>
            <a:ext cx="3083892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Logout invalidates token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36678" y="5966663"/>
            <a:ext cx="3195750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POST /api/auth/logout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92428" y="5966663"/>
            <a:ext cx="3531325" cy="363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Reusing the token returns 401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11 · TESTING &amp; REPORT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11.1  Manual &amp; Exploratory Test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6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2D3EE"/>
                </a:solidFill>
                <a:latin typeface="Arial"/>
              </a:rPr>
              <a:t>Verified 4 Oct 2026 — all 23 automated cases passed (ALL TESTS PASSED, exit 0). A clean-environment run exposed one packaging defect: httpx was imported by the webhooks router but missing from requirements.txt; it has since been added.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20000"/>
            <a:ext cx="11185835" cy="331538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920" y="2020000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2786" y="2020000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2519" y="2020000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Test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6853" y="2020000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Expected result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51538"/>
            <a:ext cx="11185835" cy="331538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920" y="2351538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2786" y="2351538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Input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2519" y="2351538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Empty URL, non-URL string and over-length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6853" y="2351538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Validation error, no scan performed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83076"/>
            <a:ext cx="11185835" cy="331538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920" y="2683076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92786" y="2683076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Bulk 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82519" y="2683076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Mixed batch including one invalid URL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6853" y="2683076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Valid URLs return results; invalid entry reports its own error; batch does not fail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14614"/>
            <a:ext cx="11185835" cy="331538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7920" y="3014614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2786" y="3014614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Rate limiting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82519" y="3014614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Exceed the login attempt window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6853" y="3014614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Subsequent attempts are throttled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346152"/>
            <a:ext cx="11185835" cy="331538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920" y="3346152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2786" y="3346152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Authorization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82519" y="3346152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Request admin endpoints as a normal user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6853" y="3346152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403 Forbidden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677690"/>
            <a:ext cx="11185835" cy="331538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7920" y="3677690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92786" y="3677690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Degraded providers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82519" y="3677690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Run with no API keys configured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6853" y="3677690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Scan still completes with heuristics and metadata only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009228"/>
            <a:ext cx="11185835" cy="331538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7920" y="4009228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92786" y="4009228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Provider 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82519" y="4009228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Point WHOIS at an unresponsive server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6853" y="4009228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Scan completes with an informational finding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340766"/>
            <a:ext cx="11185835" cy="331538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7920" y="4340766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92786" y="4340766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Header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82519" y="4340766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Reply-To/Return-Path mismatch and failed SPF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56853" y="4340766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Spoofing flags reported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72304"/>
            <a:ext cx="11185835" cy="331538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7920" y="4672304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92786" y="4672304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Watchlist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519" y="4672304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Add a sender, then analyse text containing 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56853" y="4672304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Watchlist match surfaced in the analysis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003842"/>
            <a:ext cx="11185835" cy="331538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920" y="5003842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92786" y="5003842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History isolation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82519" y="5003842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Sign in as two users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56853" y="5003842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Each sees only their own scans and analyses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335380"/>
            <a:ext cx="11185835" cy="331538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7920" y="5335380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92786" y="5335380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Responsive UI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82519" y="5335380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Open every screen at desktop and mobile widths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56853" y="5335380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Layout reflows; no horizontal overflow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5666918"/>
            <a:ext cx="11185835" cy="331538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97920" y="5666918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92786" y="5666918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Extension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82519" y="5666918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Load unpacked, sign in, scan tab and context-menu link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56853" y="5666918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Score ring, badge colour and report tab render correctly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5998456"/>
            <a:ext cx="11185835" cy="331538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7920" y="5998456"/>
            <a:ext cx="734866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>
                <a:solidFill>
                  <a:srgbClr val="30CDDC"/>
                </a:solidFill>
                <a:latin typeface="Arial"/>
              </a:rPr>
              <a:t>MT-12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92786" y="5998456"/>
            <a:ext cx="1629733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Report export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82519" y="5998456"/>
            <a:ext cx="4314334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Download the activity report as HTML, CSV and JSON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56853" y="5998456"/>
            <a:ext cx="3866900" cy="3315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E2E8F0"/>
                </a:solidFill>
                <a:latin typeface="Arial"/>
              </a:rPr>
              <a:t>All three open and contain the user's data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11 · TESTING &amp; REPORT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11.2  System Report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11185835" cy="560000"/>
          </a:xfrm>
          <a:prstGeom prst="roundRect">
            <a:avLst>
              <a:gd name="adj" fmla="val 8000"/>
            </a:avLst>
          </a:prstGeom>
          <a:solidFill>
            <a:srgbClr val="0E2A38"/>
          </a:solidFill>
          <a:ln w="9525">
            <a:solidFill>
              <a:srgbClr val="0E74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320000"/>
            <a:ext cx="10825835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Arial"/>
              </a:rPr>
              <a:t>ThreatLens produces reports at three levels; they are stored as immutable JSON snapshots in the scans and phishing_analyses tables, so a past report stays reproducible even if detection rules change later.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30000"/>
            <a:ext cx="11185835" cy="716666"/>
          </a:xfrm>
          <a:prstGeom prst="rect">
            <a:avLst/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7920" y="2030000"/>
            <a:ext cx="1741591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99511" y="2030000"/>
            <a:ext cx="3531325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836" y="2030000"/>
            <a:ext cx="5432917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Contents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46666"/>
            <a:ext cx="11185835" cy="71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920" y="2746666"/>
            <a:ext cx="1741591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Per-scan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9511" y="2746666"/>
            <a:ext cx="3531325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Every POST /api/scan-url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836" y="2746666"/>
            <a:ext cx="5432917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Normalized request, 0–100 score, verdict, category totals, itemised findings with points and severity, metadata (WHOIS/TLS/HTTP), provider results and elapsed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63332"/>
            <a:ext cx="11185835" cy="716666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920" y="3463332"/>
            <a:ext cx="1741591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Per-phishing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9511" y="3463332"/>
            <a:ext cx="3531325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Every POST /api/analyze-phishing and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836" y="3463332"/>
            <a:ext cx="5432917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Phishing score, verdict, confidence, itemised flags, matched keyword groups and watchlist matches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179998"/>
            <a:ext cx="11185835" cy="71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920" y="4179998"/>
            <a:ext cx="1741591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User activity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99511" y="4179998"/>
            <a:ext cx="3531325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GET /api/users/report, downloadable in HTML, CSV and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836" y="4179998"/>
            <a:ext cx="5432917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Profile, summary statistics, scan list and phishing list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96664"/>
            <a:ext cx="11185835" cy="716666"/>
          </a:xfrm>
          <a:prstGeom prst="rect">
            <a:avLst/>
          </a:prstGeom>
          <a:solidFill>
            <a:srgbClr val="0E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7920" y="4896664"/>
            <a:ext cx="1741591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Platform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99511" y="4896664"/>
            <a:ext cx="3531325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Admin GET /api/admin/stats and GET /api/admin/users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836" y="4896664"/>
            <a:ext cx="5432917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Global scan/user/verdict totals and per-user activity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613330"/>
            <a:ext cx="11185835" cy="716666"/>
          </a:xfrm>
          <a:prstGeom prst="rect">
            <a:avLst/>
          </a:prstGeom>
          <a:solidFill>
            <a:srgbClr val="11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920" y="5613330"/>
            <a:ext cx="1741591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CDDC"/>
                </a:solidFill>
                <a:latin typeface="Arial"/>
              </a:rPr>
              <a:t>Document reports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9511" y="5613330"/>
            <a:ext cx="3531325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Offline scripts generate_pdf.py and generate_siem_pdf.py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0836" y="5613330"/>
            <a:ext cx="5432917" cy="716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E2E8F0"/>
                </a:solidFill>
                <a:latin typeface="Arial"/>
              </a:rPr>
              <a:t>The system-design document and the SIEM correlation-rules report as PDFs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12 · 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12.  Future Enhancements — Detection &amp;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5502917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480000"/>
            <a:ext cx="5142917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DETECTION AND INTELLIGENCE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  Machine-learning phishing classifier — </a:t>
            </a:r>
            <a:r>
              <a:rPr sz="950" b="0">
                <a:solidFill>
                  <a:srgbClr val="F5F8FC"/>
                </a:solidFill>
                <a:latin typeface="Arial"/>
              </a:rPr>
              <a:t>layer a fine-tuned DistilBERT model over the rule engine to catch novel wording, keeping the rule engine as an explainable fallback.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2  Additional reputation feeds — </a:t>
            </a:r>
            <a:r>
              <a:rPr sz="950" b="0">
                <a:solidFill>
                  <a:srgbClr val="F5F8FC"/>
                </a:solidFill>
                <a:latin typeface="Arial"/>
              </a:rPr>
              <a:t>integrate AbuseIPDB and AlienVault OTX for IP and domain reputation, plus domain-age and certificate-transparency checks.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3  Image and QR analysis — </a:t>
            </a:r>
            <a:r>
              <a:rPr sz="950" b="0">
                <a:solidFill>
                  <a:srgbClr val="F5F8FC"/>
                </a:solidFill>
                <a:latin typeface="Arial"/>
              </a:rPr>
              <a:t>detect brand-logo spoofing in screenshots and decode QR-code 'quishing' links.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4  URL reputation caching and scheduled re-scans — </a:t>
            </a:r>
            <a:r>
              <a:rPr sz="950" b="0">
                <a:solidFill>
                  <a:srgbClr val="F5F8FC"/>
                </a:solidFill>
                <a:latin typeface="Arial"/>
              </a:rPr>
              <a:t>re-evaluate previously scanned URLs on a schedule and alert when a verdict changes.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837" y="1320000"/>
            <a:ext cx="5502917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5837" y="1480000"/>
            <a:ext cx="5142917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PLATFORM AND INTEGRATION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5  Webhook delivery — </a:t>
            </a:r>
            <a:r>
              <a:rPr sz="950" b="0">
                <a:solidFill>
                  <a:srgbClr val="F5F8FC"/>
                </a:solidFill>
                <a:latin typeface="Arial"/>
              </a:rPr>
              <a:t>invoke the existing fire_webhooks helper from the scan flow so subscriptions receive scan.dangerous events, with retry, signing and SSRF-safe delivery.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6  API-key authentication — </a:t>
            </a:r>
            <a:r>
              <a:rPr sz="950" b="0">
                <a:solidFill>
                  <a:srgbClr val="F5F8FC"/>
                </a:solidFill>
                <a:latin typeface="Arial"/>
              </a:rPr>
              <a:t>implement issue, use and revoke flows for the already-modelled api_keys table so scripts and CI can authenticate without a browser token.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7  Email and Slack notifications — </a:t>
            </a:r>
            <a:r>
              <a:rPr sz="950" b="0">
                <a:solidFill>
                  <a:srgbClr val="F5F8FC"/>
                </a:solidFill>
                <a:latin typeface="Arial"/>
              </a:rPr>
              <a:t>use the configured SMTP settings for alerts on dangerous verdicts and digest emails.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8  Bulk-scan rate limiting — </a:t>
            </a:r>
            <a:r>
              <a:rPr sz="950" b="0">
                <a:solidFill>
                  <a:srgbClr val="F5F8FC"/>
                </a:solidFill>
                <a:latin typeface="Arial"/>
              </a:rPr>
              <a:t>charge the per-user limiter per URL so a batch cannot bypass the intended quota.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12 · 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12.  Future Enhancements — Data, Ops &amp;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0000"/>
            <a:ext cx="5502917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920" y="1480000"/>
            <a:ext cx="5142917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DATA AND OPERATIONS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9  Versioned migrations — </a:t>
            </a:r>
            <a:r>
              <a:rPr sz="950" b="0">
                <a:solidFill>
                  <a:srgbClr val="F5F8FC"/>
                </a:solidFill>
                <a:latin typeface="Arial"/>
              </a:rPr>
              <a:t>adopt Alembic to replace create_all() plus the legacy-column patch, and enforce SQLite foreign keys or move to PostgreSQL with native JSONB.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10  Consistent retention policy — </a:t>
            </a:r>
            <a:r>
              <a:rPr sz="950" b="0">
                <a:solidFill>
                  <a:srgbClr val="F5F8FC"/>
                </a:solidFill>
                <a:latin typeface="Arial"/>
              </a:rPr>
              <a:t>align ORM constraints and the admin delete route on anonymised history (retain operational history, null the actor).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11  Centralised observability — </a:t>
            </a:r>
            <a:r>
              <a:rPr sz="950" b="0">
                <a:solidFill>
                  <a:srgbClr val="F5F8FC"/>
                </a:solidFill>
                <a:latin typeface="Arial"/>
              </a:rPr>
              <a:t>structured logging, metrics and tracing for scan latency, provider failure rates and rate-limit hits.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12  Caching layer — </a:t>
            </a:r>
            <a:r>
              <a:rPr sz="950" b="0">
                <a:solidFill>
                  <a:srgbClr val="F5F8FC"/>
                </a:solidFill>
                <a:latin typeface="Arial"/>
              </a:rPr>
              <a:t>Redis for WHOIS/TLS/HTTP metadata and threat-intel responses to cut scan latency and outbound traffic.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5837" y="1320000"/>
            <a:ext cx="5502917" cy="5010000"/>
          </a:xfrm>
          <a:prstGeom prst="roundRect">
            <a:avLst>
              <a:gd name="adj" fmla="val 4000"/>
            </a:avLst>
          </a:prstGeom>
          <a:solidFill>
            <a:srgbClr val="111B2F"/>
          </a:solidFill>
          <a:ln w="9525">
            <a:solidFill>
              <a:srgbClr val="20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5837" y="1480000"/>
            <a:ext cx="5142917" cy="46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30CDDC"/>
                </a:solidFill>
                <a:latin typeface="Arial"/>
              </a:rPr>
              <a:t>INTERFACE AND EXPERIENCE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13  Role-based access control — </a:t>
            </a:r>
            <a:r>
              <a:rPr sz="950" b="0">
                <a:solidFill>
                  <a:srgbClr val="F5F8FC"/>
                </a:solidFill>
                <a:latin typeface="Arial"/>
              </a:rPr>
              <a:t>extend the binary admin flag to analyst/viewer roles with scoped permissions.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14  Report export expansion — </a:t>
            </a:r>
            <a:r>
              <a:rPr sz="950" b="0">
                <a:solidFill>
                  <a:srgbClr val="F5F8FC"/>
                </a:solidFill>
                <a:latin typeface="Arial"/>
              </a:rPr>
              <a:t>server-side PDF export and scheduled emailed reports.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15  Mobile and PWA support — </a:t>
            </a:r>
            <a:r>
              <a:rPr sz="950" b="0">
                <a:solidFill>
                  <a:srgbClr val="F5F8FC"/>
                </a:solidFill>
                <a:latin typeface="Arial"/>
              </a:rPr>
              <a:t>an installable progressive web app and offline access to recent history.</a:t>
            </a:r>
          </a:p>
          <a:p>
            <a:pPr algn="l">
              <a:spcAft>
                <a:spcPts val="500"/>
              </a:spcAft>
            </a:pPr>
            <a:r>
              <a:rPr sz="950" b="1">
                <a:solidFill>
                  <a:srgbClr val="30CDDC"/>
                </a:solidFill>
                <a:latin typeface="Arial"/>
              </a:rPr>
              <a:t>16  Internationalisation — </a:t>
            </a:r>
            <a:r>
              <a:rPr sz="950" b="0">
                <a:solidFill>
                  <a:srgbClr val="F5F8FC"/>
                </a:solidFill>
                <a:latin typeface="Arial"/>
              </a:rPr>
              <a:t>multi-language UI and locale-aware domain heuristics.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13 ·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13.  References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0000"/>
            <a:ext cx="11185835" cy="50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1.  </a:t>
            </a:r>
            <a:r>
              <a:rPr sz="850" b="0">
                <a:solidFill>
                  <a:srgbClr val="E2E8F0"/>
                </a:solidFill>
                <a:latin typeface="Arial"/>
              </a:rPr>
              <a:t>S. Ramírez, FastAPI Documentation, FastAPI, 2024. https://fastapi.tiangolo.com/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2.  </a:t>
            </a:r>
            <a:r>
              <a:rPr sz="850" b="0">
                <a:solidFill>
                  <a:srgbClr val="E2E8F0"/>
                </a:solidFill>
                <a:latin typeface="Arial"/>
              </a:rPr>
              <a:t>Encode, Uvicorn Documentation, 2024. https://www.uvicorn.org/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3.  </a:t>
            </a:r>
            <a:r>
              <a:rPr sz="850" b="0">
                <a:solidFill>
                  <a:srgbClr val="E2E8F0"/>
                </a:solidFill>
                <a:latin typeface="Arial"/>
              </a:rPr>
              <a:t>SQLAlchemy Authors, SQLAlchemy 2.0 Documentation, 2024. https://docs.sqlalchemy.org/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4.  </a:t>
            </a:r>
            <a:r>
              <a:rPr sz="850" b="0">
                <a:solidFill>
                  <a:srgbClr val="E2E8F0"/>
                </a:solidFill>
                <a:latin typeface="Arial"/>
              </a:rPr>
              <a:t>Pydantic Services Inc., Pydantic V2 Documentation, 2024. https://docs.pydantic.dev/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5.  </a:t>
            </a:r>
            <a:r>
              <a:rPr sz="850" b="0">
                <a:solidFill>
                  <a:srgbClr val="E2E8F0"/>
                </a:solidFill>
                <a:latin typeface="Arial"/>
              </a:rPr>
              <a:t>Python Software Foundation, Python Standard Library — hashlib (PBKDF2-HMAC-SHA256), 2024.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6.  </a:t>
            </a:r>
            <a:r>
              <a:rPr sz="850" b="0">
                <a:solidFill>
                  <a:srgbClr val="E2E8F0"/>
                </a:solidFill>
                <a:latin typeface="Arial"/>
              </a:rPr>
              <a:t>Python Software Foundation, Python Standard Library — sqlite3, 2024. https://docs.python.org/3/library/sqlite3.html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7.  </a:t>
            </a:r>
            <a:r>
              <a:rPr sz="850" b="0">
                <a:solidFill>
                  <a:srgbClr val="E2E8F0"/>
                </a:solidFill>
                <a:latin typeface="Arial"/>
              </a:rPr>
              <a:t>J. Kurkowski, tldextract Documentation, 2024. https://github.com/john-kurkowski/tldextract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8.  </a:t>
            </a:r>
            <a:r>
              <a:rPr sz="850" b="0">
                <a:solidFill>
                  <a:srgbClr val="E2E8F0"/>
                </a:solidFill>
                <a:latin typeface="Arial"/>
              </a:rPr>
              <a:t>python-whois Documentation, 2024. https://pypi.org/project/python-whois/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9.  </a:t>
            </a:r>
            <a:r>
              <a:rPr sz="850" b="0">
                <a:solidFill>
                  <a:srgbClr val="E2E8F0"/>
                </a:solidFill>
                <a:latin typeface="Arial"/>
              </a:rPr>
              <a:t>K. Reitz, Requests: HTTP for Humans, 2024. https://requests.readthedocs.io/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10.  </a:t>
            </a:r>
            <a:r>
              <a:rPr sz="850" b="0">
                <a:solidFill>
                  <a:srgbClr val="E2E8F0"/>
                </a:solidFill>
                <a:latin typeface="Arial"/>
              </a:rPr>
              <a:t>VirusTotal, VirusTotal API v3 Documentation, 2024. https://developers.virustotal.com/reference/overview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11.  </a:t>
            </a:r>
            <a:r>
              <a:rPr sz="850" b="0">
                <a:solidFill>
                  <a:srgbClr val="E2E8F0"/>
                </a:solidFill>
                <a:latin typeface="Arial"/>
              </a:rPr>
              <a:t>Google, Safe Browsing API (v4) Documentation, 2024. https://developers.google.com/safe-browsing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90000"/>
            <a:ext cx="11185835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22D3EE"/>
                </a:solidFill>
                <a:latin typeface="Arial"/>
              </a:rPr>
              <a:t>13 ·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0000"/>
            <a:ext cx="11185835" cy="6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E2E8F0"/>
                </a:solidFill>
                <a:latin typeface="Arial"/>
              </a:rPr>
              <a:t>13.  References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30000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12000"/>
            <a:ext cx="11185835" cy="18288"/>
          </a:xfrm>
          <a:prstGeom prst="rect">
            <a:avLst/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150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9AFCD"/>
                </a:solidFill>
                <a:latin typeface="Arial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65000"/>
            <a:ext cx="60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88A"/>
                </a:solidFill>
                <a:latin typeface="Arial"/>
              </a:rPr>
              <a:t>ThreatLens  •  Threat Detection &amp; URL Scanner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0000"/>
            <a:ext cx="11185835" cy="50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12.  </a:t>
            </a:r>
            <a:r>
              <a:rPr sz="850" b="0">
                <a:solidFill>
                  <a:srgbClr val="E2E8F0"/>
                </a:solidFill>
                <a:latin typeface="Arial"/>
              </a:rPr>
              <a:t>PhishTank, PhishTank Developer Information, 2024. https://phishtank.org/developer_info.php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13.  </a:t>
            </a:r>
            <a:r>
              <a:rPr sz="850" b="0">
                <a:solidFill>
                  <a:srgbClr val="E2E8F0"/>
                </a:solidFill>
                <a:latin typeface="Arial"/>
              </a:rPr>
              <a:t>Google, Chrome Extensions — Manifest V3, Chrome Developers, 2024. https://developer.chrome.com/docs/extensions/mv3/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14.  </a:t>
            </a:r>
            <a:r>
              <a:rPr sz="850" b="0">
                <a:solidFill>
                  <a:srgbClr val="E2E8F0"/>
                </a:solidFill>
                <a:latin typeface="Arial"/>
              </a:rPr>
              <a:t>OWASP Foundation, Server-Side Request Forgery Prevention Cheat Sheet, 2024. https://cheatsheetseries.owasp.org/cheatsheets/Server_Side_Request_Forgery_Prevention_Cheat_Sheet.html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15.  </a:t>
            </a:r>
            <a:r>
              <a:rPr sz="850" b="0">
                <a:solidFill>
                  <a:srgbClr val="E2E8F0"/>
                </a:solidFill>
                <a:latin typeface="Arial"/>
              </a:rPr>
              <a:t>OWASP Foundation, Password Storage Cheat Sheet, 2024. https://cheatsheetseries.owasp.org/cheatsheets/Password_Storage_Cheat_Sheet.html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16.  </a:t>
            </a:r>
            <a:r>
              <a:rPr sz="850" b="0">
                <a:solidFill>
                  <a:srgbClr val="E2E8F0"/>
                </a:solidFill>
                <a:latin typeface="Arial"/>
              </a:rPr>
              <a:t>NIST, Special Publication 800-63B: Digital Identity Guidelines — Authentication and Lifecycle Management, 2017.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17.  </a:t>
            </a:r>
            <a:r>
              <a:rPr sz="850" b="0">
                <a:solidFill>
                  <a:srgbClr val="E2E8F0"/>
                </a:solidFill>
                <a:latin typeface="Arial"/>
              </a:rPr>
              <a:t>V. I. Levenshtein, "Binary codes capable of correcting deletions, insertions, and reversals," Soviet Physics Doklady, vol. 10, no. 8, pp. 707-710, 1966.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18.  </a:t>
            </a:r>
            <a:r>
              <a:rPr sz="850" b="0">
                <a:solidFill>
                  <a:srgbClr val="E2E8F0"/>
                </a:solidFill>
                <a:latin typeface="Arial"/>
              </a:rPr>
              <a:t>C. E. Shannon, "A Mathematical Theory of Communication," Bell System Technical Journal, vol. 27, no. 3, pp. 379-423, 1948.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19.  </a:t>
            </a:r>
            <a:r>
              <a:rPr sz="850" b="0">
                <a:solidFill>
                  <a:srgbClr val="E2E8F0"/>
                </a:solidFill>
                <a:latin typeface="Arial"/>
              </a:rPr>
              <a:t>R. Fielding et al., RFC 9110: HTTP Semantics, IETF, 2022. https://www.rfc-editor.org/rfc/rfc9110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20.  </a:t>
            </a:r>
            <a:r>
              <a:rPr sz="850" b="0">
                <a:solidFill>
                  <a:srgbClr val="E2E8F0"/>
                </a:solidFill>
                <a:latin typeface="Arial"/>
              </a:rPr>
              <a:t>J. Klensin, RFC 5321: Simple Mail Transfer Protocol, IETF, 2008. https://www.rfc-editor.org/rfc/rfc5321</a:t>
            </a:r>
          </a:p>
          <a:p>
            <a:pPr algn="l">
              <a:spcAft>
                <a:spcPts val="700"/>
              </a:spcAft>
            </a:pPr>
            <a:r>
              <a:rPr sz="900" b="1">
                <a:solidFill>
                  <a:srgbClr val="30CDDC"/>
                </a:solidFill>
                <a:latin typeface="Arial"/>
              </a:rPr>
              <a:t>21.  </a:t>
            </a:r>
            <a:r>
              <a:rPr sz="850" b="0">
                <a:solidFill>
                  <a:srgbClr val="E2E8F0"/>
                </a:solidFill>
                <a:latin typeface="Arial"/>
              </a:rPr>
              <a:t>M. Kucherawy and E. Zwicky, RFC 7489: DMARC, IETF, 2015. https://www.rfc-editor.org/rfc/rfc7489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