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1675"/>
  <p:notesSz cx="6858000" cy="9144000"/>
  <p:embeddedFontLst>
    <p:embeddedFont>
      <p:font typeface="Play"/>
      <p:regular r:id="rId32"/>
      <p:bold r:id="rId33"/>
    </p:embeddedFont>
    <p:embeddedFont>
      <p:font typeface="Quattrocento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00C3AB-38B8-4B3B-9B5A-988E169025F8}">
  <a:tblStyle styleId="{CE00C3AB-38B8-4B3B-9B5A-988E169025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lay-bold.fntdata"/><Relationship Id="rId10" Type="http://schemas.openxmlformats.org/officeDocument/2006/relationships/slide" Target="slides/slide4.xml"/><Relationship Id="rId32" Type="http://schemas.openxmlformats.org/officeDocument/2006/relationships/font" Target="fonts/Play-regular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bold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regular.fntdata"/><Relationship Id="rId15" Type="http://schemas.openxmlformats.org/officeDocument/2006/relationships/slide" Target="slides/slide9.xml"/><Relationship Id="rId37" Type="http://schemas.openxmlformats.org/officeDocument/2006/relationships/font" Target="fonts/QuattrocentoSans-boldItalic.fntdata"/><Relationship Id="rId14" Type="http://schemas.openxmlformats.org/officeDocument/2006/relationships/slide" Target="slides/slide8.xml"/><Relationship Id="rId36" Type="http://schemas.openxmlformats.org/officeDocument/2006/relationships/font" Target="fonts/Quattrocento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09c2c2d35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409c2c2d355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409c2c2d35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409c2c2d355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409c2c2d3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409c2c2d3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30345"/>
            <a:ext cx="121917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052559" y="182880"/>
            <a:ext cx="4937760" cy="4937760"/>
          </a:xfrm>
          <a:prstGeom prst="ellipse">
            <a:avLst/>
          </a:prstGeom>
          <a:noFill/>
          <a:ln cap="flat" cmpd="sng" w="17775">
            <a:solidFill>
              <a:srgbClr val="172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9601200" y="786384"/>
            <a:ext cx="3840480" cy="3840480"/>
          </a:xfrm>
          <a:prstGeom prst="ellipse">
            <a:avLst/>
          </a:prstGeom>
          <a:noFill/>
          <a:ln cap="flat" cmpd="sng" w="17775">
            <a:solidFill>
              <a:srgbClr val="172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0149840" y="1389888"/>
            <a:ext cx="2743200" cy="2743200"/>
          </a:xfrm>
          <a:prstGeom prst="ellipse">
            <a:avLst/>
          </a:prstGeom>
          <a:noFill/>
          <a:ln cap="flat" cmpd="sng" w="17775">
            <a:solidFill>
              <a:srgbClr val="172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FINAL PROJECT PRESENTATION  ·  PHASE 1 — PROPOSAL &amp; ANALYSIS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THREATLENS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22960" y="23774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Detection &amp; URL Scanner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841248" y="3154680"/>
            <a:ext cx="2688336" cy="384048"/>
          </a:xfrm>
          <a:prstGeom prst="roundRect">
            <a:avLst>
              <a:gd fmla="val 50000" name="adj"/>
            </a:avLst>
          </a:prstGeom>
          <a:solidFill>
            <a:srgbClr val="16223A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UNIFIED 0–100 RISK SCORE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3694176" y="3154680"/>
            <a:ext cx="1536192" cy="384048"/>
          </a:xfrm>
          <a:prstGeom prst="roundRect">
            <a:avLst>
              <a:gd fmla="val 50000" name="adj"/>
            </a:avLst>
          </a:prstGeom>
          <a:solidFill>
            <a:srgbClr val="16223A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URL SCANNING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5394960" y="3154680"/>
            <a:ext cx="2016252" cy="384048"/>
          </a:xfrm>
          <a:prstGeom prst="roundRect">
            <a:avLst>
              <a:gd fmla="val 50000" name="adj"/>
            </a:avLst>
          </a:prstGeom>
          <a:solidFill>
            <a:srgbClr val="16223A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PHISHING ANALYSIS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7575804" y="3154680"/>
            <a:ext cx="2208276" cy="384048"/>
          </a:xfrm>
          <a:prstGeom prst="roundRect">
            <a:avLst>
              <a:gd fmla="val 50000" name="adj"/>
            </a:avLst>
          </a:prstGeom>
          <a:solidFill>
            <a:srgbClr val="16223A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THREAT INTELLIGENCE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22960" y="3794760"/>
            <a:ext cx="7680960" cy="1371600"/>
          </a:xfrm>
          <a:prstGeom prst="roundRect">
            <a:avLst>
              <a:gd fmla="val 10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38050" y="3849631"/>
            <a:ext cx="105156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Prepared by:  </a:t>
            </a:r>
            <a:endParaRPr b="0" i="0" sz="1250">
              <a:solidFill>
                <a:srgbClr val="94A3B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7975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Quattrocento Sans"/>
              <a:buChar char="●"/>
            </a:pPr>
            <a:r>
              <a:rPr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Apurva Bharoliya</a:t>
            </a:r>
            <a:r>
              <a:rPr b="0" i="0"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</a:t>
            </a:r>
            <a:r>
              <a:rPr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1003</a:t>
            </a:r>
            <a:endParaRPr sz="1250">
              <a:solidFill>
                <a:srgbClr val="94A3B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7975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Quattrocento Sans"/>
              <a:buChar char="●"/>
            </a:pPr>
            <a:r>
              <a:rPr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Minhaz Malek </a:t>
            </a:r>
            <a:r>
              <a:rPr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 1039</a:t>
            </a:r>
            <a:endParaRPr sz="1250">
              <a:solidFill>
                <a:srgbClr val="94A3B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7975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Quattrocento Sans"/>
              <a:buChar char="●"/>
            </a:pPr>
            <a:r>
              <a:rPr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Jeal Rajpal ·  1050</a:t>
            </a:r>
            <a:endParaRPr sz="1250">
              <a:solidFill>
                <a:srgbClr val="94A3B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07975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Quattrocento Sans"/>
              <a:buChar char="●"/>
            </a:pPr>
            <a:r>
              <a:rPr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Priyansh Pal ·  1149</a:t>
            </a:r>
            <a:endParaRPr sz="1250">
              <a:solidFill>
                <a:srgbClr val="94A3B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Course:  </a:t>
            </a:r>
            <a:r>
              <a:rPr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IMCA - 7th </a:t>
            </a:r>
            <a:r>
              <a:rPr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Semester</a:t>
            </a:r>
            <a:r>
              <a:rPr b="0" i="0"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·     Guide:  </a:t>
            </a:r>
            <a:r>
              <a:rPr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Divya Mudaliar </a:t>
            </a:r>
            <a:r>
              <a:rPr b="0" i="0" lang="en-US" sz="12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·     August 2026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1 · INITIAL PROJECT PROPOSAL &amp; PLANNING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Proposal — Idea, Objectives &amp; Scope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THREATLENS  ·  THREAT DETECTION &amp; URL SCANNER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02920" y="1417320"/>
            <a:ext cx="11183112" cy="566928"/>
          </a:xfrm>
          <a:prstGeom prst="roundRect">
            <a:avLst>
              <a:gd fmla="val 14000" name="adj"/>
            </a:avLst>
          </a:prstGeom>
          <a:solidFill>
            <a:srgbClr val="0E2A38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22960" y="15544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The idea:  </a:t>
            </a:r>
            <a:r>
              <a:rPr b="0" i="0" lang="en-US" sz="12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turn any URL into an evidence-backed 0–100 risk score with an itemized, explainable breakdown — plus phishing-content analysis, history and a browser extension.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02920" y="2194560"/>
            <a:ext cx="3566160" cy="3977639"/>
          </a:xfrm>
          <a:prstGeom prst="roundRect">
            <a:avLst>
              <a:gd fmla="val 7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731520" y="239572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MOTIVATION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31520" y="2788920"/>
            <a:ext cx="31089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Phishing &amp; malicious URLs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 a top initial-access vector for breaches.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Look-alike domains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 indistinguishable to the human eye.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signals are scattered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across WHOIS, SSL, blocklist and AV tools.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Verdicts are opaque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users cannot see why a link was flagged.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4306824" y="2194560"/>
            <a:ext cx="3566160" cy="3977639"/>
          </a:xfrm>
          <a:prstGeom prst="roundRect">
            <a:avLst>
              <a:gd fmla="val 7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4535424" y="239572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OBJECTIVES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535424" y="2788920"/>
            <a:ext cx="31089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Unified 0–100 score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human-readable findings.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Five-stage scan pipeline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parse → heuristics → metadata → intel → score.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Phishing analysis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email / SMS / text, headers and embedded links.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History, watchlist, bulk scan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a Chrome extension.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8110727" y="2194560"/>
            <a:ext cx="3566160" cy="3977639"/>
          </a:xfrm>
          <a:prstGeom prst="roundRect">
            <a:avLst>
              <a:gd fmla="val 7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8339327" y="239572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SCOPE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339327" y="2788920"/>
            <a:ext cx="31089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IN: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URL scanning, phishing lab, auth, admin, history, watchlist, bulk &amp; extension.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OUT: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training, file sandboxing, SMTP integration, mobile apps, public SaaS.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/>
        </p:nvSpPr>
        <p:spPr>
          <a:xfrm>
            <a:off x="502920" y="201168"/>
            <a:ext cx="10698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0CDDC"/>
                </a:solidFill>
                <a:latin typeface="Calibri"/>
                <a:ea typeface="Calibri"/>
                <a:cs typeface="Calibri"/>
                <a:sym typeface="Calibri"/>
              </a:rPr>
              <a:t>2 · STUDENTS FINALIZE PROJECT TITLE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Finalized Project Title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02920" y="1069848"/>
            <a:ext cx="11109960" cy="22860"/>
          </a:xfrm>
          <a:prstGeom prst="rect">
            <a:avLst/>
          </a:prstGeom>
          <a:solidFill>
            <a:srgbClr val="30CD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94360" y="1353312"/>
            <a:ext cx="5349300" cy="4480500"/>
          </a:xfrm>
          <a:prstGeom prst="roundRect">
            <a:avLst>
              <a:gd fmla="val 16667" name="adj"/>
            </a:avLst>
          </a:prstGeom>
          <a:solidFill>
            <a:srgbClr val="122239"/>
          </a:solidFill>
          <a:ln cap="flat" cmpd="sng" w="9525">
            <a:solidFill>
              <a:srgbClr val="2346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73150" lIns="146300" spcFirstLastPara="1" rIns="1097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0">
                <a:solidFill>
                  <a:srgbClr val="30CDDC"/>
                </a:solidFill>
                <a:latin typeface="Calibri"/>
                <a:ea typeface="Calibri"/>
                <a:cs typeface="Calibri"/>
                <a:sym typeface="Calibri"/>
              </a:rPr>
              <a:t>SELECTED TITLE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ThreatLens — Threat Detection &amp; URL Scanner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A concise title that directly represents the system’s scope: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Threat detection for malicious and suspicious URLs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Phishing-content analysis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Threat-intelligence integration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Explainable risk scoring and reporting</a:t>
            </a:r>
            <a:endParaRPr sz="1800"/>
          </a:p>
        </p:txBody>
      </p:sp>
      <p:sp>
        <p:nvSpPr>
          <p:cNvPr id="132" name="Google Shape;132;p15"/>
          <p:cNvSpPr/>
          <p:nvPr/>
        </p:nvSpPr>
        <p:spPr>
          <a:xfrm>
            <a:off x="6172200" y="1353312"/>
            <a:ext cx="5349240" cy="4480560"/>
          </a:xfrm>
          <a:prstGeom prst="roundRect">
            <a:avLst>
              <a:gd fmla="val 16667" name="adj"/>
            </a:avLst>
          </a:prstGeom>
          <a:solidFill>
            <a:srgbClr val="122239"/>
          </a:solidFill>
          <a:ln cap="flat" cmpd="sng" w="9525">
            <a:solidFill>
              <a:srgbClr val="2346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73150" lIns="146300" spcFirstLastPara="1" rIns="1097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0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WHY THIS TITLE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• “ThreatLens” communicates inspection, visibility, and analysis.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• “Threat” covers malicious URLs, phishing content, and intelligence.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• “Lens” reflects the goal of making security evidence understandable.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• The name is consistent across the dashboard, backend, database documentation, and browser extension.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FINAL TITLE: ThreatLens</a:t>
            </a:r>
            <a:endParaRPr sz="1800"/>
          </a:p>
        </p:txBody>
      </p:sp>
      <p:sp>
        <p:nvSpPr>
          <p:cNvPr id="133" name="Google Shape;133;p15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3 · PROBLEM STATEMENT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 the Problem Statement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THREATLENS  ·  THREAT DETECTION &amp; URL SCANNER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02920" y="1463040"/>
            <a:ext cx="11183112" cy="1965960"/>
          </a:xfrm>
          <a:prstGeom prst="roundRect">
            <a:avLst>
              <a:gd fmla="val 7000" name="adj"/>
            </a:avLst>
          </a:prstGeom>
          <a:solidFill>
            <a:srgbClr val="111B2F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914400" y="1691640"/>
            <a:ext cx="731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554480" y="1783080"/>
            <a:ext cx="9784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face an ever-growing wave of phishing and malicious URLs — yet existing tools answer “is this link safe?” with scattered, single-signal verdicts that are slow, opaque and hard to act on. ThreatLens solves this with one transparent, unified 0–100 risk score backed by itemized evidence — plus phishing-content analysis and a personal watchlist.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02920" y="3703320"/>
            <a:ext cx="2697480" cy="1600200"/>
          </a:xfrm>
          <a:prstGeom prst="roundRect">
            <a:avLst>
              <a:gd fmla="val 9000" name="adj"/>
            </a:avLst>
          </a:prstGeom>
          <a:solidFill>
            <a:srgbClr val="16223A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85800" y="388620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WHO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85800" y="4224528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Users, students &amp; analysts who must judge link safety before clicking.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3332988" y="3703320"/>
            <a:ext cx="2697480" cy="1600200"/>
          </a:xfrm>
          <a:prstGeom prst="roundRect">
            <a:avLst>
              <a:gd fmla="val 9000" name="adj"/>
            </a:avLst>
          </a:prstGeom>
          <a:solidFill>
            <a:srgbClr val="16223A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3515868" y="388620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WHAT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3515868" y="4224528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explainable risk score covering URLs and phishing content.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163056" y="3703320"/>
            <a:ext cx="2697480" cy="1600200"/>
          </a:xfrm>
          <a:prstGeom prst="roundRect">
            <a:avLst>
              <a:gd fmla="val 9000" name="adj"/>
            </a:avLst>
          </a:prstGeom>
          <a:solidFill>
            <a:srgbClr val="16223A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6345936" y="388620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WHY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345936" y="4224528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Phishing is a leading initial-access vector; blocklists miss new domains.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8993124" y="3703320"/>
            <a:ext cx="2697480" cy="1600200"/>
          </a:xfrm>
          <a:prstGeom prst="roundRect">
            <a:avLst>
              <a:gd fmla="val 9000" name="adj"/>
            </a:avLst>
          </a:prstGeom>
          <a:solidFill>
            <a:srgbClr val="16223A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9176004" y="388620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HOW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176004" y="4224528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 dashboard + REST API + browser extension over a five-stage pipeline.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02920" y="5623560"/>
            <a:ext cx="11183112" cy="457200"/>
          </a:xfrm>
          <a:prstGeom prst="roundRect">
            <a:avLst>
              <a:gd fmla="val 50000" name="adj"/>
            </a:avLst>
          </a:prstGeom>
          <a:solidFill>
            <a:srgbClr val="0E2A38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777240" y="5715000"/>
            <a:ext cx="10634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WHY IT MATTERS   </a:t>
            </a: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phishing is a leading initial-access vector · look-alike domains evade reactive blocklists · raw WHOIS/SSL/AV data is unreadable to most users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/>
        </p:nvSpPr>
        <p:spPr>
          <a:xfrm>
            <a:off x="502920" y="201168"/>
            <a:ext cx="10698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0CDDC"/>
                </a:solidFill>
                <a:latin typeface="Calibri"/>
                <a:ea typeface="Calibri"/>
                <a:cs typeface="Calibri"/>
                <a:sym typeface="Calibri"/>
              </a:rPr>
              <a:t>4 · CONDUCT SYSTEM ANALYSIS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4.1 — Study the Existing System and Its Limitations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02920" y="1069848"/>
            <a:ext cx="11109960" cy="22860"/>
          </a:xfrm>
          <a:prstGeom prst="rect">
            <a:avLst/>
          </a:prstGeom>
          <a:solidFill>
            <a:srgbClr val="30CD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94360" y="1353312"/>
            <a:ext cx="3429000" cy="4434840"/>
          </a:xfrm>
          <a:prstGeom prst="roundRect">
            <a:avLst>
              <a:gd fmla="val 16667" name="adj"/>
            </a:avLst>
          </a:prstGeom>
          <a:solidFill>
            <a:srgbClr val="122239"/>
          </a:solidFill>
          <a:ln cap="flat" cmpd="sng" w="9525">
            <a:solidFill>
              <a:srgbClr val="2346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73150" lIns="146300" spcFirstLastPara="1" rIns="1097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">
                <a:solidFill>
                  <a:srgbClr val="30CDDC"/>
                </a:solidFill>
                <a:latin typeface="Calibri"/>
                <a:ea typeface="Calibri"/>
                <a:cs typeface="Calibri"/>
                <a:sym typeface="Calibri"/>
              </a:rPr>
              <a:t>BROWSER SAFE BROWSING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Reactive blocklists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Limited explanation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No unified risk score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New threats can evade reactive lists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4370832" y="1353312"/>
            <a:ext cx="3429000" cy="4434840"/>
          </a:xfrm>
          <a:prstGeom prst="roundRect">
            <a:avLst>
              <a:gd fmla="val 16667" name="adj"/>
            </a:avLst>
          </a:prstGeom>
          <a:solidFill>
            <a:srgbClr val="122239"/>
          </a:solidFill>
          <a:ln cap="flat" cmpd="sng" w="9525">
            <a:solidFill>
              <a:srgbClr val="2346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73150" lIns="146300" spcFirstLastPara="1" rIns="1097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">
                <a:solidFill>
                  <a:srgbClr val="30CDDC"/>
                </a:solidFill>
                <a:latin typeface="Calibri"/>
                <a:ea typeface="Calibri"/>
                <a:cs typeface="Calibri"/>
                <a:sym typeface="Calibri"/>
              </a:rPr>
              <a:t>VIRUSTOTAL / MULTI-AV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Raw vendor results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Fragmented signals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Hard for non-experts to interpret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No consolidated user workflow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8147304" y="1353312"/>
            <a:ext cx="3429000" cy="4434840"/>
          </a:xfrm>
          <a:prstGeom prst="roundRect">
            <a:avLst>
              <a:gd fmla="val 16667" name="adj"/>
            </a:avLst>
          </a:prstGeom>
          <a:solidFill>
            <a:srgbClr val="122239"/>
          </a:solidFill>
          <a:ln cap="flat" cmpd="sng" w="9525">
            <a:solidFill>
              <a:srgbClr val="2346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73150" lIns="146300" spcFirstLastPara="1" rIns="1097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">
                <a:solidFill>
                  <a:srgbClr val="30CDDC"/>
                </a:solidFill>
                <a:latin typeface="Calibri"/>
                <a:ea typeface="Calibri"/>
                <a:cs typeface="Calibri"/>
                <a:sym typeface="Calibri"/>
              </a:rPr>
              <a:t>MANUAL / AD-HOC CHECKS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WHOIS / SSL / web searches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Expert-oriented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Single-signal inspection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No structured evidence trail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0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• No history or watchlist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4 · SYSTEM ANALYSIS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4.2  Proposed System — Functionality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THREATLENS  ·  THREAT DETECTION &amp; URL SCANNER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02920" y="1371600"/>
            <a:ext cx="11183112" cy="502920"/>
          </a:xfrm>
          <a:prstGeom prst="roundRect">
            <a:avLst>
              <a:gd fmla="val 14000" name="adj"/>
            </a:avLst>
          </a:prstGeom>
          <a:solidFill>
            <a:srgbClr val="0E2A38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822960" y="14721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Overview:  </a:t>
            </a:r>
            <a:r>
              <a:rPr b="0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full-stack threat-detection platform — FastAPI backend, five-stage scan pipeline, phishing engine, per-user history &amp; watchlist, web dashboard and browser extension.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02920" y="2057400"/>
            <a:ext cx="3566160" cy="1298448"/>
          </a:xfrm>
          <a:prstGeom prst="roundRect">
            <a:avLst>
              <a:gd fmla="val 9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67512" y="2176272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UNIFIED SCORING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67512" y="2496312"/>
            <a:ext cx="3236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Transparent 0–100 score, every deduction itemized &amp; readable.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4306824" y="2057400"/>
            <a:ext cx="3566160" cy="1298448"/>
          </a:xfrm>
          <a:prstGeom prst="roundRect">
            <a:avLst>
              <a:gd fmla="val 9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4471416" y="2176272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URL SCAN PIPELINE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4471416" y="2496312"/>
            <a:ext cx="3236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Parse → heuristics → metadata → intel → score (async, parallel).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8110728" y="2057400"/>
            <a:ext cx="3566160" cy="1298448"/>
          </a:xfrm>
          <a:prstGeom prst="roundRect">
            <a:avLst>
              <a:gd fmla="val 9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8275320" y="2176272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PHISHING LAB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275320" y="2496312"/>
            <a:ext cx="3236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Email/SMS/text analysis, header checks, sender check, link inspection.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502920" y="3502152"/>
            <a:ext cx="3566160" cy="1298448"/>
          </a:xfrm>
          <a:prstGeom prst="roundRect">
            <a:avLst>
              <a:gd fmla="val 9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67512" y="3621024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HISTORY &amp; REPORTS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67512" y="3941064"/>
            <a:ext cx="3236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Persisted scans, filters, stats, full activity report (CSV/JSON/HTML).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4306824" y="3502152"/>
            <a:ext cx="3566160" cy="1298448"/>
          </a:xfrm>
          <a:prstGeom prst="roundRect">
            <a:avLst>
              <a:gd fmla="val 9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4471416" y="3621024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WATCHLIST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4471416" y="3941064"/>
            <a:ext cx="3236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Save senders / domains / URLs; auto-alert on new matches.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8110728" y="3502152"/>
            <a:ext cx="3566160" cy="1298448"/>
          </a:xfrm>
          <a:prstGeom prst="roundRect">
            <a:avLst>
              <a:gd fmla="val 9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8275320" y="3621024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THREAT INTELLIGENCE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275320" y="3941064"/>
            <a:ext cx="3236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VirusTotal, Safe Browsing, PhishTank — optional, degrade gracefully.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975207" y="5212080"/>
            <a:ext cx="1828800" cy="777240"/>
          </a:xfrm>
          <a:prstGeom prst="roundRect">
            <a:avLst>
              <a:gd fmla="val 10000" name="adj"/>
            </a:avLst>
          </a:prstGeom>
          <a:solidFill>
            <a:srgbClr val="111B2F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97520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1103223" y="529437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1 · PARSE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1103223" y="562356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tldextract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2822295" y="5458968"/>
            <a:ext cx="237744" cy="274320"/>
          </a:xfrm>
          <a:prstGeom prst="chevron">
            <a:avLst>
              <a:gd fmla="val 50000" name="adj"/>
            </a:avLst>
          </a:prstGeom>
          <a:solidFill>
            <a:srgbClr val="0E74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3078327" y="5212080"/>
            <a:ext cx="1828800" cy="777240"/>
          </a:xfrm>
          <a:prstGeom prst="roundRect">
            <a:avLst>
              <a:gd fmla="val 10000" name="adj"/>
            </a:avLst>
          </a:prstGeom>
          <a:solidFill>
            <a:srgbClr val="111B2F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07832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3206343" y="529437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2 · HEURISTICS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3206343" y="562356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typosquat · entropy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4925415" y="5458968"/>
            <a:ext cx="237744" cy="274320"/>
          </a:xfrm>
          <a:prstGeom prst="chevron">
            <a:avLst>
              <a:gd fmla="val 50000" name="adj"/>
            </a:avLst>
          </a:prstGeom>
          <a:solidFill>
            <a:srgbClr val="0E74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181447" y="5212080"/>
            <a:ext cx="1828800" cy="777240"/>
          </a:xfrm>
          <a:prstGeom prst="roundRect">
            <a:avLst>
              <a:gd fmla="val 10000" name="adj"/>
            </a:avLst>
          </a:prstGeom>
          <a:solidFill>
            <a:srgbClr val="111B2F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518144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5309463" y="529437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3 · METADATA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5309463" y="562356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WHOIS·SSL·HTTP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7028535" y="5458968"/>
            <a:ext cx="237744" cy="274320"/>
          </a:xfrm>
          <a:prstGeom prst="chevron">
            <a:avLst>
              <a:gd fmla="val 50000" name="adj"/>
            </a:avLst>
          </a:prstGeom>
          <a:solidFill>
            <a:srgbClr val="0E74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7284567" y="5212080"/>
            <a:ext cx="1828800" cy="777240"/>
          </a:xfrm>
          <a:prstGeom prst="roundRect">
            <a:avLst>
              <a:gd fmla="val 10000" name="adj"/>
            </a:avLst>
          </a:prstGeom>
          <a:solidFill>
            <a:srgbClr val="111B2F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728456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7412583" y="529437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4 · THREAT INTEL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7412583" y="562356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VT·GSB·PhishTank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9131655" y="5458968"/>
            <a:ext cx="237744" cy="274320"/>
          </a:xfrm>
          <a:prstGeom prst="chevron">
            <a:avLst>
              <a:gd fmla="val 50000" name="adj"/>
            </a:avLst>
          </a:prstGeom>
          <a:solidFill>
            <a:srgbClr val="0E74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9387687" y="5212080"/>
            <a:ext cx="1828800" cy="777240"/>
          </a:xfrm>
          <a:prstGeom prst="roundRect">
            <a:avLst>
              <a:gd fmla="val 10000" name="adj"/>
            </a:avLst>
          </a:prstGeom>
          <a:solidFill>
            <a:srgbClr val="111B2F"/>
          </a:solidFill>
          <a:ln cap="flat" cmpd="sng" w="12700">
            <a:solidFill>
              <a:srgbClr val="0E7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938768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9515703" y="529437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5 · SCORING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9515703" y="5623560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0–100 + verdict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4 · SYSTEM ANALYSIS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4.2  Modules &amp; Sub-Modules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THREATLENS  ·  THREAT DETECTION &amp; URL SCANNER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/>
          </a:p>
        </p:txBody>
      </p:sp>
      <p:graphicFrame>
        <p:nvGraphicFramePr>
          <p:cNvPr id="241" name="Google Shape;241;p19"/>
          <p:cNvGraphicFramePr/>
          <p:nvPr/>
        </p:nvGraphicFramePr>
        <p:xfrm>
          <a:off x="50292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{CE00C3AB-38B8-4B3B-9B5A-988E169025F8}</a:tableStyleId>
              </a:tblPr>
              <a:tblGrid>
                <a:gridCol w="3108950"/>
                <a:gridCol w="80741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2D3E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Module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2D3E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Sub-modules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Authentication &amp; Users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Register · login/logout · profile · change password · admin roles · rate limiting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URL Scanner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URL parser · heuristics · WHOIS/SSL/HTTP metadata · threat intel · risk scoring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Phishing Analyzer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Content NLP rules · header parser · sender check · link inspector · trends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History &amp; Reporting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Scan history · phishing history · activity report · CSV/JSON/HTML export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Watchlist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Sender / domain / URL indicators · auto-matching inside analyses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Threat Intelligence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Provider status · verdict feed · config-driven optional keys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Bulk Scanner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Up to 25 URLs in parallel · per-URL failure isolation · CSV export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Browser Extension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Popup scan · context menus · score badge · full-report tab · settings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Admin Panel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Global stats · user management · visibility into all users’ scans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Frontend Dashboard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E2E8F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Scanner · phishing lab · learn · history · intel · profile pages</a:t>
                      </a:r>
                      <a:endParaRPr/>
                    </a:p>
                  </a:txBody>
                  <a:tcPr marT="27425" marB="27425" marR="73150" marL="91450" anchor="ctr">
                    <a:lnL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22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B2F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19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5 · TECHNICAL SPECIFICATIONS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5.1–5.2  Requirements &amp; System Architecture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THREATLENS  ·  THREAT DETECTION &amp; URL SCANNER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fmla="val 7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777240" y="166420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HARDWARE / CLIENT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777240" y="205740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Server: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2-core CPU, 4 GB RAM, 1 GB disk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Client: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any modern browser; extension on Chrome/Edge/Brave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Network: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 access for WHOIS/SSL/HTTP + intel feeds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6263640" y="1463040"/>
            <a:ext cx="5422392" cy="2148840"/>
          </a:xfrm>
          <a:prstGeom prst="roundRect">
            <a:avLst>
              <a:gd fmla="val 7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6537960" y="1664208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SOFTWARE / TECHNOLOGY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537960" y="2057400"/>
            <a:ext cx="4892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Backend: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 3.11+ · FastAPI · Uvicorn · Pydantic 2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Data: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SQLAlchemy 2 ORM · SQLite (Postgres-ready)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Analysis: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tldextract · python-whois · requests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</a:t>
            </a:r>
            <a:r>
              <a:rPr b="1" i="0" lang="en-US" sz="11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Frontend: </a:t>
            </a:r>
            <a:r>
              <a:rPr b="0" i="0" lang="en-US" sz="11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HTML5 · CSS3 · vanilla JS · Git &amp; GitHub</a:t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502920" y="3794760"/>
            <a:ext cx="11183112" cy="2377440"/>
          </a:xfrm>
          <a:prstGeom prst="roundRect">
            <a:avLst>
              <a:gd fmla="val 7000" name="adj"/>
            </a:avLst>
          </a:prstGeom>
          <a:solidFill>
            <a:srgbClr val="111B2F"/>
          </a:solidFill>
          <a:ln cap="flat" cmpd="sng" w="12700">
            <a:solidFill>
              <a:srgbClr val="203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777240" y="3995928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LAYERED ARCHITECTURE</a:t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777240" y="4370832"/>
            <a:ext cx="10607040" cy="310896"/>
          </a:xfrm>
          <a:prstGeom prst="roundRect">
            <a:avLst>
              <a:gd fmla="val 14000" name="adj"/>
            </a:avLst>
          </a:prstGeom>
          <a:solidFill>
            <a:srgbClr val="16223A"/>
          </a:solidFill>
          <a:ln cap="flat" cmpd="sng" w="12700">
            <a:solidFill>
              <a:srgbClr val="18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960120" y="442112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CLIENT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2468880" y="442112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 dashboard (HTML/CSS/JS) · Chrome extension · REST clients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777240" y="4727448"/>
            <a:ext cx="10607040" cy="310896"/>
          </a:xfrm>
          <a:prstGeom prst="roundRect">
            <a:avLst>
              <a:gd fmla="val 14000" name="adj"/>
            </a:avLst>
          </a:prstGeom>
          <a:solidFill>
            <a:srgbClr val="16223A"/>
          </a:solidFill>
          <a:ln cap="flat" cmpd="sng" w="12700">
            <a:solidFill>
              <a:srgbClr val="18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960120" y="47777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API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2468880" y="477774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FastAPI (async) — auth, scanner, phishing, tools, history, intel, admin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777240" y="5084064"/>
            <a:ext cx="10607040" cy="310896"/>
          </a:xfrm>
          <a:prstGeom prst="roundRect">
            <a:avLst>
              <a:gd fmla="val 14000" name="adj"/>
            </a:avLst>
          </a:prstGeom>
          <a:solidFill>
            <a:srgbClr val="16223A"/>
          </a:solidFill>
          <a:ln cap="flat" cmpd="sng" w="12700">
            <a:solidFill>
              <a:srgbClr val="18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960120" y="5134355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SERVICES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2468880" y="5134355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url_parser · heuristics · metadata · threat_intel · phishing_analyzer · risk_scoring</a:t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777240" y="5440679"/>
            <a:ext cx="10607040" cy="310896"/>
          </a:xfrm>
          <a:prstGeom prst="roundRect">
            <a:avLst>
              <a:gd fmla="val 14000" name="adj"/>
            </a:avLst>
          </a:prstGeom>
          <a:solidFill>
            <a:srgbClr val="16223A"/>
          </a:solidFill>
          <a:ln cap="flat" cmpd="sng" w="12700">
            <a:solidFill>
              <a:srgbClr val="18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960120" y="5490971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2468880" y="5490971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SQLite via SQLAlchemy — users, tokens, scans, analyses, watchlist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777240" y="5797295"/>
            <a:ext cx="10607040" cy="310896"/>
          </a:xfrm>
          <a:prstGeom prst="roundRect">
            <a:avLst>
              <a:gd fmla="val 14000" name="adj"/>
            </a:avLst>
          </a:prstGeom>
          <a:solidFill>
            <a:srgbClr val="16223A"/>
          </a:solidFill>
          <a:ln cap="flat" cmpd="sng" w="12700">
            <a:solidFill>
              <a:srgbClr val="18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960120" y="5847587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EXTERNAL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2468880" y="5847587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WHOIS · SSL · HTTP · VirusTotal · Google Safe Browsing · PhishTank (optional)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6 · SYSTEM DESIGN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6.1 System Architecture Overview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66928" y="877824"/>
            <a:ext cx="10972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8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is built as a three-part platform: web dashboard, FastAPI backend, and Chrome extension, backed by SQLite and optional external threat-intelligence providers.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594360" y="1481328"/>
            <a:ext cx="10972800" cy="1097280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868680" y="1700784"/>
            <a:ext cx="2606040" cy="603504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3D9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941832" y="1801368"/>
            <a:ext cx="2459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WEB DASHBOARD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941832" y="2093976"/>
            <a:ext cx="24597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HTML5 · CSS3 · Vanilla JS</a:t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3749039" y="1700784"/>
            <a:ext cx="2606040" cy="603504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3822191" y="1801368"/>
            <a:ext cx="2459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FASTAPI BACKEND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3822191" y="2093976"/>
            <a:ext cx="24597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Auth · Scan · Phishing · Admin · REST API</a:t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6629400" y="1700784"/>
            <a:ext cx="2606040" cy="603504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23D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6702552" y="1801368"/>
            <a:ext cx="2459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CHROME EXTENSION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6702552" y="2093976"/>
            <a:ext cx="24597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Manifest V3 · Popup · Context menu</a:t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9509760" y="1700784"/>
            <a:ext cx="1691640" cy="603504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EFB4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9582912" y="1801368"/>
            <a:ext cx="15453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REST CLIENTS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9582912" y="2093976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API consumers</a:t>
            </a:r>
            <a:endParaRPr/>
          </a:p>
        </p:txBody>
      </p:sp>
      <p:cxnSp>
        <p:nvCxnSpPr>
          <p:cNvPr id="301" name="Google Shape;301;p21"/>
          <p:cNvCxnSpPr/>
          <p:nvPr/>
        </p:nvCxnSpPr>
        <p:spPr>
          <a:xfrm>
            <a:off x="3493008" y="2002536"/>
            <a:ext cx="256031" cy="0"/>
          </a:xfrm>
          <a:prstGeom prst="straightConnector1">
            <a:avLst/>
          </a:prstGeom>
          <a:noFill/>
          <a:ln cap="flat" cmpd="sng" w="190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2" name="Google Shape;302;p21"/>
          <p:cNvCxnSpPr/>
          <p:nvPr/>
        </p:nvCxnSpPr>
        <p:spPr>
          <a:xfrm>
            <a:off x="6373368" y="2002536"/>
            <a:ext cx="256032" cy="0"/>
          </a:xfrm>
          <a:prstGeom prst="straightConnector1">
            <a:avLst/>
          </a:prstGeom>
          <a:noFill/>
          <a:ln cap="flat" cmpd="sng" w="190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3" name="Google Shape;303;p21"/>
          <p:cNvSpPr/>
          <p:nvPr/>
        </p:nvSpPr>
        <p:spPr>
          <a:xfrm>
            <a:off x="868680" y="2907792"/>
            <a:ext cx="10332720" cy="667512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941832" y="3008376"/>
            <a:ext cx="101864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BUSINESS SERVICES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941832" y="3300984"/>
            <a:ext cx="10186416" cy="210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url_parser · heuristics · metadata · threat_intel · phishing_analyzer · risk_scoring · watchlist · security</a:t>
            </a:r>
            <a:endParaRPr/>
          </a:p>
        </p:txBody>
      </p:sp>
      <p:cxnSp>
        <p:nvCxnSpPr>
          <p:cNvPr id="306" name="Google Shape;306;p21"/>
          <p:cNvCxnSpPr/>
          <p:nvPr/>
        </p:nvCxnSpPr>
        <p:spPr>
          <a:xfrm>
            <a:off x="6035040" y="2578608"/>
            <a:ext cx="0" cy="329184"/>
          </a:xfrm>
          <a:prstGeom prst="straightConnector1">
            <a:avLst/>
          </a:prstGeom>
          <a:noFill/>
          <a:ln cap="flat" cmpd="sng" w="190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7" name="Google Shape;307;p21"/>
          <p:cNvSpPr/>
          <p:nvPr/>
        </p:nvSpPr>
        <p:spPr>
          <a:xfrm>
            <a:off x="868680" y="3867912"/>
            <a:ext cx="4846320" cy="74980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D9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941832" y="3968496"/>
            <a:ext cx="47000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SQLITE DATABASE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941832" y="4261104"/>
            <a:ext cx="4700016" cy="2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SQLAlchemy ORM · users · tokens · scans · analyses · watchlist · audit · API keys · webhooks</a:t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5989320" y="3867912"/>
            <a:ext cx="5212080" cy="74980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23D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6062472" y="3968496"/>
            <a:ext cx="50657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EXTERNAL THREAT INTELLIGENCE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6062472" y="4261104"/>
            <a:ext cx="5065776" cy="2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VirusTotal · Google Safe Browsing · PhishTank · optional API keys</a:t>
            </a:r>
            <a:endParaRPr/>
          </a:p>
        </p:txBody>
      </p:sp>
      <p:cxnSp>
        <p:nvCxnSpPr>
          <p:cNvPr id="313" name="Google Shape;313;p21"/>
          <p:cNvCxnSpPr/>
          <p:nvPr/>
        </p:nvCxnSpPr>
        <p:spPr>
          <a:xfrm>
            <a:off x="3291840" y="3584448"/>
            <a:ext cx="0" cy="283464"/>
          </a:xfrm>
          <a:prstGeom prst="straightConnector1">
            <a:avLst/>
          </a:prstGeom>
          <a:noFill/>
          <a:ln cap="flat" cmpd="sng" w="190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14" name="Google Shape;314;p21"/>
          <p:cNvCxnSpPr/>
          <p:nvPr/>
        </p:nvCxnSpPr>
        <p:spPr>
          <a:xfrm>
            <a:off x="8092440" y="3584448"/>
            <a:ext cx="0" cy="283464"/>
          </a:xfrm>
          <a:prstGeom prst="straightConnector1">
            <a:avLst/>
          </a:prstGeom>
          <a:noFill/>
          <a:ln cap="flat" cmpd="sng" w="190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5" name="Google Shape;315;p21"/>
          <p:cNvSpPr txBox="1"/>
          <p:nvPr/>
        </p:nvSpPr>
        <p:spPr>
          <a:xfrm>
            <a:off x="713232" y="498348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Design principle: the core pipeline continues to work without paid API keys; external providers enrich the result when configured.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6 · SYSTEM DESIGN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6.2 URL Scan Pipeline &amp; Risk Scoring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566928" y="877824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Raw URL → parse → heuristics → metadata → threat intelligence → scoring → persistence → report</a:t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502920" y="1481328"/>
            <a:ext cx="457200" cy="310896"/>
          </a:xfrm>
          <a:prstGeom prst="roundRect">
            <a:avLst>
              <a:gd fmla="val 16667" name="adj"/>
            </a:avLst>
          </a:prstGeom>
          <a:solidFill>
            <a:srgbClr val="182D46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502920" y="150876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D91E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502920" y="1901952"/>
            <a:ext cx="2057400" cy="1078992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3D9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576072" y="2002536"/>
            <a:ext cx="1911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PARSE &amp; NORMALIZE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576072" y="2295144"/>
            <a:ext cx="1911095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scheme · host · port · path · TLD · IP detection</a:t>
            </a:r>
            <a:endParaRPr/>
          </a:p>
        </p:txBody>
      </p:sp>
      <p:cxnSp>
        <p:nvCxnSpPr>
          <p:cNvPr id="333" name="Google Shape;333;p22"/>
          <p:cNvCxnSpPr/>
          <p:nvPr/>
        </p:nvCxnSpPr>
        <p:spPr>
          <a:xfrm>
            <a:off x="2560320" y="2441448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4" name="Google Shape;334;p22"/>
          <p:cNvSpPr/>
          <p:nvPr/>
        </p:nvSpPr>
        <p:spPr>
          <a:xfrm>
            <a:off x="2770632" y="1481328"/>
            <a:ext cx="457200" cy="310896"/>
          </a:xfrm>
          <a:prstGeom prst="roundRect">
            <a:avLst>
              <a:gd fmla="val 16667" name="adj"/>
            </a:avLst>
          </a:prstGeom>
          <a:solidFill>
            <a:srgbClr val="182D46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2770632" y="150876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2770632" y="1901952"/>
            <a:ext cx="2057400" cy="1078992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2843784" y="2002536"/>
            <a:ext cx="1911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HEURISTICS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2843784" y="2295144"/>
            <a:ext cx="1911095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typosquat · TLD · entropy · URL structure</a:t>
            </a:r>
            <a:endParaRPr/>
          </a:p>
        </p:txBody>
      </p:sp>
      <p:cxnSp>
        <p:nvCxnSpPr>
          <p:cNvPr id="339" name="Google Shape;339;p22"/>
          <p:cNvCxnSpPr/>
          <p:nvPr/>
        </p:nvCxnSpPr>
        <p:spPr>
          <a:xfrm>
            <a:off x="4828032" y="2441448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0" name="Google Shape;340;p22"/>
          <p:cNvSpPr/>
          <p:nvPr/>
        </p:nvSpPr>
        <p:spPr>
          <a:xfrm>
            <a:off x="5038344" y="1481328"/>
            <a:ext cx="457200" cy="310896"/>
          </a:xfrm>
          <a:prstGeom prst="roundRect">
            <a:avLst>
              <a:gd fmla="val 16667" name="adj"/>
            </a:avLst>
          </a:prstGeom>
          <a:solidFill>
            <a:srgbClr val="182D46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5038344" y="150876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23D2C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5038344" y="1901952"/>
            <a:ext cx="2057400" cy="1078992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23D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5111496" y="2002536"/>
            <a:ext cx="1911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METADATA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5111496" y="2295144"/>
            <a:ext cx="1911095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WHOIS · SSL · HTTP · redirects · SSRF guard</a:t>
            </a:r>
            <a:endParaRPr/>
          </a:p>
        </p:txBody>
      </p:sp>
      <p:cxnSp>
        <p:nvCxnSpPr>
          <p:cNvPr id="345" name="Google Shape;345;p22"/>
          <p:cNvCxnSpPr/>
          <p:nvPr/>
        </p:nvCxnSpPr>
        <p:spPr>
          <a:xfrm>
            <a:off x="7095744" y="2441448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6" name="Google Shape;346;p22"/>
          <p:cNvSpPr/>
          <p:nvPr/>
        </p:nvSpPr>
        <p:spPr>
          <a:xfrm>
            <a:off x="7306055" y="1481328"/>
            <a:ext cx="457200" cy="310896"/>
          </a:xfrm>
          <a:prstGeom prst="roundRect">
            <a:avLst>
              <a:gd fmla="val 16667" name="adj"/>
            </a:avLst>
          </a:prstGeom>
          <a:solidFill>
            <a:srgbClr val="182D46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7306055" y="150876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FB45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7306055" y="1901952"/>
            <a:ext cx="2057400" cy="1078992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EFB4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7379207" y="2002536"/>
            <a:ext cx="1911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THREAT INTEL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7379207" y="2295144"/>
            <a:ext cx="1911095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VirusTotal · GSB · PhishTank (optional)</a:t>
            </a:r>
            <a:endParaRPr/>
          </a:p>
        </p:txBody>
      </p:sp>
      <p:cxnSp>
        <p:nvCxnSpPr>
          <p:cNvPr id="351" name="Google Shape;351;p22"/>
          <p:cNvCxnSpPr/>
          <p:nvPr/>
        </p:nvCxnSpPr>
        <p:spPr>
          <a:xfrm>
            <a:off x="9363455" y="2441448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2" name="Google Shape;352;p22"/>
          <p:cNvSpPr/>
          <p:nvPr/>
        </p:nvSpPr>
        <p:spPr>
          <a:xfrm>
            <a:off x="9573768" y="1481328"/>
            <a:ext cx="457200" cy="310896"/>
          </a:xfrm>
          <a:prstGeom prst="roundRect">
            <a:avLst>
              <a:gd fmla="val 16667" name="adj"/>
            </a:avLst>
          </a:prstGeom>
          <a:solidFill>
            <a:srgbClr val="182D46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9573768" y="150876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6646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9573768" y="1901952"/>
            <a:ext cx="2057400" cy="1078992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E664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9646920" y="2002536"/>
            <a:ext cx="1911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RISK SCORING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9646920" y="2295144"/>
            <a:ext cx="1911095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start 100 · apply findings · clamp 0–100</a:t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658368" y="3401568"/>
            <a:ext cx="6537960" cy="157276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868680" y="3584448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OUTPUT · JSON RISK REPORT</a:t>
            </a:r>
            <a:endParaRPr/>
          </a:p>
        </p:txBody>
      </p:sp>
      <p:sp>
        <p:nvSpPr>
          <p:cNvPr id="359" name="Google Shape;359;p22"/>
          <p:cNvSpPr txBox="1"/>
          <p:nvPr/>
        </p:nvSpPr>
        <p:spPr>
          <a:xfrm>
            <a:off x="868680" y="3941063"/>
            <a:ext cx="60807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risk_score · verdict · risk_level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findings[] · category_totals{}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metadata{whois, ssl, http} · threat_intel{vt, gsb, pt} · scanned_at</a:t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7424927" y="3401568"/>
            <a:ext cx="3794760" cy="157276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7635240" y="358444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VERDICT THRESHOLDS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7635240" y="3931920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8BE77"/>
                </a:solidFill>
                <a:latin typeface="Arial"/>
                <a:ea typeface="Arial"/>
                <a:cs typeface="Arial"/>
                <a:sym typeface="Arial"/>
              </a:rPr>
              <a:t>≥ 85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8577072" y="393192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SAFE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7635240" y="4160520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3D2C1"/>
                </a:solidFill>
                <a:latin typeface="Arial"/>
                <a:ea typeface="Arial"/>
                <a:cs typeface="Arial"/>
                <a:sym typeface="Arial"/>
              </a:rPr>
              <a:t>70–84</a:t>
            </a:r>
            <a:endParaRPr/>
          </a:p>
        </p:txBody>
      </p:sp>
      <p:sp>
        <p:nvSpPr>
          <p:cNvPr id="365" name="Google Shape;365;p22"/>
          <p:cNvSpPr txBox="1"/>
          <p:nvPr/>
        </p:nvSpPr>
        <p:spPr>
          <a:xfrm>
            <a:off x="8577072" y="416052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LOW RISK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7635240" y="4389120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FB456"/>
                </a:solidFill>
                <a:latin typeface="Arial"/>
                <a:ea typeface="Arial"/>
                <a:cs typeface="Arial"/>
                <a:sym typeface="Arial"/>
              </a:rPr>
              <a:t>40–69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8577072" y="438912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SUSPICIOUS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7635240" y="4617720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66468"/>
                </a:solidFill>
                <a:latin typeface="Arial"/>
                <a:ea typeface="Arial"/>
                <a:cs typeface="Arial"/>
                <a:sym typeface="Arial"/>
              </a:rPr>
              <a:t>&lt; 40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8577072" y="461772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DANGEROUS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594360" y="5358384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Source: System Design PDF, pp. 4 &amp; 17–20. Scoring starts at 100 and each finding contributes additive points before clamping to 0–100.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372" name="Google Shape;372;p22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373" name="Google Shape;373;p22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"/>
          <p:cNvSpPr txBox="1"/>
          <p:nvPr/>
        </p:nvSpPr>
        <p:spPr>
          <a:xfrm>
            <a:off x="502920" y="329184"/>
            <a:ext cx="97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System Architecture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685800" y="1298450"/>
            <a:ext cx="10378500" cy="52578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383" name="Google Shape;383;p23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pic>
        <p:nvPicPr>
          <p:cNvPr id="385" name="Google Shape;385;p23"/>
          <p:cNvPicPr preferRelativeResize="0"/>
          <p:nvPr/>
        </p:nvPicPr>
        <p:blipFill rotWithShape="1">
          <a:blip r:embed="rId3">
            <a:alphaModFix/>
          </a:blip>
          <a:srcRect b="0" l="0" r="32442" t="0"/>
          <a:stretch/>
        </p:blipFill>
        <p:spPr>
          <a:xfrm>
            <a:off x="2899138" y="1547275"/>
            <a:ext cx="4991775" cy="4908401"/>
          </a:xfrm>
          <a:prstGeom prst="rect">
            <a:avLst/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 txBox="1"/>
          <p:nvPr/>
        </p:nvSpPr>
        <p:spPr>
          <a:xfrm>
            <a:off x="502920" y="329184"/>
            <a:ext cx="97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Router-to-Services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11064240" y="164592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0" y="713232"/>
            <a:ext cx="12191700" cy="2280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685800" y="1298450"/>
            <a:ext cx="10378500" cy="52578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502920" y="6556248"/>
            <a:ext cx="8686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9326880" y="6556248"/>
            <a:ext cx="2057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530352" y="6455664"/>
            <a:ext cx="475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pic>
        <p:nvPicPr>
          <p:cNvPr id="397" name="Google Shape;3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884" y="1692859"/>
            <a:ext cx="7252324" cy="44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5"/>
          <p:cNvSpPr txBox="1"/>
          <p:nvPr/>
        </p:nvSpPr>
        <p:spPr>
          <a:xfrm>
            <a:off x="502920" y="329184"/>
            <a:ext cx="97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URL Scan Pipeline Flow</a:t>
            </a:r>
            <a:endParaRPr/>
          </a:p>
        </p:txBody>
      </p:sp>
      <p:sp>
        <p:nvSpPr>
          <p:cNvPr id="403" name="Google Shape;403;p25"/>
          <p:cNvSpPr txBox="1"/>
          <p:nvPr/>
        </p:nvSpPr>
        <p:spPr>
          <a:xfrm>
            <a:off x="11064240" y="164592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0" y="713232"/>
            <a:ext cx="12191700" cy="2280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685800" y="1298450"/>
            <a:ext cx="10378500" cy="52578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502920" y="6556248"/>
            <a:ext cx="8686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407" name="Google Shape;407;p25"/>
          <p:cNvSpPr txBox="1"/>
          <p:nvPr/>
        </p:nvSpPr>
        <p:spPr>
          <a:xfrm>
            <a:off x="9326880" y="6556248"/>
            <a:ext cx="2057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530352" y="6455664"/>
            <a:ext cx="475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pic>
        <p:nvPicPr>
          <p:cNvPr id="409" name="Google Shape;409;p25"/>
          <p:cNvPicPr preferRelativeResize="0"/>
          <p:nvPr/>
        </p:nvPicPr>
        <p:blipFill rotWithShape="1">
          <a:blip r:embed="rId3">
            <a:alphaModFix/>
          </a:blip>
          <a:srcRect b="0" l="24945" r="27449" t="0"/>
          <a:stretch/>
        </p:blipFill>
        <p:spPr>
          <a:xfrm>
            <a:off x="3497550" y="1494700"/>
            <a:ext cx="4755000" cy="4865300"/>
          </a:xfrm>
          <a:prstGeom prst="rect">
            <a:avLst/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"/>
          <p:cNvSpPr txBox="1"/>
          <p:nvPr/>
        </p:nvSpPr>
        <p:spPr>
          <a:xfrm>
            <a:off x="502920" y="201168"/>
            <a:ext cx="5029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7 · PREPARE UML DIAGRAMS</a:t>
            </a:r>
            <a:endParaRPr/>
          </a:p>
        </p:txBody>
      </p:sp>
      <p:sp>
        <p:nvSpPr>
          <p:cNvPr id="415" name="Google Shape;415;p26"/>
          <p:cNvSpPr txBox="1"/>
          <p:nvPr/>
        </p:nvSpPr>
        <p:spPr>
          <a:xfrm>
            <a:off x="502920" y="329184"/>
            <a:ext cx="97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7.1 Use Case Diagram — User</a:t>
            </a:r>
            <a:endParaRPr/>
          </a:p>
        </p:txBody>
      </p:sp>
      <p:sp>
        <p:nvSpPr>
          <p:cNvPr id="416" name="Google Shape;416;p26"/>
          <p:cNvSpPr txBox="1"/>
          <p:nvPr/>
        </p:nvSpPr>
        <p:spPr>
          <a:xfrm>
            <a:off x="11064240" y="164592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417" name="Google Shape;417;p26"/>
          <p:cNvSpPr/>
          <p:nvPr/>
        </p:nvSpPr>
        <p:spPr>
          <a:xfrm>
            <a:off x="0" y="713232"/>
            <a:ext cx="12191700" cy="2280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 txBox="1"/>
          <p:nvPr/>
        </p:nvSpPr>
        <p:spPr>
          <a:xfrm>
            <a:off x="566928" y="877824"/>
            <a:ext cx="10881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Authenticated user interactions with ThreatLens</a:t>
            </a:r>
            <a:endParaRPr/>
          </a:p>
        </p:txBody>
      </p:sp>
      <p:sp>
        <p:nvSpPr>
          <p:cNvPr id="419" name="Google Shape;419;p26"/>
          <p:cNvSpPr/>
          <p:nvPr/>
        </p:nvSpPr>
        <p:spPr>
          <a:xfrm>
            <a:off x="685800" y="1298448"/>
            <a:ext cx="6812400" cy="52578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.png" id="420" name="Google Shape;4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9603" y="1389888"/>
            <a:ext cx="4684672" cy="496519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6"/>
          <p:cNvSpPr/>
          <p:nvPr/>
        </p:nvSpPr>
        <p:spPr>
          <a:xfrm>
            <a:off x="7754112" y="1298448"/>
            <a:ext cx="3520500" cy="5257800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6"/>
          <p:cNvSpPr txBox="1"/>
          <p:nvPr/>
        </p:nvSpPr>
        <p:spPr>
          <a:xfrm>
            <a:off x="8028431" y="1572768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KEY USER CAPABILITIES</a:t>
            </a:r>
            <a:endParaRPr/>
          </a:p>
        </p:txBody>
      </p:sp>
      <p:sp>
        <p:nvSpPr>
          <p:cNvPr id="423" name="Google Shape;423;p26"/>
          <p:cNvSpPr txBox="1"/>
          <p:nvPr/>
        </p:nvSpPr>
        <p:spPr>
          <a:xfrm>
            <a:off x="8028431" y="2011680"/>
            <a:ext cx="2880300" cy="25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Register / Login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Scan a single URL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Analyze phishing content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View risk score &amp; report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View scan / phishing history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Manage sender / domain / URL watchlist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Bulk scan up to 25 URLs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Use browser extension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View threat intelligence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Manage profile</a:t>
            </a:r>
            <a:endParaRPr/>
          </a:p>
        </p:txBody>
      </p:sp>
      <p:sp>
        <p:nvSpPr>
          <p:cNvPr id="424" name="Google Shape;424;p26"/>
          <p:cNvSpPr txBox="1"/>
          <p:nvPr/>
        </p:nvSpPr>
        <p:spPr>
          <a:xfrm>
            <a:off x="502920" y="6556248"/>
            <a:ext cx="8686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425" name="Google Shape;425;p26"/>
          <p:cNvSpPr txBox="1"/>
          <p:nvPr/>
        </p:nvSpPr>
        <p:spPr>
          <a:xfrm>
            <a:off x="9326880" y="6556248"/>
            <a:ext cx="2057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426" name="Google Shape;426;p26"/>
          <p:cNvSpPr txBox="1"/>
          <p:nvPr/>
        </p:nvSpPr>
        <p:spPr>
          <a:xfrm>
            <a:off x="530352" y="6455664"/>
            <a:ext cx="475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7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7 · PREPARE UML DIAGRAMS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7.2 Use Case Diagram — Admin</a:t>
            </a:r>
            <a:endParaRPr/>
          </a:p>
        </p:txBody>
      </p:sp>
      <p:sp>
        <p:nvSpPr>
          <p:cNvPr id="433" name="Google Shape;433;p27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7"/>
          <p:cNvSpPr txBox="1"/>
          <p:nvPr/>
        </p:nvSpPr>
        <p:spPr>
          <a:xfrm>
            <a:off x="566928" y="877824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Administrative interactions and privileged platform management functions</a:t>
            </a:r>
            <a:endParaRPr/>
          </a:p>
        </p:txBody>
      </p:sp>
      <p:sp>
        <p:nvSpPr>
          <p:cNvPr id="436" name="Google Shape;436;p27"/>
          <p:cNvSpPr/>
          <p:nvPr/>
        </p:nvSpPr>
        <p:spPr>
          <a:xfrm>
            <a:off x="749808" y="1316736"/>
            <a:ext cx="6080760" cy="507492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min.png" id="437" name="Google Shape;4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704" y="1408176"/>
            <a:ext cx="5432966" cy="4782312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7"/>
          <p:cNvSpPr/>
          <p:nvPr/>
        </p:nvSpPr>
        <p:spPr>
          <a:xfrm>
            <a:off x="7086600" y="1316736"/>
            <a:ext cx="4160520" cy="5074920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 txBox="1"/>
          <p:nvPr/>
        </p:nvSpPr>
        <p:spPr>
          <a:xfrm>
            <a:off x="7360920" y="158191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ADMIN-ONLY FUNCTIONS</a:t>
            </a:r>
            <a:endParaRPr/>
          </a:p>
        </p:txBody>
      </p:sp>
      <p:sp>
        <p:nvSpPr>
          <p:cNvPr id="440" name="Google Shape;440;p27"/>
          <p:cNvSpPr txBox="1"/>
          <p:nvPr/>
        </p:nvSpPr>
        <p:spPr>
          <a:xfrm>
            <a:off x="7360920" y="1984248"/>
            <a:ext cx="34290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Login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View dashboard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Manage users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Manage roles &amp; permissions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View all scans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View phishing records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View platform statistics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•  Manage threat intelligence providers / API keys</a:t>
            </a:r>
            <a:endParaRPr/>
          </a:p>
        </p:txBody>
      </p:sp>
      <p:sp>
        <p:nvSpPr>
          <p:cNvPr id="441" name="Google Shape;441;p27"/>
          <p:cNvSpPr txBox="1"/>
          <p:nvPr/>
        </p:nvSpPr>
        <p:spPr>
          <a:xfrm>
            <a:off x="7360920" y="5797296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Privilege boundary: admin actions are protected by role checks / 403 gating.</a:t>
            </a:r>
            <a:endParaRPr/>
          </a:p>
        </p:txBody>
      </p:sp>
      <p:sp>
        <p:nvSpPr>
          <p:cNvPr id="442" name="Google Shape;442;p27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443" name="Google Shape;443;p27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444" name="Google Shape;444;p27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8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7 · PREPARE UML DIAGRAMS</a:t>
            </a:r>
            <a:endParaRPr/>
          </a:p>
        </p:txBody>
      </p:sp>
      <p:sp>
        <p:nvSpPr>
          <p:cNvPr id="450" name="Google Shape;450;p28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7.2 Class Diagram — Domain &amp; Persistence Model</a:t>
            </a:r>
            <a:endParaRPr/>
          </a:p>
        </p:txBody>
      </p:sp>
      <p:sp>
        <p:nvSpPr>
          <p:cNvPr id="451" name="Google Shape;451;p28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452" name="Google Shape;452;p28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 txBox="1"/>
          <p:nvPr/>
        </p:nvSpPr>
        <p:spPr>
          <a:xfrm>
            <a:off x="566928" y="87782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Entity relationships covering users, scans, phishing analysis, watchlists, browser extension data and threat intelligence</a:t>
            </a:r>
            <a:endParaRPr/>
          </a:p>
        </p:txBody>
      </p:sp>
      <p:sp>
        <p:nvSpPr>
          <p:cNvPr id="454" name="Google Shape;454;p28"/>
          <p:cNvSpPr/>
          <p:nvPr/>
        </p:nvSpPr>
        <p:spPr>
          <a:xfrm>
            <a:off x="402336" y="1234440"/>
            <a:ext cx="11448288" cy="5367528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ss.png" id="455" name="Google Shape;4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6569" y="1325880"/>
            <a:ext cx="7619821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8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457" name="Google Shape;457;p28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458" name="Google Shape;458;p28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  <p:pic>
        <p:nvPicPr>
          <p:cNvPr descr="The connection arrow of the admin table to the scan_report is not correct, connect it to the Scan_Report table" id="459" name="Google Shape;45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6575" y="1325875"/>
            <a:ext cx="7619825" cy="4998725"/>
          </a:xfrm>
          <a:prstGeom prst="rect">
            <a:avLst/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9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7 · PREPARE UML DIAGRAMS</a:t>
            </a:r>
            <a:endParaRPr/>
          </a:p>
        </p:txBody>
      </p:sp>
      <p:sp>
        <p:nvSpPr>
          <p:cNvPr id="465" name="Google Shape;465;p29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7.3 Activity Diagram — ThreatLens Workflow</a:t>
            </a:r>
            <a:endParaRPr/>
          </a:p>
        </p:txBody>
      </p:sp>
      <p:sp>
        <p:nvSpPr>
          <p:cNvPr id="466" name="Google Shape;466;p29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 txBox="1"/>
          <p:nvPr/>
        </p:nvSpPr>
        <p:spPr>
          <a:xfrm>
            <a:off x="566928" y="877824"/>
            <a:ext cx="10789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Full user workflow from authentication and rate limiting to report rendering</a:t>
            </a:r>
            <a:endParaRPr/>
          </a:p>
        </p:txBody>
      </p:sp>
      <p:sp>
        <p:nvSpPr>
          <p:cNvPr id="469" name="Google Shape;469;p29"/>
          <p:cNvSpPr/>
          <p:nvPr/>
        </p:nvSpPr>
        <p:spPr>
          <a:xfrm>
            <a:off x="566928" y="1298448"/>
            <a:ext cx="10972800" cy="5230368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 cap="flat" cmpd="sng" w="10150">
            <a:solidFill>
              <a:srgbClr val="4E67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ivity.png" id="470" name="Google Shape;4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387" y="1389888"/>
            <a:ext cx="7413880" cy="49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9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472" name="Google Shape;472;p29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473" name="Google Shape;473;p29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0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8 · CREATE DATA DICTIONARY</a:t>
            </a:r>
            <a:endParaRPr/>
          </a:p>
        </p:txBody>
      </p:sp>
      <p:sp>
        <p:nvSpPr>
          <p:cNvPr id="479" name="Google Shape;479;p30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8.2 Core Tables — users &amp; auth_tokens</a:t>
            </a:r>
            <a:endParaRPr/>
          </a:p>
        </p:txBody>
      </p:sp>
      <p:sp>
        <p:nvSpPr>
          <p:cNvPr id="480" name="Google Shape;480;p30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481" name="Google Shape;481;p30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0"/>
          <p:cNvSpPr txBox="1"/>
          <p:nvPr/>
        </p:nvSpPr>
        <p:spPr>
          <a:xfrm>
            <a:off x="566928" y="89611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TABLE: users</a:t>
            </a:r>
            <a:endParaRPr/>
          </a:p>
        </p:txBody>
      </p:sp>
      <p:graphicFrame>
        <p:nvGraphicFramePr>
          <p:cNvPr id="483" name="Google Shape;483;p30"/>
          <p:cNvGraphicFramePr/>
          <p:nvPr/>
        </p:nvGraphicFramePr>
        <p:xfrm>
          <a:off x="566928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{CE00C3AB-38B8-4B3B-9B5A-988E169025F8}</a:tableStyleId>
              </a:tblPr>
              <a:tblGrid>
                <a:gridCol w="1508750"/>
                <a:gridCol w="1325875"/>
                <a:gridCol w="1234450"/>
                <a:gridCol w="1097275"/>
                <a:gridCol w="580645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AUTOINC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key; indexed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username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STRING(24)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Unique login name; 3–24 chars [a-zA-Z0-9_]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STRING(254)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Unique, indexed; stored lowercase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password_hash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STRING(255)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PBKDF2-HMAC-SHA256 password hash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display_name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STRING(50)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Optional friendly display name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is_admin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 privilege flag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utcnow()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Account creation timestamp (UTC)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p30"/>
          <p:cNvSpPr txBox="1"/>
          <p:nvPr/>
        </p:nvSpPr>
        <p:spPr>
          <a:xfrm>
            <a:off x="566928" y="385876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TABLE: auth_tokens</a:t>
            </a:r>
            <a:endParaRPr/>
          </a:p>
        </p:txBody>
      </p:sp>
      <p:graphicFrame>
        <p:nvGraphicFramePr>
          <p:cNvPr id="485" name="Google Shape;485;p30"/>
          <p:cNvGraphicFramePr/>
          <p:nvPr/>
        </p:nvGraphicFramePr>
        <p:xfrm>
          <a:off x="566928" y="41513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{CE00C3AB-38B8-4B3B-9B5A-988E169025F8}</a:tableStyleId>
              </a:tblPr>
              <a:tblGrid>
                <a:gridCol w="1508750"/>
                <a:gridCol w="1325875"/>
                <a:gridCol w="1234450"/>
                <a:gridCol w="1097275"/>
                <a:gridCol w="580645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AUTOINC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key; indexed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token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STRING(64)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Bearer token; indexed &amp; unique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user_id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FK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FK → users.id; ON DELETE CASCADE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utcnow()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Token creation time (UTC)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expires_at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9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Token expiry; 30 days from creation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86" name="Google Shape;486;p30"/>
          <p:cNvSpPr txBox="1"/>
          <p:nvPr/>
        </p:nvSpPr>
        <p:spPr>
          <a:xfrm>
            <a:off x="566928" y="5989320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Source: Data Dictionary, PDF pp. 24–25.</a:t>
            </a:r>
            <a:endParaRPr/>
          </a:p>
        </p:txBody>
      </p:sp>
      <p:sp>
        <p:nvSpPr>
          <p:cNvPr id="487" name="Google Shape;487;p30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488" name="Google Shape;488;p30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489" name="Google Shape;489;p30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1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8 · CREATE DATA DICTIONARY</a:t>
            </a:r>
            <a:endParaRPr/>
          </a:p>
        </p:txBody>
      </p:sp>
      <p:sp>
        <p:nvSpPr>
          <p:cNvPr id="495" name="Google Shape;495;p31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8.3 Core Tables — scans &amp; phishing_analyses</a:t>
            </a:r>
            <a:endParaRPr/>
          </a:p>
        </p:txBody>
      </p:sp>
      <p:sp>
        <p:nvSpPr>
          <p:cNvPr id="496" name="Google Shape;496;p31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97" name="Google Shape;497;p31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1"/>
          <p:cNvSpPr txBox="1"/>
          <p:nvPr/>
        </p:nvSpPr>
        <p:spPr>
          <a:xfrm>
            <a:off x="566928" y="86868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TABLE: scans</a:t>
            </a:r>
            <a:endParaRPr/>
          </a:p>
        </p:txBody>
      </p:sp>
      <p:graphicFrame>
        <p:nvGraphicFramePr>
          <p:cNvPr id="499" name="Google Shape;499;p31"/>
          <p:cNvGraphicFramePr/>
          <p:nvPr/>
        </p:nvGraphicFramePr>
        <p:xfrm>
          <a:off x="566928" y="11612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{CE00C3AB-38B8-4B3B-9B5A-988E169025F8}</a:tableStyleId>
              </a:tblPr>
              <a:tblGrid>
                <a:gridCol w="1508750"/>
                <a:gridCol w="1325875"/>
                <a:gridCol w="1234450"/>
                <a:gridCol w="1097275"/>
                <a:gridCol w="58064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AUTOINC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key; indexed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user_id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FK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FK → users.id; SET NULL; NULL = anonymous scan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STRING(2048)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Normalized URL; indexed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risk_score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score 0–100; 100 = safest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verdict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STRING(50)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SAFE / LOW RISK / SUSPICIOUS / DANGEROUS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summary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{}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summary of scan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findings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[]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array of itemized findings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utcnow()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Scan timestamp; UTC; indexed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</a:tbl>
          </a:graphicData>
        </a:graphic>
      </p:graphicFrame>
      <p:sp>
        <p:nvSpPr>
          <p:cNvPr id="500" name="Google Shape;500;p31"/>
          <p:cNvSpPr txBox="1"/>
          <p:nvPr/>
        </p:nvSpPr>
        <p:spPr>
          <a:xfrm>
            <a:off x="566928" y="3977639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TABLE: phishing_analyses</a:t>
            </a:r>
            <a:endParaRPr/>
          </a:p>
        </p:txBody>
      </p:sp>
      <p:graphicFrame>
        <p:nvGraphicFramePr>
          <p:cNvPr id="501" name="Google Shape;501;p31"/>
          <p:cNvGraphicFramePr/>
          <p:nvPr/>
        </p:nvGraphicFramePr>
        <p:xfrm>
          <a:off x="566928" y="42702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{CE00C3AB-38B8-4B3B-9B5A-988E169025F8}</a:tableStyleId>
              </a:tblPr>
              <a:tblGrid>
                <a:gridCol w="1508750"/>
                <a:gridCol w="1325875"/>
                <a:gridCol w="1234450"/>
                <a:gridCol w="1097275"/>
                <a:gridCol w="5806450"/>
              </a:tblGrid>
              <a:tr h="231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25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</a:tr>
              <a:tr h="23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AUTOINC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key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3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user_id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FK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FK → users.id; SET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3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content_type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STRING(50)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| sms | page_text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3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content_preview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STRING(500)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""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First 400 chars of analyzed content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3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phishing_score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0–100; higher = more likely phishing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3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verdict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STRING(50)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SAFE / SUSPICIOUS / PHISHING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3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flags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[]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array of detection flags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3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utcnow()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25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Analysis timestamp; UTC; indexed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</a:tbl>
          </a:graphicData>
        </a:graphic>
      </p:graphicFrame>
      <p:sp>
        <p:nvSpPr>
          <p:cNvPr id="502" name="Google Shape;502;p31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503" name="Google Shape;503;p31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504" name="Google Shape;504;p31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2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8 · CREATE DATA DICTIONARY</a:t>
            </a:r>
            <a:endParaRPr/>
          </a:p>
        </p:txBody>
      </p:sp>
      <p:sp>
        <p:nvSpPr>
          <p:cNvPr id="510" name="Google Shape;510;p32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8.4 Core Tables — watchlist_entries &amp; audit_log</a:t>
            </a:r>
            <a:endParaRPr/>
          </a:p>
        </p:txBody>
      </p:sp>
      <p:sp>
        <p:nvSpPr>
          <p:cNvPr id="511" name="Google Shape;511;p32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512" name="Google Shape;512;p32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 txBox="1"/>
          <p:nvPr/>
        </p:nvSpPr>
        <p:spPr>
          <a:xfrm>
            <a:off x="566928" y="868680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TABLE: watchlist_entries</a:t>
            </a:r>
            <a:endParaRPr/>
          </a:p>
        </p:txBody>
      </p:sp>
      <p:graphicFrame>
        <p:nvGraphicFramePr>
          <p:cNvPr id="514" name="Google Shape;514;p32"/>
          <p:cNvGraphicFramePr/>
          <p:nvPr/>
        </p:nvGraphicFramePr>
        <p:xfrm>
          <a:off x="566928" y="11612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{CE00C3AB-38B8-4B3B-9B5A-988E169025F8}</a:tableStyleId>
              </a:tblPr>
              <a:tblGrid>
                <a:gridCol w="1508750"/>
                <a:gridCol w="1325875"/>
                <a:gridCol w="1234450"/>
                <a:gridCol w="1097275"/>
                <a:gridCol w="5806450"/>
              </a:tblGrid>
              <a:tr h="299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</a:tr>
              <a:tr h="29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AUTOINC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key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user_id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FK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FK → users.id; CASCADE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kind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STRING(10)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sender | domain | url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STRING(2048)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address, domain or URL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STRING(200)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Optional user note; max 200 chars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utcnow()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 added; UTC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last_seen_at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 matched; UTC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15" name="Google Shape;515;p32"/>
          <p:cNvSpPr txBox="1"/>
          <p:nvPr/>
        </p:nvSpPr>
        <p:spPr>
          <a:xfrm>
            <a:off x="566928" y="384048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TABLE: audit_log</a:t>
            </a:r>
            <a:endParaRPr/>
          </a:p>
        </p:txBody>
      </p:sp>
      <p:graphicFrame>
        <p:nvGraphicFramePr>
          <p:cNvPr id="516" name="Google Shape;516;p32"/>
          <p:cNvGraphicFramePr/>
          <p:nvPr/>
        </p:nvGraphicFramePr>
        <p:xfrm>
          <a:off x="566928" y="41239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{CE00C3AB-38B8-4B3B-9B5A-988E169025F8}</a:tableStyleId>
              </a:tblPr>
              <a:tblGrid>
                <a:gridCol w="1508750"/>
                <a:gridCol w="1325875"/>
                <a:gridCol w="1234450"/>
                <a:gridCol w="1097275"/>
                <a:gridCol w="5806450"/>
              </a:tblGrid>
              <a:tr h="29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AUTOINC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key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user_id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FK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FK → users.id; SET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STRING(100)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user.promote | user.demote | user.delete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detail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or human-readable detail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ip_address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STRING(45)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 IPv4 / IPv6 address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utcnow()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 timestamp; UTC; indexed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</a:tbl>
          </a:graphicData>
        </a:graphic>
      </p:graphicFrame>
      <p:sp>
        <p:nvSpPr>
          <p:cNvPr id="517" name="Google Shape;517;p32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518" name="Google Shape;518;p32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519" name="Google Shape;519;p32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3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8 · CREATE DATA DICTIONARY</a:t>
            </a:r>
            <a:endParaRPr/>
          </a:p>
        </p:txBody>
      </p:sp>
      <p:sp>
        <p:nvSpPr>
          <p:cNvPr id="525" name="Google Shape;525;p33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8.5 Supporting Tables — api_keys &amp; webhooks</a:t>
            </a:r>
            <a:endParaRPr/>
          </a:p>
        </p:txBody>
      </p:sp>
      <p:sp>
        <p:nvSpPr>
          <p:cNvPr id="526" name="Google Shape;526;p33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27" name="Google Shape;527;p33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3"/>
          <p:cNvSpPr txBox="1"/>
          <p:nvPr/>
        </p:nvSpPr>
        <p:spPr>
          <a:xfrm>
            <a:off x="566928" y="86868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TABLE: api_keys</a:t>
            </a:r>
            <a:endParaRPr/>
          </a:p>
        </p:txBody>
      </p:sp>
      <p:graphicFrame>
        <p:nvGraphicFramePr>
          <p:cNvPr id="529" name="Google Shape;529;p33"/>
          <p:cNvGraphicFramePr/>
          <p:nvPr/>
        </p:nvGraphicFramePr>
        <p:xfrm>
          <a:off x="566928" y="11612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{CE00C3AB-38B8-4B3B-9B5A-988E169025F8}</a:tableStyleId>
              </a:tblPr>
              <a:tblGrid>
                <a:gridCol w="1508750"/>
                <a:gridCol w="1325875"/>
                <a:gridCol w="1234450"/>
                <a:gridCol w="1097275"/>
                <a:gridCol w="5806450"/>
              </a:tblGrid>
              <a:tr h="27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AUTOINC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key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user_id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FK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FK → users.id; CASCADE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key_hash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STRING(128)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Hashed API key; unique, indexed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STRING(100)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Human label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prefix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STRING(8)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First 8 chars for display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is_active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Currently active?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last_used_at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 used (UTC)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utcnow()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Creation time (UTC)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expires_at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Optional expiry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30" name="Google Shape;530;p33"/>
          <p:cNvSpPr txBox="1"/>
          <p:nvPr/>
        </p:nvSpPr>
        <p:spPr>
          <a:xfrm>
            <a:off x="566928" y="4133087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TABLE: webhooks</a:t>
            </a:r>
            <a:endParaRPr/>
          </a:p>
        </p:txBody>
      </p:sp>
      <p:graphicFrame>
        <p:nvGraphicFramePr>
          <p:cNvPr id="531" name="Google Shape;531;p33"/>
          <p:cNvGraphicFramePr/>
          <p:nvPr/>
        </p:nvGraphicFramePr>
        <p:xfrm>
          <a:off x="566928" y="44256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{CE00C3AB-38B8-4B3B-9B5A-988E169025F8}</a:tableStyleId>
              </a:tblPr>
              <a:tblGrid>
                <a:gridCol w="1508750"/>
                <a:gridCol w="1325875"/>
                <a:gridCol w="1234450"/>
                <a:gridCol w="1097275"/>
                <a:gridCol w="5806450"/>
              </a:tblGrid>
              <a:tr h="20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9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64000" marL="64000">
                    <a:solidFill>
                      <a:srgbClr val="1769AE"/>
                    </a:solidFill>
                  </a:tcPr>
                </a:tc>
              </a:tr>
              <a:tr h="20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AUTOINC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key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0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user_id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FK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FK → users.id; CASCADE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0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STRING(2048)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Webhook endpoint; HTTP/S only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0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secret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STRING(64)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HMAC-SHA256 secret; 32 hex chars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0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events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["scan.dangerous"]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array; event types or wildcard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0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is_active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Currently active?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  <a:tr h="20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last_triggered_at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 triggered time (UTC)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F4F7FA"/>
                    </a:solidFill>
                  </a:tcPr>
                </a:tc>
              </a:tr>
              <a:tr h="20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created_at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utcnow()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9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Creation time (UTC)</a:t>
                      </a:r>
                      <a:endParaRPr/>
                    </a:p>
                  </a:txBody>
                  <a:tcPr marT="36575" marB="36575" marR="54875" marL="54875">
                    <a:solidFill>
                      <a:srgbClr val="E6ECF4"/>
                    </a:solidFill>
                  </a:tcPr>
                </a:tc>
              </a:tr>
            </a:tbl>
          </a:graphicData>
        </a:graphic>
      </p:graphicFrame>
      <p:sp>
        <p:nvSpPr>
          <p:cNvPr id="532" name="Google Shape;532;p33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533" name="Google Shape;533;p33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534" name="Google Shape;534;p33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4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8 · CREATE DATA DICTIONARY</a:t>
            </a:r>
            <a:endParaRPr/>
          </a:p>
        </p:txBody>
      </p:sp>
      <p:sp>
        <p:nvSpPr>
          <p:cNvPr id="540" name="Google Shape;540;p34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8.6 Enumerated Values Reference</a:t>
            </a:r>
            <a:endParaRPr/>
          </a:p>
        </p:txBody>
      </p:sp>
      <p:sp>
        <p:nvSpPr>
          <p:cNvPr id="541" name="Google Shape;541;p34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542" name="Google Shape;542;p34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4"/>
          <p:cNvSpPr/>
          <p:nvPr/>
        </p:nvSpPr>
        <p:spPr>
          <a:xfrm>
            <a:off x="566928" y="932688"/>
            <a:ext cx="5138928" cy="111556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4"/>
          <p:cNvSpPr txBox="1"/>
          <p:nvPr/>
        </p:nvSpPr>
        <p:spPr>
          <a:xfrm>
            <a:off x="731520" y="1042416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VERDICT VALUES</a:t>
            </a:r>
            <a:endParaRPr/>
          </a:p>
        </p:txBody>
      </p:sp>
      <p:sp>
        <p:nvSpPr>
          <p:cNvPr id="545" name="Google Shape;545;p34"/>
          <p:cNvSpPr txBox="1"/>
          <p:nvPr/>
        </p:nvSpPr>
        <p:spPr>
          <a:xfrm>
            <a:off x="731520" y="1307592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SAFE</a:t>
            </a:r>
            <a:endParaRPr/>
          </a:p>
        </p:txBody>
      </p:sp>
      <p:sp>
        <p:nvSpPr>
          <p:cNvPr id="546" name="Google Shape;546;p34"/>
          <p:cNvSpPr txBox="1"/>
          <p:nvPr/>
        </p:nvSpPr>
        <p:spPr>
          <a:xfrm>
            <a:off x="2103120" y="1307592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URL/content appears legitimate</a:t>
            </a:r>
            <a:endParaRPr/>
          </a:p>
        </p:txBody>
      </p:sp>
      <p:sp>
        <p:nvSpPr>
          <p:cNvPr id="547" name="Google Shape;547;p34"/>
          <p:cNvSpPr txBox="1"/>
          <p:nvPr/>
        </p:nvSpPr>
        <p:spPr>
          <a:xfrm>
            <a:off x="731520" y="148132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LOW RISK</a:t>
            </a:r>
            <a:endParaRPr/>
          </a:p>
        </p:txBody>
      </p:sp>
      <p:sp>
        <p:nvSpPr>
          <p:cNvPr id="548" name="Google Shape;548;p34"/>
          <p:cNvSpPr txBox="1"/>
          <p:nvPr/>
        </p:nvSpPr>
        <p:spPr>
          <a:xfrm>
            <a:off x="2103120" y="1481328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Minor concerns; generally safe (scans only)</a:t>
            </a:r>
            <a:endParaRPr/>
          </a:p>
        </p:txBody>
      </p:sp>
      <p:sp>
        <p:nvSpPr>
          <p:cNvPr id="549" name="Google Shape;549;p34"/>
          <p:cNvSpPr txBox="1"/>
          <p:nvPr/>
        </p:nvSpPr>
        <p:spPr>
          <a:xfrm>
            <a:off x="731520" y="1655063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SUSPICIOUS</a:t>
            </a:r>
            <a:endParaRPr/>
          </a:p>
        </p:txBody>
      </p:sp>
      <p:sp>
        <p:nvSpPr>
          <p:cNvPr id="550" name="Google Shape;550;p34"/>
          <p:cNvSpPr txBox="1"/>
          <p:nvPr/>
        </p:nvSpPr>
        <p:spPr>
          <a:xfrm>
            <a:off x="2103120" y="1655063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Notable red flags; warrants caution</a:t>
            </a:r>
            <a:endParaRPr/>
          </a:p>
        </p:txBody>
      </p:sp>
      <p:sp>
        <p:nvSpPr>
          <p:cNvPr id="551" name="Google Shape;551;p34"/>
          <p:cNvSpPr txBox="1"/>
          <p:nvPr/>
        </p:nvSpPr>
        <p:spPr>
          <a:xfrm>
            <a:off x="731520" y="1828799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DANGEROUS</a:t>
            </a:r>
            <a:endParaRPr/>
          </a:p>
        </p:txBody>
      </p:sp>
      <p:sp>
        <p:nvSpPr>
          <p:cNvPr id="552" name="Google Shape;552;p34"/>
          <p:cNvSpPr txBox="1"/>
          <p:nvPr/>
        </p:nvSpPr>
        <p:spPr>
          <a:xfrm>
            <a:off x="2103120" y="1828799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High-risk URL (scan verdict only)</a:t>
            </a:r>
            <a:endParaRPr/>
          </a:p>
        </p:txBody>
      </p:sp>
      <p:sp>
        <p:nvSpPr>
          <p:cNvPr id="553" name="Google Shape;553;p34"/>
          <p:cNvSpPr/>
          <p:nvPr/>
        </p:nvSpPr>
        <p:spPr>
          <a:xfrm>
            <a:off x="6117325" y="932701"/>
            <a:ext cx="5139000" cy="1115700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4"/>
          <p:cNvSpPr txBox="1"/>
          <p:nvPr/>
        </p:nvSpPr>
        <p:spPr>
          <a:xfrm>
            <a:off x="6281928" y="1042416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RISK LEVEL VALUES</a:t>
            </a:r>
            <a:endParaRPr/>
          </a:p>
        </p:txBody>
      </p:sp>
      <p:sp>
        <p:nvSpPr>
          <p:cNvPr id="555" name="Google Shape;555;p34"/>
          <p:cNvSpPr txBox="1"/>
          <p:nvPr/>
        </p:nvSpPr>
        <p:spPr>
          <a:xfrm>
            <a:off x="6281928" y="1307592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safe</a:t>
            </a:r>
            <a:endParaRPr/>
          </a:p>
        </p:txBody>
      </p:sp>
      <p:sp>
        <p:nvSpPr>
          <p:cNvPr id="556" name="Google Shape;556;p34"/>
          <p:cNvSpPr txBox="1"/>
          <p:nvPr/>
        </p:nvSpPr>
        <p:spPr>
          <a:xfrm>
            <a:off x="7653528" y="1307592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Score ≥ 85</a:t>
            </a:r>
            <a:endParaRPr/>
          </a:p>
        </p:txBody>
      </p:sp>
      <p:sp>
        <p:nvSpPr>
          <p:cNvPr id="557" name="Google Shape;557;p34"/>
          <p:cNvSpPr txBox="1"/>
          <p:nvPr/>
        </p:nvSpPr>
        <p:spPr>
          <a:xfrm>
            <a:off x="6281928" y="148132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/>
          </a:p>
        </p:txBody>
      </p:sp>
      <p:sp>
        <p:nvSpPr>
          <p:cNvPr id="558" name="Google Shape;558;p34"/>
          <p:cNvSpPr txBox="1"/>
          <p:nvPr/>
        </p:nvSpPr>
        <p:spPr>
          <a:xfrm>
            <a:off x="7653528" y="1481328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Score ≥ 70 and &lt; 85</a:t>
            </a:r>
            <a:endParaRPr/>
          </a:p>
        </p:txBody>
      </p:sp>
      <p:sp>
        <p:nvSpPr>
          <p:cNvPr id="559" name="Google Shape;559;p34"/>
          <p:cNvSpPr txBox="1"/>
          <p:nvPr/>
        </p:nvSpPr>
        <p:spPr>
          <a:xfrm>
            <a:off x="6281928" y="1655063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suspicious</a:t>
            </a:r>
            <a:endParaRPr/>
          </a:p>
        </p:txBody>
      </p:sp>
      <p:sp>
        <p:nvSpPr>
          <p:cNvPr id="560" name="Google Shape;560;p34"/>
          <p:cNvSpPr txBox="1"/>
          <p:nvPr/>
        </p:nvSpPr>
        <p:spPr>
          <a:xfrm>
            <a:off x="7653528" y="1655063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Score ≥ 40 and &lt; 70</a:t>
            </a:r>
            <a:endParaRPr/>
          </a:p>
        </p:txBody>
      </p:sp>
      <p:sp>
        <p:nvSpPr>
          <p:cNvPr id="561" name="Google Shape;561;p34"/>
          <p:cNvSpPr txBox="1"/>
          <p:nvPr/>
        </p:nvSpPr>
        <p:spPr>
          <a:xfrm>
            <a:off x="6281928" y="1828799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critical</a:t>
            </a:r>
            <a:endParaRPr/>
          </a:p>
        </p:txBody>
      </p:sp>
      <p:sp>
        <p:nvSpPr>
          <p:cNvPr id="562" name="Google Shape;562;p34"/>
          <p:cNvSpPr txBox="1"/>
          <p:nvPr/>
        </p:nvSpPr>
        <p:spPr>
          <a:xfrm>
            <a:off x="7653528" y="1828799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Score &lt; 40</a:t>
            </a:r>
            <a:endParaRPr/>
          </a:p>
        </p:txBody>
      </p:sp>
      <p:sp>
        <p:nvSpPr>
          <p:cNvPr id="563" name="Google Shape;563;p34"/>
          <p:cNvSpPr/>
          <p:nvPr/>
        </p:nvSpPr>
        <p:spPr>
          <a:xfrm>
            <a:off x="566928" y="2084832"/>
            <a:ext cx="5138928" cy="987552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4"/>
          <p:cNvSpPr txBox="1"/>
          <p:nvPr/>
        </p:nvSpPr>
        <p:spPr>
          <a:xfrm>
            <a:off x="731520" y="2194560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WATCHLIST KIND</a:t>
            </a:r>
            <a:endParaRPr/>
          </a:p>
        </p:txBody>
      </p:sp>
      <p:sp>
        <p:nvSpPr>
          <p:cNvPr id="565" name="Google Shape;565;p34"/>
          <p:cNvSpPr txBox="1"/>
          <p:nvPr/>
        </p:nvSpPr>
        <p:spPr>
          <a:xfrm>
            <a:off x="731520" y="245973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sender</a:t>
            </a:r>
            <a:endParaRPr/>
          </a:p>
        </p:txBody>
      </p:sp>
      <p:sp>
        <p:nvSpPr>
          <p:cNvPr id="566" name="Google Shape;566;p34"/>
          <p:cNvSpPr txBox="1"/>
          <p:nvPr/>
        </p:nvSpPr>
        <p:spPr>
          <a:xfrm>
            <a:off x="2103120" y="2459736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Email address</a:t>
            </a:r>
            <a:endParaRPr/>
          </a:p>
        </p:txBody>
      </p:sp>
      <p:sp>
        <p:nvSpPr>
          <p:cNvPr id="567" name="Google Shape;567;p34"/>
          <p:cNvSpPr txBox="1"/>
          <p:nvPr/>
        </p:nvSpPr>
        <p:spPr>
          <a:xfrm>
            <a:off x="731520" y="2633472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domain</a:t>
            </a:r>
            <a:endParaRPr/>
          </a:p>
        </p:txBody>
      </p:sp>
      <p:sp>
        <p:nvSpPr>
          <p:cNvPr id="568" name="Google Shape;568;p34"/>
          <p:cNvSpPr txBox="1"/>
          <p:nvPr/>
        </p:nvSpPr>
        <p:spPr>
          <a:xfrm>
            <a:off x="2103120" y="2633472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Domain name</a:t>
            </a:r>
            <a:endParaRPr/>
          </a:p>
        </p:txBody>
      </p:sp>
      <p:sp>
        <p:nvSpPr>
          <p:cNvPr id="569" name="Google Shape;569;p34"/>
          <p:cNvSpPr txBox="1"/>
          <p:nvPr/>
        </p:nvSpPr>
        <p:spPr>
          <a:xfrm>
            <a:off x="731520" y="280720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/>
          </a:p>
        </p:txBody>
      </p:sp>
      <p:sp>
        <p:nvSpPr>
          <p:cNvPr id="570" name="Google Shape;570;p34"/>
          <p:cNvSpPr txBox="1"/>
          <p:nvPr/>
        </p:nvSpPr>
        <p:spPr>
          <a:xfrm>
            <a:off x="2103120" y="2807208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Full URL</a:t>
            </a:r>
            <a:endParaRPr/>
          </a:p>
        </p:txBody>
      </p:sp>
      <p:sp>
        <p:nvSpPr>
          <p:cNvPr id="571" name="Google Shape;571;p34"/>
          <p:cNvSpPr/>
          <p:nvPr/>
        </p:nvSpPr>
        <p:spPr>
          <a:xfrm>
            <a:off x="6117336" y="2084832"/>
            <a:ext cx="5138928" cy="987552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4"/>
          <p:cNvSpPr txBox="1"/>
          <p:nvPr/>
        </p:nvSpPr>
        <p:spPr>
          <a:xfrm>
            <a:off x="6281928" y="2194560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CONTENT TYPE</a:t>
            </a:r>
            <a:endParaRPr/>
          </a:p>
        </p:txBody>
      </p:sp>
      <p:sp>
        <p:nvSpPr>
          <p:cNvPr id="573" name="Google Shape;573;p34"/>
          <p:cNvSpPr txBox="1"/>
          <p:nvPr/>
        </p:nvSpPr>
        <p:spPr>
          <a:xfrm>
            <a:off x="6281928" y="245973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/>
          </a:p>
        </p:txBody>
      </p:sp>
      <p:sp>
        <p:nvSpPr>
          <p:cNvPr id="574" name="Google Shape;574;p34"/>
          <p:cNvSpPr txBox="1"/>
          <p:nvPr/>
        </p:nvSpPr>
        <p:spPr>
          <a:xfrm>
            <a:off x="7653528" y="2459736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Email body</a:t>
            </a:r>
            <a:endParaRPr/>
          </a:p>
        </p:txBody>
      </p:sp>
      <p:sp>
        <p:nvSpPr>
          <p:cNvPr id="575" name="Google Shape;575;p34"/>
          <p:cNvSpPr txBox="1"/>
          <p:nvPr/>
        </p:nvSpPr>
        <p:spPr>
          <a:xfrm>
            <a:off x="6281928" y="2633472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sms</a:t>
            </a:r>
            <a:endParaRPr/>
          </a:p>
        </p:txBody>
      </p:sp>
      <p:sp>
        <p:nvSpPr>
          <p:cNvPr id="576" name="Google Shape;576;p34"/>
          <p:cNvSpPr txBox="1"/>
          <p:nvPr/>
        </p:nvSpPr>
        <p:spPr>
          <a:xfrm>
            <a:off x="7653528" y="2633472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SMS / text message</a:t>
            </a:r>
            <a:endParaRPr/>
          </a:p>
        </p:txBody>
      </p:sp>
      <p:sp>
        <p:nvSpPr>
          <p:cNvPr id="577" name="Google Shape;577;p34"/>
          <p:cNvSpPr txBox="1"/>
          <p:nvPr/>
        </p:nvSpPr>
        <p:spPr>
          <a:xfrm>
            <a:off x="6281928" y="280720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page_text</a:t>
            </a:r>
            <a:endParaRPr/>
          </a:p>
        </p:txBody>
      </p:sp>
      <p:sp>
        <p:nvSpPr>
          <p:cNvPr id="578" name="Google Shape;578;p34"/>
          <p:cNvSpPr txBox="1"/>
          <p:nvPr/>
        </p:nvSpPr>
        <p:spPr>
          <a:xfrm>
            <a:off x="7653528" y="2807208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Web page text</a:t>
            </a:r>
            <a:endParaRPr/>
          </a:p>
        </p:txBody>
      </p:sp>
      <p:sp>
        <p:nvSpPr>
          <p:cNvPr id="579" name="Google Shape;579;p34"/>
          <p:cNvSpPr/>
          <p:nvPr/>
        </p:nvSpPr>
        <p:spPr>
          <a:xfrm>
            <a:off x="566888" y="3163837"/>
            <a:ext cx="5139000" cy="1527000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4"/>
          <p:cNvSpPr txBox="1"/>
          <p:nvPr/>
        </p:nvSpPr>
        <p:spPr>
          <a:xfrm>
            <a:off x="731520" y="334670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FINDING SEVERITY</a:t>
            </a:r>
            <a:endParaRPr/>
          </a:p>
        </p:txBody>
      </p:sp>
      <p:sp>
        <p:nvSpPr>
          <p:cNvPr id="581" name="Google Shape;581;p34"/>
          <p:cNvSpPr txBox="1"/>
          <p:nvPr/>
        </p:nvSpPr>
        <p:spPr>
          <a:xfrm>
            <a:off x="731520" y="3611880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critical</a:t>
            </a:r>
            <a:endParaRPr/>
          </a:p>
        </p:txBody>
      </p:sp>
      <p:sp>
        <p:nvSpPr>
          <p:cNvPr id="582" name="Google Shape;582;p34"/>
          <p:cNvSpPr txBox="1"/>
          <p:nvPr/>
        </p:nvSpPr>
        <p:spPr>
          <a:xfrm>
            <a:off x="2103120" y="3611880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Severe security issue</a:t>
            </a:r>
            <a:endParaRPr/>
          </a:p>
        </p:txBody>
      </p:sp>
      <p:sp>
        <p:nvSpPr>
          <p:cNvPr id="583" name="Google Shape;583;p34"/>
          <p:cNvSpPr txBox="1"/>
          <p:nvPr/>
        </p:nvSpPr>
        <p:spPr>
          <a:xfrm>
            <a:off x="731520" y="378561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/>
          </a:p>
        </p:txBody>
      </p:sp>
      <p:sp>
        <p:nvSpPr>
          <p:cNvPr id="584" name="Google Shape;584;p34"/>
          <p:cNvSpPr txBox="1"/>
          <p:nvPr/>
        </p:nvSpPr>
        <p:spPr>
          <a:xfrm>
            <a:off x="2103120" y="3785616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Significant concern</a:t>
            </a:r>
            <a:endParaRPr/>
          </a:p>
        </p:txBody>
      </p:sp>
      <p:sp>
        <p:nvSpPr>
          <p:cNvPr id="585" name="Google Shape;585;p34"/>
          <p:cNvSpPr txBox="1"/>
          <p:nvPr/>
        </p:nvSpPr>
        <p:spPr>
          <a:xfrm>
            <a:off x="731520" y="3959352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/>
          </a:p>
        </p:txBody>
      </p:sp>
      <p:sp>
        <p:nvSpPr>
          <p:cNvPr id="586" name="Google Shape;586;p34"/>
          <p:cNvSpPr txBox="1"/>
          <p:nvPr/>
        </p:nvSpPr>
        <p:spPr>
          <a:xfrm>
            <a:off x="2103120" y="3959352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Moderate concern</a:t>
            </a:r>
            <a:endParaRPr/>
          </a:p>
        </p:txBody>
      </p:sp>
      <p:sp>
        <p:nvSpPr>
          <p:cNvPr id="587" name="Google Shape;587;p34"/>
          <p:cNvSpPr txBox="1"/>
          <p:nvPr/>
        </p:nvSpPr>
        <p:spPr>
          <a:xfrm>
            <a:off x="731520" y="4133088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/>
          </a:p>
        </p:txBody>
      </p:sp>
      <p:sp>
        <p:nvSpPr>
          <p:cNvPr id="588" name="Google Shape;588;p34"/>
          <p:cNvSpPr txBox="1"/>
          <p:nvPr/>
        </p:nvSpPr>
        <p:spPr>
          <a:xfrm>
            <a:off x="2103120" y="4133088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Minor concern</a:t>
            </a:r>
            <a:endParaRPr/>
          </a:p>
        </p:txBody>
      </p:sp>
      <p:sp>
        <p:nvSpPr>
          <p:cNvPr id="589" name="Google Shape;589;p34"/>
          <p:cNvSpPr txBox="1"/>
          <p:nvPr/>
        </p:nvSpPr>
        <p:spPr>
          <a:xfrm>
            <a:off x="731520" y="4306824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/>
          </a:p>
        </p:txBody>
      </p:sp>
      <p:sp>
        <p:nvSpPr>
          <p:cNvPr id="590" name="Google Shape;590;p34"/>
          <p:cNvSpPr txBox="1"/>
          <p:nvPr/>
        </p:nvSpPr>
        <p:spPr>
          <a:xfrm>
            <a:off x="2103120" y="4306824"/>
            <a:ext cx="3365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Informational only</a:t>
            </a:r>
            <a:endParaRPr/>
          </a:p>
        </p:txBody>
      </p:sp>
      <p:sp>
        <p:nvSpPr>
          <p:cNvPr id="591" name="Google Shape;591;p34"/>
          <p:cNvSpPr txBox="1"/>
          <p:nvPr/>
        </p:nvSpPr>
        <p:spPr>
          <a:xfrm>
            <a:off x="731520" y="4480560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/>
          </a:p>
        </p:txBody>
      </p:sp>
      <p:sp>
        <p:nvSpPr>
          <p:cNvPr id="592" name="Google Shape;592;p34"/>
          <p:cNvSpPr txBox="1"/>
          <p:nvPr/>
        </p:nvSpPr>
        <p:spPr>
          <a:xfrm>
            <a:off x="2103120" y="4480560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Positive signal</a:t>
            </a:r>
            <a:endParaRPr/>
          </a:p>
        </p:txBody>
      </p:sp>
      <p:sp>
        <p:nvSpPr>
          <p:cNvPr id="593" name="Google Shape;593;p34"/>
          <p:cNvSpPr/>
          <p:nvPr/>
        </p:nvSpPr>
        <p:spPr>
          <a:xfrm>
            <a:off x="6117336" y="3236976"/>
            <a:ext cx="5138928" cy="987552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4"/>
          <p:cNvSpPr txBox="1"/>
          <p:nvPr/>
        </p:nvSpPr>
        <p:spPr>
          <a:xfrm>
            <a:off x="6281928" y="334670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THREAT INTEL STATUS</a:t>
            </a:r>
            <a:endParaRPr/>
          </a:p>
        </p:txBody>
      </p:sp>
      <p:sp>
        <p:nvSpPr>
          <p:cNvPr id="595" name="Google Shape;595;p34"/>
          <p:cNvSpPr txBox="1"/>
          <p:nvPr/>
        </p:nvSpPr>
        <p:spPr>
          <a:xfrm>
            <a:off x="6281928" y="3611880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/>
          </a:p>
        </p:txBody>
      </p:sp>
      <p:sp>
        <p:nvSpPr>
          <p:cNvPr id="596" name="Google Shape;596;p34"/>
          <p:cNvSpPr txBox="1"/>
          <p:nvPr/>
        </p:nvSpPr>
        <p:spPr>
          <a:xfrm>
            <a:off x="7653528" y="3611880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Provider query succeeded</a:t>
            </a:r>
            <a:endParaRPr/>
          </a:p>
        </p:txBody>
      </p:sp>
      <p:sp>
        <p:nvSpPr>
          <p:cNvPr id="597" name="Google Shape;597;p34"/>
          <p:cNvSpPr txBox="1"/>
          <p:nvPr/>
        </p:nvSpPr>
        <p:spPr>
          <a:xfrm>
            <a:off x="6281928" y="378561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skipped</a:t>
            </a:r>
            <a:endParaRPr/>
          </a:p>
        </p:txBody>
      </p:sp>
      <p:sp>
        <p:nvSpPr>
          <p:cNvPr id="598" name="Google Shape;598;p34"/>
          <p:cNvSpPr txBox="1"/>
          <p:nvPr/>
        </p:nvSpPr>
        <p:spPr>
          <a:xfrm>
            <a:off x="7653528" y="3785616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API key not configured</a:t>
            </a:r>
            <a:endParaRPr/>
          </a:p>
        </p:txBody>
      </p:sp>
      <p:sp>
        <p:nvSpPr>
          <p:cNvPr id="599" name="Google Shape;599;p34"/>
          <p:cNvSpPr txBox="1"/>
          <p:nvPr/>
        </p:nvSpPr>
        <p:spPr>
          <a:xfrm>
            <a:off x="6281928" y="3959352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/>
          </a:p>
        </p:txBody>
      </p:sp>
      <p:sp>
        <p:nvSpPr>
          <p:cNvPr id="600" name="Google Shape;600;p34"/>
          <p:cNvSpPr txBox="1"/>
          <p:nvPr/>
        </p:nvSpPr>
        <p:spPr>
          <a:xfrm>
            <a:off x="7653528" y="3959352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Provider query failed</a:t>
            </a:r>
            <a:endParaRPr/>
          </a:p>
        </p:txBody>
      </p:sp>
      <p:sp>
        <p:nvSpPr>
          <p:cNvPr id="601" name="Google Shape;601;p34"/>
          <p:cNvSpPr/>
          <p:nvPr/>
        </p:nvSpPr>
        <p:spPr>
          <a:xfrm>
            <a:off x="539453" y="4796008"/>
            <a:ext cx="5139000" cy="987600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4"/>
          <p:cNvSpPr txBox="1"/>
          <p:nvPr/>
        </p:nvSpPr>
        <p:spPr>
          <a:xfrm>
            <a:off x="704058" y="4992598"/>
            <a:ext cx="47550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AUTH ACTION</a:t>
            </a:r>
            <a:endParaRPr/>
          </a:p>
        </p:txBody>
      </p:sp>
      <p:sp>
        <p:nvSpPr>
          <p:cNvPr id="603" name="Google Shape;603;p34"/>
          <p:cNvSpPr txBox="1"/>
          <p:nvPr/>
        </p:nvSpPr>
        <p:spPr>
          <a:xfrm>
            <a:off x="704058" y="5257774"/>
            <a:ext cx="13533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user.promote</a:t>
            </a:r>
            <a:endParaRPr/>
          </a:p>
        </p:txBody>
      </p:sp>
      <p:sp>
        <p:nvSpPr>
          <p:cNvPr id="604" name="Google Shape;604;p34"/>
          <p:cNvSpPr txBox="1"/>
          <p:nvPr/>
        </p:nvSpPr>
        <p:spPr>
          <a:xfrm>
            <a:off x="2075657" y="5257774"/>
            <a:ext cx="3365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Promote to admin</a:t>
            </a:r>
            <a:endParaRPr/>
          </a:p>
        </p:txBody>
      </p:sp>
      <p:sp>
        <p:nvSpPr>
          <p:cNvPr id="605" name="Google Shape;605;p34"/>
          <p:cNvSpPr txBox="1"/>
          <p:nvPr/>
        </p:nvSpPr>
        <p:spPr>
          <a:xfrm>
            <a:off x="704058" y="5431510"/>
            <a:ext cx="13533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user.demote</a:t>
            </a:r>
            <a:endParaRPr/>
          </a:p>
        </p:txBody>
      </p:sp>
      <p:sp>
        <p:nvSpPr>
          <p:cNvPr id="606" name="Google Shape;606;p34"/>
          <p:cNvSpPr txBox="1"/>
          <p:nvPr/>
        </p:nvSpPr>
        <p:spPr>
          <a:xfrm>
            <a:off x="2075657" y="5431510"/>
            <a:ext cx="3365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Demote from admin</a:t>
            </a:r>
            <a:endParaRPr/>
          </a:p>
        </p:txBody>
      </p:sp>
      <p:sp>
        <p:nvSpPr>
          <p:cNvPr id="607" name="Google Shape;607;p34"/>
          <p:cNvSpPr txBox="1"/>
          <p:nvPr/>
        </p:nvSpPr>
        <p:spPr>
          <a:xfrm>
            <a:off x="704058" y="5605246"/>
            <a:ext cx="13533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user.delete</a:t>
            </a:r>
            <a:endParaRPr/>
          </a:p>
        </p:txBody>
      </p:sp>
      <p:sp>
        <p:nvSpPr>
          <p:cNvPr id="608" name="Google Shape;608;p34"/>
          <p:cNvSpPr txBox="1"/>
          <p:nvPr/>
        </p:nvSpPr>
        <p:spPr>
          <a:xfrm>
            <a:off x="2075657" y="5605246"/>
            <a:ext cx="3365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Delete user</a:t>
            </a:r>
            <a:endParaRPr/>
          </a:p>
        </p:txBody>
      </p:sp>
      <p:sp>
        <p:nvSpPr>
          <p:cNvPr id="609" name="Google Shape;609;p34"/>
          <p:cNvSpPr/>
          <p:nvPr/>
        </p:nvSpPr>
        <p:spPr>
          <a:xfrm>
            <a:off x="6117336" y="4389120"/>
            <a:ext cx="5138928" cy="987552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4"/>
          <p:cNvSpPr txBox="1"/>
          <p:nvPr/>
        </p:nvSpPr>
        <p:spPr>
          <a:xfrm>
            <a:off x="6281928" y="4498848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WEBHOOK EVENTS</a:t>
            </a:r>
            <a:endParaRPr/>
          </a:p>
        </p:txBody>
      </p:sp>
      <p:sp>
        <p:nvSpPr>
          <p:cNvPr id="611" name="Google Shape;611;p34"/>
          <p:cNvSpPr txBox="1"/>
          <p:nvPr/>
        </p:nvSpPr>
        <p:spPr>
          <a:xfrm>
            <a:off x="6281928" y="4764024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scan.dangerous</a:t>
            </a:r>
            <a:endParaRPr/>
          </a:p>
        </p:txBody>
      </p:sp>
      <p:sp>
        <p:nvSpPr>
          <p:cNvPr id="612" name="Google Shape;612;p34"/>
          <p:cNvSpPr txBox="1"/>
          <p:nvPr/>
        </p:nvSpPr>
        <p:spPr>
          <a:xfrm>
            <a:off x="7653528" y="4764024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Fired for DANGEROUS scan</a:t>
            </a:r>
            <a:endParaRPr/>
          </a:p>
        </p:txBody>
      </p:sp>
      <p:sp>
        <p:nvSpPr>
          <p:cNvPr id="613" name="Google Shape;613;p34"/>
          <p:cNvSpPr txBox="1"/>
          <p:nvPr/>
        </p:nvSpPr>
        <p:spPr>
          <a:xfrm>
            <a:off x="7653528" y="4937760"/>
            <a:ext cx="3364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Wildcard: all events</a:t>
            </a:r>
            <a:endParaRPr/>
          </a:p>
        </p:txBody>
      </p:sp>
      <p:sp>
        <p:nvSpPr>
          <p:cNvPr id="614" name="Google Shape;614;p34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615" name="Google Shape;615;p34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616" name="Google Shape;616;p34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5"/>
          <p:cNvSpPr txBox="1"/>
          <p:nvPr/>
        </p:nvSpPr>
        <p:spPr>
          <a:xfrm>
            <a:off x="502920" y="201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8 · CREATE DATA DICTIONARY</a:t>
            </a:r>
            <a:endParaRPr/>
          </a:p>
        </p:txBody>
      </p:sp>
      <p:sp>
        <p:nvSpPr>
          <p:cNvPr id="622" name="Google Shape;622;p35"/>
          <p:cNvSpPr txBox="1"/>
          <p:nvPr/>
        </p:nvSpPr>
        <p:spPr>
          <a:xfrm>
            <a:off x="502920" y="329184"/>
            <a:ext cx="9784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8.7 Reference Data — Hardcoded Detection Knowledge</a:t>
            </a:r>
            <a:endParaRPr/>
          </a:p>
        </p:txBody>
      </p:sp>
      <p:sp>
        <p:nvSpPr>
          <p:cNvPr id="623" name="Google Shape;623;p35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624" name="Google Shape;624;p35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5"/>
          <p:cNvSpPr txBox="1"/>
          <p:nvPr/>
        </p:nvSpPr>
        <p:spPr>
          <a:xfrm>
            <a:off x="566928" y="87782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Reference lists used by the rule-based URL / phishing detection components</a:t>
            </a:r>
            <a:endParaRPr/>
          </a:p>
        </p:txBody>
      </p:sp>
      <p:sp>
        <p:nvSpPr>
          <p:cNvPr id="626" name="Google Shape;626;p35"/>
          <p:cNvSpPr/>
          <p:nvPr/>
        </p:nvSpPr>
        <p:spPr>
          <a:xfrm>
            <a:off x="594360" y="1307592"/>
            <a:ext cx="10927080" cy="786384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5"/>
          <p:cNvSpPr txBox="1"/>
          <p:nvPr/>
        </p:nvSpPr>
        <p:spPr>
          <a:xfrm>
            <a:off x="804672" y="1417319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SUSPICIOUS TLDs · 57</a:t>
            </a:r>
            <a:endParaRPr/>
          </a:p>
        </p:txBody>
      </p:sp>
      <p:sp>
        <p:nvSpPr>
          <p:cNvPr id="628" name="Google Shape;628;p35"/>
          <p:cNvSpPr txBox="1"/>
          <p:nvPr/>
        </p:nvSpPr>
        <p:spPr>
          <a:xfrm>
            <a:off x="3154680" y="1399032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tk, ml, ga, cf, gq, top, xyz, work, click, loan, men, win, bid, date, racing, review, stream, download, gdn, country, kim, science, party, link, wang, xin, monster, rest, fit, accountant, trade, website, site, online, live, club, cyou, icu, buzz, quest, cam, mom, lol, zip, mov</a:t>
            </a:r>
            <a:endParaRPr/>
          </a:p>
        </p:txBody>
      </p:sp>
      <p:sp>
        <p:nvSpPr>
          <p:cNvPr id="629" name="Google Shape;629;p35"/>
          <p:cNvSpPr/>
          <p:nvPr/>
        </p:nvSpPr>
        <p:spPr>
          <a:xfrm>
            <a:off x="594360" y="2240280"/>
            <a:ext cx="10927080" cy="786384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5"/>
          <p:cNvSpPr txBox="1"/>
          <p:nvPr/>
        </p:nvSpPr>
        <p:spPr>
          <a:xfrm>
            <a:off x="804672" y="235000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URL SHORTENERS · 21</a:t>
            </a:r>
            <a:endParaRPr/>
          </a:p>
        </p:txBody>
      </p:sp>
      <p:sp>
        <p:nvSpPr>
          <p:cNvPr id="631" name="Google Shape;631;p35"/>
          <p:cNvSpPr txBox="1"/>
          <p:nvPr/>
        </p:nvSpPr>
        <p:spPr>
          <a:xfrm>
            <a:off x="3154680" y="2331720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bit.ly, tinyurl.com, t.co, goo.gl, ow.ly, is.gd, buff.ly, rebrand.ly, cutt.ly, shorturl.at, rb.gy, tiny.cc, s.id, v.gd, soo.gd, t.ly, lnkd.in, x.co, qr.ae</a:t>
            </a:r>
            <a:endParaRPr/>
          </a:p>
        </p:txBody>
      </p:sp>
      <p:sp>
        <p:nvSpPr>
          <p:cNvPr id="632" name="Google Shape;632;p35"/>
          <p:cNvSpPr/>
          <p:nvPr/>
        </p:nvSpPr>
        <p:spPr>
          <a:xfrm>
            <a:off x="594360" y="3172968"/>
            <a:ext cx="10927080" cy="786384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5"/>
          <p:cNvSpPr txBox="1"/>
          <p:nvPr/>
        </p:nvSpPr>
        <p:spPr>
          <a:xfrm>
            <a:off x="804672" y="3282696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CREDENTIAL HINTS · 15</a:t>
            </a:r>
            <a:endParaRPr/>
          </a:p>
        </p:txBody>
      </p:sp>
      <p:sp>
        <p:nvSpPr>
          <p:cNvPr id="634" name="Google Shape;634;p35"/>
          <p:cNvSpPr txBox="1"/>
          <p:nvPr/>
        </p:nvSpPr>
        <p:spPr>
          <a:xfrm>
            <a:off x="3154680" y="3264408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login, signin, verify, secure, account, update, confirm, wallet, auth, password, recover, unlock, validate, billing</a:t>
            </a:r>
            <a:endParaRPr/>
          </a:p>
        </p:txBody>
      </p:sp>
      <p:sp>
        <p:nvSpPr>
          <p:cNvPr id="635" name="Google Shape;635;p35"/>
          <p:cNvSpPr/>
          <p:nvPr/>
        </p:nvSpPr>
        <p:spPr>
          <a:xfrm>
            <a:off x="594360" y="4105656"/>
            <a:ext cx="10927080" cy="786384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5"/>
          <p:cNvSpPr txBox="1"/>
          <p:nvPr/>
        </p:nvSpPr>
        <p:spPr>
          <a:xfrm>
            <a:off x="804672" y="421538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FREE MAIL DOMAINS · 15</a:t>
            </a:r>
            <a:endParaRPr/>
          </a:p>
        </p:txBody>
      </p:sp>
      <p:sp>
        <p:nvSpPr>
          <p:cNvPr id="637" name="Google Shape;637;p35"/>
          <p:cNvSpPr txBox="1"/>
          <p:nvPr/>
        </p:nvSpPr>
        <p:spPr>
          <a:xfrm>
            <a:off x="3154680" y="4197096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gmail.com, googlemail.com, yahoo.com, yahoo.co.uk, hotmail.com, outlook.com, live.com, aol.com, icloud.com, protonmail.com, proton.me, mail.com, gmx.com, zoho.com</a:t>
            </a:r>
            <a:endParaRPr/>
          </a:p>
        </p:txBody>
      </p:sp>
      <p:sp>
        <p:nvSpPr>
          <p:cNvPr id="638" name="Google Shape;638;p35"/>
          <p:cNvSpPr/>
          <p:nvPr/>
        </p:nvSpPr>
        <p:spPr>
          <a:xfrm>
            <a:off x="594360" y="5038344"/>
            <a:ext cx="10927080" cy="1024128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5"/>
          <p:cNvSpPr txBox="1"/>
          <p:nvPr/>
        </p:nvSpPr>
        <p:spPr>
          <a:xfrm>
            <a:off x="804672" y="514807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POPULAR BRANDS</a:t>
            </a:r>
            <a:endParaRPr/>
          </a:p>
        </p:txBody>
      </p:sp>
      <p:sp>
        <p:nvSpPr>
          <p:cNvPr id="640" name="Google Shape;640;p35"/>
          <p:cNvSpPr txBox="1"/>
          <p:nvPr/>
        </p:nvSpPr>
        <p:spPr>
          <a:xfrm>
            <a:off x="3154680" y="5129783"/>
            <a:ext cx="804672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google, youtube, gmail, facebook, instagram, whatsapp, twitter / x, telegram, tiktok, snapchat, paypal, amazon, ebay, apple, icloud, microsoft, outlook, office, onedrive, netflix, spotify, twitch, linkedin, github, dropbox, steam, epicgames, coinbase, binance, blockchain, metamask, chase, wellsfargo, bankofamerica, citibank, capitalone, hsbc, barclays, fedex, ups, usps, dhl, walmart, target, bestbuy, airbnb, booking, expedia, adobe, salesforce, wordpress</a:t>
            </a:r>
            <a:endParaRPr/>
          </a:p>
        </p:txBody>
      </p:sp>
      <p:sp>
        <p:nvSpPr>
          <p:cNvPr id="641" name="Google Shape;641;p35"/>
          <p:cNvSpPr txBox="1"/>
          <p:nvPr/>
        </p:nvSpPr>
        <p:spPr>
          <a:xfrm>
            <a:off x="502920" y="6556248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642" name="Google Shape;642;p35"/>
          <p:cNvSpPr txBox="1"/>
          <p:nvPr/>
        </p:nvSpPr>
        <p:spPr>
          <a:xfrm>
            <a:off x="9326880" y="6556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643" name="Google Shape;643;p35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6"/>
          <p:cNvSpPr txBox="1"/>
          <p:nvPr/>
        </p:nvSpPr>
        <p:spPr>
          <a:xfrm>
            <a:off x="502920" y="20116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9 · FINALIZE DATABASE SCHEMA</a:t>
            </a:r>
            <a:endParaRPr/>
          </a:p>
        </p:txBody>
      </p:sp>
      <p:sp>
        <p:nvSpPr>
          <p:cNvPr id="649" name="Google Shape;649;p36"/>
          <p:cNvSpPr txBox="1"/>
          <p:nvPr/>
        </p:nvSpPr>
        <p:spPr>
          <a:xfrm>
            <a:off x="502920" y="338328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9.1 Complete Entity-Relationship View</a:t>
            </a:r>
            <a:endParaRPr/>
          </a:p>
        </p:txBody>
      </p:sp>
      <p:sp>
        <p:nvSpPr>
          <p:cNvPr id="650" name="Google Shape;650;p36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651" name="Google Shape;651;p36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6"/>
          <p:cNvSpPr txBox="1"/>
          <p:nvPr/>
        </p:nvSpPr>
        <p:spPr>
          <a:xfrm>
            <a:off x="566928" y="87782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4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Eight persistent entities are linked through the User root with explicit CASCADE vs SET NULL policies.</a:t>
            </a:r>
            <a:endParaRPr/>
          </a:p>
        </p:txBody>
      </p:sp>
      <p:sp>
        <p:nvSpPr>
          <p:cNvPr id="653" name="Google Shape;653;p36"/>
          <p:cNvSpPr/>
          <p:nvPr/>
        </p:nvSpPr>
        <p:spPr>
          <a:xfrm>
            <a:off x="4526280" y="1417320"/>
            <a:ext cx="2331720" cy="841248"/>
          </a:xfrm>
          <a:prstGeom prst="roundRect">
            <a:avLst>
              <a:gd fmla="val 16667" name="adj"/>
            </a:avLst>
          </a:prstGeom>
          <a:solidFill>
            <a:srgbClr val="1B2D4A"/>
          </a:solidFill>
          <a:ln cap="flat" cmpd="sng" w="101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6"/>
          <p:cNvSpPr txBox="1"/>
          <p:nvPr/>
        </p:nvSpPr>
        <p:spPr>
          <a:xfrm>
            <a:off x="4681728" y="155448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/>
          </a:p>
        </p:txBody>
      </p:sp>
      <p:sp>
        <p:nvSpPr>
          <p:cNvPr id="655" name="Google Shape;655;p36"/>
          <p:cNvSpPr txBox="1"/>
          <p:nvPr/>
        </p:nvSpPr>
        <p:spPr>
          <a:xfrm>
            <a:off x="4681728" y="18288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id · username · email · is_admin</a:t>
            </a:r>
            <a:endParaRPr/>
          </a:p>
        </p:txBody>
      </p:sp>
      <p:sp>
        <p:nvSpPr>
          <p:cNvPr id="656" name="Google Shape;656;p36"/>
          <p:cNvSpPr/>
          <p:nvPr/>
        </p:nvSpPr>
        <p:spPr>
          <a:xfrm>
            <a:off x="914400" y="278892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D9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6"/>
          <p:cNvSpPr txBox="1"/>
          <p:nvPr/>
        </p:nvSpPr>
        <p:spPr>
          <a:xfrm>
            <a:off x="1005840" y="2916936"/>
            <a:ext cx="1965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D91E8"/>
                </a:solidFill>
                <a:latin typeface="Arial"/>
                <a:ea typeface="Arial"/>
                <a:cs typeface="Arial"/>
                <a:sym typeface="Arial"/>
              </a:rPr>
              <a:t>auth_tokens</a:t>
            </a:r>
            <a:endParaRPr/>
          </a:p>
        </p:txBody>
      </p:sp>
      <p:sp>
        <p:nvSpPr>
          <p:cNvPr id="658" name="Google Shape;658;p36"/>
          <p:cNvSpPr txBox="1"/>
          <p:nvPr/>
        </p:nvSpPr>
        <p:spPr>
          <a:xfrm>
            <a:off x="1005840" y="322783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FK: user_id</a:t>
            </a:r>
            <a:b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ON DELETE CASCADE</a:t>
            </a:r>
            <a:endParaRPr/>
          </a:p>
        </p:txBody>
      </p:sp>
      <p:cxnSp>
        <p:nvCxnSpPr>
          <p:cNvPr id="659" name="Google Shape;659;p36"/>
          <p:cNvCxnSpPr/>
          <p:nvPr/>
        </p:nvCxnSpPr>
        <p:spPr>
          <a:xfrm flipH="1">
            <a:off x="1993391" y="2258568"/>
            <a:ext cx="3703321" cy="530352"/>
          </a:xfrm>
          <a:prstGeom prst="straightConnector1">
            <a:avLst/>
          </a:prstGeom>
          <a:noFill/>
          <a:ln cap="flat" cmpd="sng" w="15225">
            <a:solidFill>
              <a:srgbClr val="3D9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0" name="Google Shape;660;p36"/>
          <p:cNvSpPr/>
          <p:nvPr/>
        </p:nvSpPr>
        <p:spPr>
          <a:xfrm>
            <a:off x="3154680" y="278892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23D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6"/>
          <p:cNvSpPr txBox="1"/>
          <p:nvPr/>
        </p:nvSpPr>
        <p:spPr>
          <a:xfrm>
            <a:off x="3246120" y="2916936"/>
            <a:ext cx="1965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3D2C1"/>
                </a:solidFill>
                <a:latin typeface="Arial"/>
                <a:ea typeface="Arial"/>
                <a:cs typeface="Arial"/>
                <a:sym typeface="Arial"/>
              </a:rPr>
              <a:t>scans</a:t>
            </a:r>
            <a:endParaRPr/>
          </a:p>
        </p:txBody>
      </p:sp>
      <p:sp>
        <p:nvSpPr>
          <p:cNvPr id="662" name="Google Shape;662;p36"/>
          <p:cNvSpPr txBox="1"/>
          <p:nvPr/>
        </p:nvSpPr>
        <p:spPr>
          <a:xfrm>
            <a:off x="3246120" y="322783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FK: user_id</a:t>
            </a:r>
            <a:b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ON DELETE SET NULL</a:t>
            </a:r>
            <a:endParaRPr/>
          </a:p>
        </p:txBody>
      </p:sp>
      <p:cxnSp>
        <p:nvCxnSpPr>
          <p:cNvPr id="663" name="Google Shape;663;p36"/>
          <p:cNvCxnSpPr/>
          <p:nvPr/>
        </p:nvCxnSpPr>
        <p:spPr>
          <a:xfrm flipH="1">
            <a:off x="4233672" y="2258568"/>
            <a:ext cx="1463040" cy="530352"/>
          </a:xfrm>
          <a:prstGeom prst="straightConnector1">
            <a:avLst/>
          </a:prstGeom>
          <a:noFill/>
          <a:ln cap="flat" cmpd="sng" w="15225">
            <a:solidFill>
              <a:srgbClr val="23D2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4" name="Google Shape;664;p36"/>
          <p:cNvSpPr/>
          <p:nvPr/>
        </p:nvSpPr>
        <p:spPr>
          <a:xfrm>
            <a:off x="5577840" y="278892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EFB4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6"/>
          <p:cNvSpPr txBox="1"/>
          <p:nvPr/>
        </p:nvSpPr>
        <p:spPr>
          <a:xfrm>
            <a:off x="5669279" y="2916936"/>
            <a:ext cx="1965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EFB456"/>
                </a:solidFill>
                <a:latin typeface="Arial"/>
                <a:ea typeface="Arial"/>
                <a:cs typeface="Arial"/>
                <a:sym typeface="Arial"/>
              </a:rPr>
              <a:t>phishing_analyses</a:t>
            </a:r>
            <a:endParaRPr/>
          </a:p>
        </p:txBody>
      </p:sp>
      <p:sp>
        <p:nvSpPr>
          <p:cNvPr id="666" name="Google Shape;666;p36"/>
          <p:cNvSpPr txBox="1"/>
          <p:nvPr/>
        </p:nvSpPr>
        <p:spPr>
          <a:xfrm>
            <a:off x="5669279" y="322783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FK: user_id</a:t>
            </a:r>
            <a:b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ON DELETE SET NULL</a:t>
            </a:r>
            <a:endParaRPr/>
          </a:p>
        </p:txBody>
      </p:sp>
      <p:cxnSp>
        <p:nvCxnSpPr>
          <p:cNvPr id="667" name="Google Shape;667;p36"/>
          <p:cNvCxnSpPr/>
          <p:nvPr/>
        </p:nvCxnSpPr>
        <p:spPr>
          <a:xfrm>
            <a:off x="5696712" y="2258568"/>
            <a:ext cx="960119" cy="530352"/>
          </a:xfrm>
          <a:prstGeom prst="straightConnector1">
            <a:avLst/>
          </a:prstGeom>
          <a:noFill/>
          <a:ln cap="flat" cmpd="sng" w="15225">
            <a:solidFill>
              <a:srgbClr val="EFB4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8" name="Google Shape;668;p36"/>
          <p:cNvSpPr/>
          <p:nvPr/>
        </p:nvSpPr>
        <p:spPr>
          <a:xfrm>
            <a:off x="8321040" y="278892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68BE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6"/>
          <p:cNvSpPr txBox="1"/>
          <p:nvPr/>
        </p:nvSpPr>
        <p:spPr>
          <a:xfrm>
            <a:off x="8412480" y="2916936"/>
            <a:ext cx="1965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68BE77"/>
                </a:solidFill>
                <a:latin typeface="Arial"/>
                <a:ea typeface="Arial"/>
                <a:cs typeface="Arial"/>
                <a:sym typeface="Arial"/>
              </a:rPr>
              <a:t>watchlist_entries</a:t>
            </a:r>
            <a:endParaRPr/>
          </a:p>
        </p:txBody>
      </p:sp>
      <p:sp>
        <p:nvSpPr>
          <p:cNvPr id="670" name="Google Shape;670;p36"/>
          <p:cNvSpPr txBox="1"/>
          <p:nvPr/>
        </p:nvSpPr>
        <p:spPr>
          <a:xfrm>
            <a:off x="8412480" y="322783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FK: user_id</a:t>
            </a:r>
            <a:b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ON DELETE CASCADE</a:t>
            </a:r>
            <a:endParaRPr/>
          </a:p>
        </p:txBody>
      </p:sp>
      <p:cxnSp>
        <p:nvCxnSpPr>
          <p:cNvPr id="671" name="Google Shape;671;p36"/>
          <p:cNvCxnSpPr/>
          <p:nvPr/>
        </p:nvCxnSpPr>
        <p:spPr>
          <a:xfrm>
            <a:off x="5696712" y="2258568"/>
            <a:ext cx="3703320" cy="530352"/>
          </a:xfrm>
          <a:prstGeom prst="straightConnector1">
            <a:avLst/>
          </a:prstGeom>
          <a:noFill/>
          <a:ln cap="flat" cmpd="sng" w="15225">
            <a:solidFill>
              <a:srgbClr val="68BE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72" name="Google Shape;672;p36"/>
          <p:cNvSpPr/>
          <p:nvPr/>
        </p:nvSpPr>
        <p:spPr>
          <a:xfrm>
            <a:off x="1417320" y="466344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3D9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6"/>
          <p:cNvSpPr txBox="1"/>
          <p:nvPr/>
        </p:nvSpPr>
        <p:spPr>
          <a:xfrm>
            <a:off x="1508760" y="4791455"/>
            <a:ext cx="1965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D91E8"/>
                </a:solidFill>
                <a:latin typeface="Arial"/>
                <a:ea typeface="Arial"/>
                <a:cs typeface="Arial"/>
                <a:sym typeface="Arial"/>
              </a:rPr>
              <a:t>audit_log</a:t>
            </a:r>
            <a:endParaRPr/>
          </a:p>
        </p:txBody>
      </p:sp>
      <p:sp>
        <p:nvSpPr>
          <p:cNvPr id="674" name="Google Shape;674;p36"/>
          <p:cNvSpPr txBox="1"/>
          <p:nvPr/>
        </p:nvSpPr>
        <p:spPr>
          <a:xfrm>
            <a:off x="1508760" y="510235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FK: user_id</a:t>
            </a:r>
            <a:b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ON DELETE SET NULL</a:t>
            </a:r>
            <a:endParaRPr/>
          </a:p>
        </p:txBody>
      </p:sp>
      <p:cxnSp>
        <p:nvCxnSpPr>
          <p:cNvPr id="675" name="Google Shape;675;p36"/>
          <p:cNvCxnSpPr/>
          <p:nvPr/>
        </p:nvCxnSpPr>
        <p:spPr>
          <a:xfrm flipH="1">
            <a:off x="2496312" y="2258568"/>
            <a:ext cx="3200400" cy="2404872"/>
          </a:xfrm>
          <a:prstGeom prst="straightConnector1">
            <a:avLst/>
          </a:prstGeom>
          <a:noFill/>
          <a:ln cap="flat" cmpd="sng" w="15225">
            <a:solidFill>
              <a:srgbClr val="3D9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76" name="Google Shape;676;p36"/>
          <p:cNvSpPr/>
          <p:nvPr/>
        </p:nvSpPr>
        <p:spPr>
          <a:xfrm>
            <a:off x="4160520" y="466344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6"/>
          <p:cNvSpPr txBox="1"/>
          <p:nvPr/>
        </p:nvSpPr>
        <p:spPr>
          <a:xfrm>
            <a:off x="4251959" y="4791455"/>
            <a:ext cx="1965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api_keys</a:t>
            </a:r>
            <a:endParaRPr/>
          </a:p>
        </p:txBody>
      </p:sp>
      <p:sp>
        <p:nvSpPr>
          <p:cNvPr id="678" name="Google Shape;678;p36"/>
          <p:cNvSpPr txBox="1"/>
          <p:nvPr/>
        </p:nvSpPr>
        <p:spPr>
          <a:xfrm>
            <a:off x="4251959" y="510235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FK: user_id</a:t>
            </a:r>
            <a:b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ON DELETE CASCADE</a:t>
            </a:r>
            <a:endParaRPr/>
          </a:p>
        </p:txBody>
      </p:sp>
      <p:cxnSp>
        <p:nvCxnSpPr>
          <p:cNvPr id="679" name="Google Shape;679;p36"/>
          <p:cNvCxnSpPr/>
          <p:nvPr/>
        </p:nvCxnSpPr>
        <p:spPr>
          <a:xfrm flipH="1">
            <a:off x="5239512" y="2258568"/>
            <a:ext cx="457200" cy="2404872"/>
          </a:xfrm>
          <a:prstGeom prst="straightConnector1">
            <a:avLst/>
          </a:prstGeom>
          <a:noFill/>
          <a:ln cap="flat" cmpd="sng" w="15225">
            <a:solidFill>
              <a:srgbClr val="20C9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80" name="Google Shape;680;p36"/>
          <p:cNvSpPr/>
          <p:nvPr/>
        </p:nvSpPr>
        <p:spPr>
          <a:xfrm>
            <a:off x="6995160" y="466344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14233C"/>
          </a:solidFill>
          <a:ln cap="flat" cmpd="sng" w="10150">
            <a:solidFill>
              <a:srgbClr val="E664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6"/>
          <p:cNvSpPr txBox="1"/>
          <p:nvPr/>
        </p:nvSpPr>
        <p:spPr>
          <a:xfrm>
            <a:off x="7086600" y="4791455"/>
            <a:ext cx="1965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E66468"/>
                </a:solidFill>
                <a:latin typeface="Arial"/>
                <a:ea typeface="Arial"/>
                <a:cs typeface="Arial"/>
                <a:sym typeface="Arial"/>
              </a:rPr>
              <a:t>webhooks</a:t>
            </a:r>
            <a:endParaRPr/>
          </a:p>
        </p:txBody>
      </p:sp>
      <p:sp>
        <p:nvSpPr>
          <p:cNvPr id="682" name="Google Shape;682;p36"/>
          <p:cNvSpPr txBox="1"/>
          <p:nvPr/>
        </p:nvSpPr>
        <p:spPr>
          <a:xfrm>
            <a:off x="7086600" y="510235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FK: user_id</a:t>
            </a:r>
            <a:b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86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ON DELETE CASCADE</a:t>
            </a:r>
            <a:endParaRPr/>
          </a:p>
        </p:txBody>
      </p:sp>
      <p:cxnSp>
        <p:nvCxnSpPr>
          <p:cNvPr id="683" name="Google Shape;683;p36"/>
          <p:cNvCxnSpPr/>
          <p:nvPr/>
        </p:nvCxnSpPr>
        <p:spPr>
          <a:xfrm>
            <a:off x="5696712" y="2258568"/>
            <a:ext cx="2377440" cy="2404872"/>
          </a:xfrm>
          <a:prstGeom prst="straightConnector1">
            <a:avLst/>
          </a:prstGeom>
          <a:noFill/>
          <a:ln cap="flat" cmpd="sng" w="15225">
            <a:solidFill>
              <a:srgbClr val="E664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84" name="Google Shape;684;p36"/>
          <p:cNvSpPr/>
          <p:nvPr/>
        </p:nvSpPr>
        <p:spPr>
          <a:xfrm>
            <a:off x="777240" y="1572768"/>
            <a:ext cx="3246120" cy="713232"/>
          </a:xfrm>
          <a:prstGeom prst="roundRect">
            <a:avLst>
              <a:gd fmla="val 16667" name="adj"/>
            </a:avLst>
          </a:prstGeom>
          <a:solidFill>
            <a:srgbClr val="112A42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6"/>
          <p:cNvSpPr txBox="1"/>
          <p:nvPr/>
        </p:nvSpPr>
        <p:spPr>
          <a:xfrm>
            <a:off x="932688" y="173736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1 : N relationships from users</a:t>
            </a:r>
            <a:endParaRPr/>
          </a:p>
        </p:txBody>
      </p:sp>
      <p:sp>
        <p:nvSpPr>
          <p:cNvPr id="686" name="Google Shape;686;p36"/>
          <p:cNvSpPr/>
          <p:nvPr/>
        </p:nvSpPr>
        <p:spPr>
          <a:xfrm>
            <a:off x="8915400" y="1536192"/>
            <a:ext cx="2286000" cy="804672"/>
          </a:xfrm>
          <a:prstGeom prst="roundRect">
            <a:avLst>
              <a:gd fmla="val 16667" name="adj"/>
            </a:avLst>
          </a:prstGeom>
          <a:solidFill>
            <a:srgbClr val="24303B"/>
          </a:solidFill>
          <a:ln cap="flat" cmpd="sng" w="10150">
            <a:solidFill>
              <a:srgbClr val="314A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6"/>
          <p:cNvSpPr txBox="1"/>
          <p:nvPr/>
        </p:nvSpPr>
        <p:spPr>
          <a:xfrm>
            <a:off x="9070848" y="166420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CASCADE = owned data removed</a:t>
            </a:r>
            <a:br>
              <a:rPr b="0" lang="en-US" sz="9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900">
                <a:solidFill>
                  <a:srgbClr val="EBF1F8"/>
                </a:solidFill>
                <a:latin typeface="Arial"/>
                <a:ea typeface="Arial"/>
                <a:cs typeface="Arial"/>
                <a:sym typeface="Arial"/>
              </a:rPr>
              <a:t>SET NULL = historical record kept</a:t>
            </a:r>
            <a:endParaRPr/>
          </a:p>
        </p:txBody>
      </p:sp>
      <p:sp>
        <p:nvSpPr>
          <p:cNvPr id="688" name="Google Shape;688;p36"/>
          <p:cNvSpPr txBox="1"/>
          <p:nvPr/>
        </p:nvSpPr>
        <p:spPr>
          <a:xfrm>
            <a:off x="50292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689" name="Google Shape;689;p36"/>
          <p:cNvSpPr txBox="1"/>
          <p:nvPr/>
        </p:nvSpPr>
        <p:spPr>
          <a:xfrm>
            <a:off x="9326880" y="6510528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690" name="Google Shape;690;p36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6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7"/>
          <p:cNvSpPr txBox="1"/>
          <p:nvPr/>
        </p:nvSpPr>
        <p:spPr>
          <a:xfrm>
            <a:off x="502920" y="20116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C9DE"/>
                </a:solidFill>
                <a:latin typeface="Arial"/>
                <a:ea typeface="Arial"/>
                <a:cs typeface="Arial"/>
                <a:sym typeface="Arial"/>
              </a:rPr>
              <a:t>9 · FINALIZE DATABASE SCHEMA</a:t>
            </a:r>
            <a:endParaRPr/>
          </a:p>
        </p:txBody>
      </p:sp>
      <p:sp>
        <p:nvSpPr>
          <p:cNvPr id="696" name="Google Shape;696;p37"/>
          <p:cNvSpPr txBox="1"/>
          <p:nvPr/>
        </p:nvSpPr>
        <p:spPr>
          <a:xfrm>
            <a:off x="502920" y="338328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EBF1F8"/>
                </a:solidFill>
                <a:latin typeface="Play"/>
                <a:ea typeface="Play"/>
                <a:cs typeface="Play"/>
                <a:sym typeface="Play"/>
              </a:rPr>
              <a:t>9.2 Index Strategy &amp; Query Performance</a:t>
            </a:r>
            <a:endParaRPr/>
          </a:p>
        </p:txBody>
      </p:sp>
      <p:sp>
        <p:nvSpPr>
          <p:cNvPr id="697" name="Google Shape;697;p37"/>
          <p:cNvSpPr txBox="1"/>
          <p:nvPr/>
        </p:nvSpPr>
        <p:spPr>
          <a:xfrm>
            <a:off x="11064240" y="1645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FCD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698" name="Google Shape;698;p37"/>
          <p:cNvSpPr/>
          <p:nvPr/>
        </p:nvSpPr>
        <p:spPr>
          <a:xfrm>
            <a:off x="0" y="713232"/>
            <a:ext cx="12191695" cy="22860"/>
          </a:xfrm>
          <a:prstGeom prst="rect">
            <a:avLst/>
          </a:prstGeom>
          <a:solidFill>
            <a:srgbClr val="20C9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7"/>
          <p:cNvSpPr txBox="1"/>
          <p:nvPr/>
        </p:nvSpPr>
        <p:spPr>
          <a:xfrm>
            <a:off x="566928" y="877824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Indexes support authentication lookups, per-user history retrieval, URL search, token validation and chronological reporting.</a:t>
            </a:r>
            <a:endParaRPr/>
          </a:p>
        </p:txBody>
      </p:sp>
      <p:graphicFrame>
        <p:nvGraphicFramePr>
          <p:cNvPr id="700" name="Google Shape;700;p37"/>
          <p:cNvGraphicFramePr/>
          <p:nvPr/>
        </p:nvGraphicFramePr>
        <p:xfrm>
          <a:off x="566928" y="12984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{CE00C3AB-38B8-4B3B-9B5A-988E169025F8}</a:tableStyleId>
              </a:tblPr>
              <a:tblGrid>
                <a:gridCol w="2377450"/>
                <a:gridCol w="4114800"/>
                <a:gridCol w="4480550"/>
              </a:tblGrid>
              <a:tr h="43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</a:t>
                      </a:r>
                      <a:endParaRPr/>
                    </a:p>
                  </a:txBody>
                  <a:tcPr marT="27425" marB="27425" marR="45725" marL="45725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Indexed columns</a:t>
                      </a:r>
                      <a:endParaRPr/>
                    </a:p>
                  </a:txBody>
                  <a:tcPr marT="27425" marB="27425" marR="45725" marL="45725">
                    <a:solidFill>
                      <a:srgbClr val="1769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0" u="none" cap="none" strike="noStrike">
                          <a:solidFill>
                            <a:srgbClr val="EBF1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Purpose</a:t>
                      </a:r>
                      <a:endParaRPr/>
                    </a:p>
                  </a:txBody>
                  <a:tcPr marT="27425" marB="27425" marR="45725" marL="45725">
                    <a:solidFill>
                      <a:srgbClr val="1769AE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users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(PK); username (UNIQUE); email (UNIQUE)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&amp; login lookups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auth_tokens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(PK); token (UNIQUE); user_id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Token validation; user token lookup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scans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(PK); url; user_id; created_at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search; per-user history; chronological order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phishing_analyses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(PK); user_id; created_at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Per-user analyses; chronological order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watchlist_entries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(PK); user_id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Primary; user watchlist lookup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audit_log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(PK); user_id; created_at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 lookup; chronological audit trail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api_keys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(PK); key_hash (UNIQUE); user_id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validation; owner lookup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F4F7FA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webhooks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(PK); user_id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60" u="none" cap="none" strike="noStrike">
                          <a:solidFill>
                            <a:srgbClr val="101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Primary; user webhook lookup</a:t>
                      </a:r>
                      <a:endParaRPr/>
                    </a:p>
                  </a:txBody>
                  <a:tcPr marT="18300" marB="18300" marR="45725" marL="45725">
                    <a:solidFill>
                      <a:srgbClr val="E6ECF4"/>
                    </a:solidFill>
                  </a:tcPr>
                </a:tc>
              </a:tr>
            </a:tbl>
          </a:graphicData>
        </a:graphic>
      </p:graphicFrame>
      <p:sp>
        <p:nvSpPr>
          <p:cNvPr id="701" name="Google Shape;701;p37"/>
          <p:cNvSpPr txBox="1"/>
          <p:nvPr/>
        </p:nvSpPr>
        <p:spPr>
          <a:xfrm>
            <a:off x="50292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· System Design &amp; Database Development</a:t>
            </a:r>
            <a:endParaRPr/>
          </a:p>
        </p:txBody>
      </p:sp>
      <p:sp>
        <p:nvSpPr>
          <p:cNvPr id="702" name="Google Shape;702;p37"/>
          <p:cNvSpPr txBox="1"/>
          <p:nvPr/>
        </p:nvSpPr>
        <p:spPr>
          <a:xfrm>
            <a:off x="9326880" y="6510528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9">
                <a:solidFill>
                  <a:srgbClr val="9BAEC7"/>
                </a:solidFill>
                <a:latin typeface="Arial"/>
                <a:ea typeface="Arial"/>
                <a:cs typeface="Arial"/>
                <a:sym typeface="Arial"/>
              </a:rPr>
              <a:t>ThreatLens v1.0 · Sep 2026</a:t>
            </a:r>
            <a:endParaRPr/>
          </a:p>
        </p:txBody>
      </p:sp>
      <p:sp>
        <p:nvSpPr>
          <p:cNvPr id="703" name="Google Shape;703;p37"/>
          <p:cNvSpPr txBox="1"/>
          <p:nvPr/>
        </p:nvSpPr>
        <p:spPr>
          <a:xfrm>
            <a:off x="530352" y="645566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9788A"/>
                </a:solidFill>
                <a:latin typeface="Calibri"/>
                <a:ea typeface="Calibri"/>
                <a:cs typeface="Calibri"/>
                <a:sym typeface="Calibri"/>
              </a:rPr>
              <a:t>ThreatLens  •  Threat Detection &amp; URL Scanner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